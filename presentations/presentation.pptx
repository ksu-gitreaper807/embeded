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903720" y="0"/>
            <a:ext cx="5285232" cy="6858000"/>
          </a:xfrm>
          <a:prstGeom prst="rect">
            <a:avLst/>
          </a:prstGeom>
          <a:solidFill>
            <a:srgbClr val="0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170432"/>
            <a:ext cx="5852160" cy="256032"/>
          </a:xfrm>
          <a:prstGeom prst="rect">
            <a:avLst/>
          </a:prstGeom>
          <a:noFill/>
        </p:spPr>
        <p:txBody>
          <a:bodyPr wrap="square" anchor="t" lIns="0" rIns="0" tIns="0" bIns="0">
            <a:spAutoFit/>
          </a:bodyPr>
          <a:lstStyle/>
          <a:p>
            <a:pPr algn="l">
              <a:lnSpc>
                <a:spcPct val="115000"/>
              </a:lnSpc>
              <a:spcBef>
                <a:spcPts val="0"/>
              </a:spcBef>
              <a:spcAft>
                <a:spcPts val="600"/>
              </a:spcAft>
            </a:pPr>
            <a:r>
              <a:rPr sz="1150" b="1" i="0">
                <a:solidFill>
                  <a:srgbClr val="E8734A"/>
                </a:solidFill>
                <a:latin typeface="Calibri"/>
              </a:rPr>
              <a:t>EL PHASE-I  ·  PROJECT PRESENTATION</a:t>
            </a:r>
          </a:p>
        </p:txBody>
      </p:sp>
      <p:sp>
        <p:nvSpPr>
          <p:cNvPr id="6" name="TextBox 5"/>
          <p:cNvSpPr txBox="1"/>
          <p:nvPr/>
        </p:nvSpPr>
        <p:spPr>
          <a:xfrm>
            <a:off x="914400" y="1572768"/>
            <a:ext cx="6309360" cy="1828800"/>
          </a:xfrm>
          <a:prstGeom prst="rect">
            <a:avLst/>
          </a:prstGeom>
          <a:noFill/>
        </p:spPr>
        <p:txBody>
          <a:bodyPr wrap="square" anchor="t" lIns="0" rIns="0" tIns="0" bIns="0">
            <a:spAutoFit/>
          </a:bodyPr>
          <a:lstStyle/>
          <a:p>
            <a:pPr algn="l">
              <a:lnSpc>
                <a:spcPct val="105000"/>
              </a:lnSpc>
              <a:spcBef>
                <a:spcPts val="0"/>
              </a:spcBef>
              <a:spcAft>
                <a:spcPts val="800"/>
              </a:spcAft>
            </a:pPr>
            <a:r>
              <a:rPr sz="3100" b="1" i="0">
                <a:solidFill>
                  <a:srgbClr val="FFFFFF"/>
                </a:solidFill>
                <a:latin typeface="Calibri"/>
              </a:rPr>
              <a:t>Domain-Specific</a:t>
            </a:r>
          </a:p>
          <a:p>
            <a:pPr algn="l">
              <a:lnSpc>
                <a:spcPct val="105000"/>
              </a:lnSpc>
              <a:spcBef>
                <a:spcPts val="0"/>
              </a:spcBef>
              <a:spcAft>
                <a:spcPts val="800"/>
              </a:spcAft>
            </a:pPr>
            <a:r>
              <a:rPr sz="3100" b="1" i="0">
                <a:solidFill>
                  <a:srgbClr val="FFFFFF"/>
                </a:solidFill>
                <a:latin typeface="Calibri"/>
              </a:rPr>
              <a:t>Contrastive Embeddings</a:t>
            </a:r>
          </a:p>
          <a:p>
            <a:pPr algn="l">
              <a:lnSpc>
                <a:spcPct val="105000"/>
              </a:lnSpc>
              <a:spcBef>
                <a:spcPts val="0"/>
              </a:spcBef>
              <a:spcAft>
                <a:spcPts val="0"/>
              </a:spcAft>
            </a:pPr>
            <a:r>
              <a:rPr sz="3100" b="1" i="0">
                <a:solidFill>
                  <a:srgbClr val="E8734A"/>
                </a:solidFill>
                <a:latin typeface="Calibri"/>
              </a:rPr>
              <a:t>for Code Similarity Detection</a:t>
            </a:r>
          </a:p>
        </p:txBody>
      </p:sp>
      <p:sp>
        <p:nvSpPr>
          <p:cNvPr id="7" name="Rectangle 6"/>
          <p:cNvSpPr/>
          <p:nvPr/>
        </p:nvSpPr>
        <p:spPr>
          <a:xfrm>
            <a:off x="914400" y="3639312"/>
            <a:ext cx="1463040" cy="54864"/>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840480"/>
            <a:ext cx="5669280" cy="822960"/>
          </a:xfrm>
          <a:prstGeom prst="rect">
            <a:avLst/>
          </a:prstGeom>
          <a:noFill/>
        </p:spPr>
        <p:txBody>
          <a:bodyPr wrap="square" anchor="t" lIns="0" rIns="0" tIns="0" bIns="0">
            <a:spAutoFit/>
          </a:bodyPr>
          <a:lstStyle/>
          <a:p>
            <a:pPr algn="l">
              <a:lnSpc>
                <a:spcPct val="120000"/>
              </a:lnSpc>
              <a:spcBef>
                <a:spcPts val="0"/>
              </a:spcBef>
              <a:spcAft>
                <a:spcPts val="600"/>
              </a:spcAft>
            </a:pPr>
            <a:r>
              <a:rPr sz="1600" b="0" i="0">
                <a:solidFill>
                  <a:srgbClr val="C9D6E4"/>
                </a:solidFill>
                <a:latin typeface="Calibri"/>
              </a:rPr>
              <a:t>Comparing negative-sampling strategies in contrastive fine-tuning</a:t>
            </a:r>
          </a:p>
          <a:p>
            <a:pPr algn="l">
              <a:lnSpc>
                <a:spcPct val="120000"/>
              </a:lnSpc>
              <a:spcBef>
                <a:spcPts val="0"/>
              </a:spcBef>
              <a:spcAft>
                <a:spcPts val="0"/>
              </a:spcAft>
            </a:pPr>
            <a:r>
              <a:rPr sz="1400" b="1" i="0">
                <a:solidFill>
                  <a:srgbClr val="9FB4C8"/>
                </a:solidFill>
                <a:latin typeface="Calibri"/>
              </a:rPr>
              <a:t>Random  ·  BM25  ·  Semantic</a:t>
            </a:r>
          </a:p>
        </p:txBody>
      </p:sp>
      <p:sp>
        <p:nvSpPr>
          <p:cNvPr id="9" name="Rectangle 8"/>
          <p:cNvSpPr/>
          <p:nvPr/>
        </p:nvSpPr>
        <p:spPr>
          <a:xfrm>
            <a:off x="914400" y="4956048"/>
            <a:ext cx="5669280" cy="32004"/>
          </a:xfrm>
          <a:prstGeom prst="rect">
            <a:avLst/>
          </a:prstGeom>
          <a:solidFill>
            <a:srgbClr val="2A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5138928"/>
            <a:ext cx="5669280" cy="914400"/>
          </a:xfrm>
          <a:prstGeom prst="rect">
            <a:avLst/>
          </a:prstGeom>
          <a:noFill/>
        </p:spPr>
        <p:txBody>
          <a:bodyPr wrap="square" anchor="t" lIns="0" rIns="0" tIns="0" bIns="0">
            <a:spAutoFit/>
          </a:bodyPr>
          <a:lstStyle/>
          <a:p>
            <a:pPr algn="l">
              <a:lnSpc>
                <a:spcPct val="120000"/>
              </a:lnSpc>
              <a:spcBef>
                <a:spcPts val="0"/>
              </a:spcBef>
              <a:spcAft>
                <a:spcPts val="400"/>
              </a:spcAft>
            </a:pPr>
            <a:r>
              <a:rPr sz="1200" b="0" i="0">
                <a:solidFill>
                  <a:srgbClr val="9FB4C8"/>
                </a:solidFill>
                <a:latin typeface="Calibri"/>
              </a:rPr>
              <a:t>Theme:  Contrastive representation learning  ·  Domain adaptation  ·  Software engineering</a:t>
            </a:r>
          </a:p>
          <a:p>
            <a:pPr algn="l">
              <a:lnSpc>
                <a:spcPct val="120000"/>
              </a:lnSpc>
              <a:spcBef>
                <a:spcPts val="0"/>
              </a:spcBef>
              <a:spcAft>
                <a:spcPts val="0"/>
              </a:spcAft>
            </a:pPr>
            <a:r>
              <a:rPr sz="1200" b="0" i="0">
                <a:solidFill>
                  <a:srgbClr val="9FB4C8"/>
                </a:solidFill>
                <a:latin typeface="Calibri"/>
              </a:rPr>
              <a:t>Test domain: Java code clone detection (BigCloneBench)   ·   Base model: GraphCodeBERT</a:t>
            </a:r>
          </a:p>
        </p:txBody>
      </p:sp>
      <p:sp>
        <p:nvSpPr>
          <p:cNvPr id="11" name="Rectangle 10"/>
          <p:cNvSpPr/>
          <p:nvPr/>
        </p:nvSpPr>
        <p:spPr>
          <a:xfrm>
            <a:off x="7452360" y="1417320"/>
            <a:ext cx="3977639" cy="4023360"/>
          </a:xfrm>
          <a:prstGeom prst="rect">
            <a:avLst/>
          </a:prstGeom>
          <a:solidFill>
            <a:srgbClr val="142940"/>
          </a:solidFill>
          <a:ln w="12700">
            <a:solidFill>
              <a:srgbClr val="243C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99248" y="1664208"/>
            <a:ext cx="3474720" cy="274320"/>
          </a:xfrm>
          <a:prstGeom prst="rect">
            <a:avLst/>
          </a:prstGeom>
          <a:noFill/>
        </p:spPr>
        <p:txBody>
          <a:bodyPr wrap="square" anchor="t" lIns="0" rIns="0" tIns="0" bIns="0">
            <a:spAutoFit/>
          </a:bodyPr>
          <a:lstStyle/>
          <a:p>
            <a:pPr algn="l">
              <a:lnSpc>
                <a:spcPct val="115000"/>
              </a:lnSpc>
              <a:spcBef>
                <a:spcPts val="0"/>
              </a:spcBef>
              <a:spcAft>
                <a:spcPts val="600"/>
              </a:spcAft>
            </a:pPr>
            <a:r>
              <a:rPr sz="1050" b="1" i="0">
                <a:solidFill>
                  <a:srgbClr val="E8734A"/>
                </a:solidFill>
                <a:latin typeface="Calibri"/>
              </a:rPr>
              <a:t>THE ONE VARIABLE</a:t>
            </a:r>
          </a:p>
        </p:txBody>
      </p:sp>
      <p:sp>
        <p:nvSpPr>
          <p:cNvPr id="13" name="TextBox 12"/>
          <p:cNvSpPr txBox="1"/>
          <p:nvPr/>
        </p:nvSpPr>
        <p:spPr>
          <a:xfrm>
            <a:off x="7699248" y="1956816"/>
            <a:ext cx="3474720" cy="274320"/>
          </a:xfrm>
          <a:prstGeom prst="rect">
            <a:avLst/>
          </a:prstGeom>
          <a:noFill/>
        </p:spPr>
        <p:txBody>
          <a:bodyPr wrap="square" anchor="t" lIns="0" rIns="0" tIns="0" bIns="0">
            <a:spAutoFit/>
          </a:bodyPr>
          <a:lstStyle/>
          <a:p>
            <a:pPr algn="l">
              <a:lnSpc>
                <a:spcPct val="115000"/>
              </a:lnSpc>
              <a:spcBef>
                <a:spcPts val="0"/>
              </a:spcBef>
              <a:spcAft>
                <a:spcPts val="600"/>
              </a:spcAft>
            </a:pPr>
            <a:r>
              <a:rPr sz="1250" b="0" i="0">
                <a:solidFill>
                  <a:srgbClr val="B9C6D4"/>
                </a:solidFill>
                <a:latin typeface="Calibri"/>
              </a:rPr>
              <a:t>Which non-clone do we push away?</a:t>
            </a:r>
          </a:p>
        </p:txBody>
      </p:sp>
      <p:sp>
        <p:nvSpPr>
          <p:cNvPr id="14" name="Rounded Rectangle 13"/>
          <p:cNvSpPr/>
          <p:nvPr/>
        </p:nvSpPr>
        <p:spPr>
          <a:xfrm>
            <a:off x="7699248" y="2487168"/>
            <a:ext cx="3474720" cy="713232"/>
          </a:xfrm>
          <a:prstGeom prst="roundRect">
            <a:avLst>
              <a:gd name="adj" fmla="val 12000"/>
            </a:avLst>
          </a:prstGeom>
          <a:solidFill>
            <a:srgbClr val="1B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45552" y="2615184"/>
            <a:ext cx="3200400" cy="457200"/>
          </a:xfrm>
          <a:prstGeom prst="rect">
            <a:avLst/>
          </a:prstGeom>
          <a:noFill/>
        </p:spPr>
        <p:txBody>
          <a:bodyPr wrap="square" anchor="t" lIns="0" rIns="0" tIns="0" bIns="0">
            <a:spAutoFit/>
          </a:bodyPr>
          <a:lstStyle/>
          <a:p>
            <a:pPr algn="l">
              <a:lnSpc>
                <a:spcPct val="115000"/>
              </a:lnSpc>
              <a:spcBef>
                <a:spcPts val="0"/>
              </a:spcBef>
              <a:spcAft>
                <a:spcPts val="200"/>
              </a:spcAft>
            </a:pPr>
            <a:r>
              <a:rPr sz="1200" b="1" i="0">
                <a:solidFill>
                  <a:srgbClr val="FFFFFF"/>
                </a:solidFill>
                <a:latin typeface="Calibri"/>
              </a:rPr>
              <a:t>Anchor</a:t>
            </a:r>
          </a:p>
          <a:p>
            <a:pPr algn="l">
              <a:lnSpc>
                <a:spcPct val="115000"/>
              </a:lnSpc>
              <a:spcBef>
                <a:spcPts val="0"/>
              </a:spcBef>
              <a:spcAft>
                <a:spcPts val="0"/>
              </a:spcAft>
            </a:pPr>
            <a:r>
              <a:rPr sz="1050" b="0" i="0">
                <a:solidFill>
                  <a:srgbClr val="9FB4C8"/>
                </a:solidFill>
                <a:latin typeface="Consolas"/>
              </a:rPr>
              <a:t>bubbleSort(int[] a)</a:t>
            </a:r>
          </a:p>
        </p:txBody>
      </p:sp>
      <p:sp>
        <p:nvSpPr>
          <p:cNvPr id="16" name="Rounded Rectangle 15"/>
          <p:cNvSpPr/>
          <p:nvPr/>
        </p:nvSpPr>
        <p:spPr>
          <a:xfrm>
            <a:off x="7699248" y="3364992"/>
            <a:ext cx="1664208" cy="640080"/>
          </a:xfrm>
          <a:prstGeom prst="roundRect">
            <a:avLst>
              <a:gd name="adj" fmla="val 14000"/>
            </a:avLst>
          </a:prstGeom>
          <a:solidFill>
            <a:srgbClr val="1B4D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27264" y="3474720"/>
            <a:ext cx="1417320"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7ED9B8"/>
                </a:solidFill>
                <a:latin typeface="Calibri"/>
              </a:rPr>
              <a:t>+  Positive</a:t>
            </a:r>
          </a:p>
          <a:p>
            <a:pPr algn="l">
              <a:lnSpc>
                <a:spcPct val="115000"/>
              </a:lnSpc>
              <a:spcBef>
                <a:spcPts val="0"/>
              </a:spcBef>
              <a:spcAft>
                <a:spcPts val="0"/>
              </a:spcAft>
            </a:pPr>
            <a:r>
              <a:rPr sz="1050" b="0" i="0">
                <a:solidFill>
                  <a:srgbClr val="9FB4C8"/>
                </a:solidFill>
                <a:latin typeface="Calibri"/>
              </a:rPr>
              <a:t>pull closer</a:t>
            </a:r>
          </a:p>
        </p:txBody>
      </p:sp>
      <p:sp>
        <p:nvSpPr>
          <p:cNvPr id="18" name="Rounded Rectangle 17"/>
          <p:cNvSpPr/>
          <p:nvPr/>
        </p:nvSpPr>
        <p:spPr>
          <a:xfrm>
            <a:off x="9509760" y="3364992"/>
            <a:ext cx="1664208" cy="640080"/>
          </a:xfrm>
          <a:prstGeom prst="roundRect">
            <a:avLst>
              <a:gd name="adj" fmla="val 14000"/>
            </a:avLst>
          </a:prstGeom>
          <a:solidFill>
            <a:srgbClr val="4D2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37776" y="3474720"/>
            <a:ext cx="1417320" cy="457200"/>
          </a:xfrm>
          <a:prstGeom prst="rect">
            <a:avLst/>
          </a:prstGeom>
          <a:noFill/>
        </p:spPr>
        <p:txBody>
          <a:bodyPr wrap="square" anchor="t" lIns="0" rIns="0" tIns="0" bIns="0">
            <a:spAutoFit/>
          </a:bodyPr>
          <a:lstStyle/>
          <a:p>
            <a:pPr algn="l">
              <a:lnSpc>
                <a:spcPct val="115000"/>
              </a:lnSpc>
              <a:spcBef>
                <a:spcPts val="0"/>
              </a:spcBef>
              <a:spcAft>
                <a:spcPts val="200"/>
              </a:spcAft>
            </a:pPr>
            <a:r>
              <a:rPr sz="1150" b="1" i="0">
                <a:solidFill>
                  <a:srgbClr val="F0A986"/>
                </a:solidFill>
                <a:latin typeface="Calibri"/>
              </a:rPr>
              <a:t>–  Negative</a:t>
            </a:r>
          </a:p>
          <a:p>
            <a:pPr algn="l">
              <a:lnSpc>
                <a:spcPct val="115000"/>
              </a:lnSpc>
              <a:spcBef>
                <a:spcPts val="0"/>
              </a:spcBef>
              <a:spcAft>
                <a:spcPts val="0"/>
              </a:spcAft>
            </a:pPr>
            <a:r>
              <a:rPr sz="1050" b="0" i="0">
                <a:solidFill>
                  <a:srgbClr val="9FB4C8"/>
                </a:solidFill>
                <a:latin typeface="Calibri"/>
              </a:rPr>
              <a:t>push away</a:t>
            </a:r>
          </a:p>
        </p:txBody>
      </p:sp>
      <p:sp>
        <p:nvSpPr>
          <p:cNvPr id="20" name="Down Arrow 19"/>
          <p:cNvSpPr/>
          <p:nvPr/>
        </p:nvSpPr>
        <p:spPr>
          <a:xfrm>
            <a:off x="8796528" y="4059936"/>
            <a:ext cx="384048" cy="237744"/>
          </a:xfrm>
          <a:prstGeom prst="downArrow">
            <a:avLst/>
          </a:prstGeom>
          <a:solidFill>
            <a:srgbClr val="2A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796528" y="4059936"/>
            <a:ext cx="384048" cy="237744"/>
          </a:xfrm>
          <a:prstGeom prst="rect">
            <a:avLst/>
          </a:prstGeom>
          <a:solidFill>
            <a:srgbClr val="2A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699248" y="4389120"/>
            <a:ext cx="1078992" cy="566928"/>
          </a:xfrm>
          <a:prstGeom prst="roundRect">
            <a:avLst>
              <a:gd name="adj" fmla="val 16000"/>
            </a:avLst>
          </a:prstGeom>
          <a:solidFill>
            <a:srgbClr val="1B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99248" y="4517136"/>
            <a:ext cx="1078992" cy="365760"/>
          </a:xfrm>
          <a:prstGeom prst="rect">
            <a:avLst/>
          </a:prstGeom>
          <a:noFill/>
        </p:spPr>
        <p:txBody>
          <a:bodyPr wrap="square" anchor="t" lIns="0" rIns="0" tIns="0" bIns="0">
            <a:spAutoFit/>
          </a:bodyPr>
          <a:lstStyle/>
          <a:p>
            <a:pPr algn="ctr">
              <a:lnSpc>
                <a:spcPct val="115000"/>
              </a:lnSpc>
              <a:spcBef>
                <a:spcPts val="0"/>
              </a:spcBef>
              <a:spcAft>
                <a:spcPts val="0"/>
              </a:spcAft>
            </a:pPr>
            <a:r>
              <a:rPr sz="1050" b="1" i="0">
                <a:solidFill>
                  <a:srgbClr val="9FB4C8"/>
                </a:solidFill>
                <a:latin typeface="Calibri"/>
              </a:rPr>
              <a:t>Random</a:t>
            </a:r>
          </a:p>
        </p:txBody>
      </p:sp>
      <p:sp>
        <p:nvSpPr>
          <p:cNvPr id="24" name="Rounded Rectangle 23"/>
          <p:cNvSpPr/>
          <p:nvPr/>
        </p:nvSpPr>
        <p:spPr>
          <a:xfrm>
            <a:off x="8878824" y="4389120"/>
            <a:ext cx="1078992" cy="566928"/>
          </a:xfrm>
          <a:prstGeom prst="roundRect">
            <a:avLst>
              <a:gd name="adj" fmla="val 16000"/>
            </a:avLst>
          </a:prstGeom>
          <a:solidFill>
            <a:srgbClr val="1B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878824" y="4517136"/>
            <a:ext cx="1078992" cy="365760"/>
          </a:xfrm>
          <a:prstGeom prst="rect">
            <a:avLst/>
          </a:prstGeom>
          <a:noFill/>
        </p:spPr>
        <p:txBody>
          <a:bodyPr wrap="square" anchor="t" lIns="0" rIns="0" tIns="0" bIns="0">
            <a:spAutoFit/>
          </a:bodyPr>
          <a:lstStyle/>
          <a:p>
            <a:pPr algn="ctr">
              <a:lnSpc>
                <a:spcPct val="115000"/>
              </a:lnSpc>
              <a:spcBef>
                <a:spcPts val="0"/>
              </a:spcBef>
              <a:spcAft>
                <a:spcPts val="0"/>
              </a:spcAft>
            </a:pPr>
            <a:r>
              <a:rPr sz="1050" b="1" i="0">
                <a:solidFill>
                  <a:srgbClr val="9FB4C8"/>
                </a:solidFill>
                <a:latin typeface="Calibri"/>
              </a:rPr>
              <a:t>BM25</a:t>
            </a:r>
          </a:p>
        </p:txBody>
      </p:sp>
      <p:sp>
        <p:nvSpPr>
          <p:cNvPr id="26" name="Rounded Rectangle 25"/>
          <p:cNvSpPr/>
          <p:nvPr/>
        </p:nvSpPr>
        <p:spPr>
          <a:xfrm>
            <a:off x="10058400" y="4389120"/>
            <a:ext cx="1078992" cy="566928"/>
          </a:xfrm>
          <a:prstGeom prst="roundRect">
            <a:avLst>
              <a:gd name="adj" fmla="val 16000"/>
            </a:avLst>
          </a:prstGeom>
          <a:solidFill>
            <a:srgbClr val="1B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058400" y="4517136"/>
            <a:ext cx="1078992" cy="365760"/>
          </a:xfrm>
          <a:prstGeom prst="rect">
            <a:avLst/>
          </a:prstGeom>
          <a:noFill/>
        </p:spPr>
        <p:txBody>
          <a:bodyPr wrap="square" anchor="t" lIns="0" rIns="0" tIns="0" bIns="0">
            <a:spAutoFit/>
          </a:bodyPr>
          <a:lstStyle/>
          <a:p>
            <a:pPr algn="ctr">
              <a:lnSpc>
                <a:spcPct val="115000"/>
              </a:lnSpc>
              <a:spcBef>
                <a:spcPts val="0"/>
              </a:spcBef>
              <a:spcAft>
                <a:spcPts val="0"/>
              </a:spcAft>
            </a:pPr>
            <a:r>
              <a:rPr sz="1050" b="1" i="0">
                <a:solidFill>
                  <a:srgbClr val="E8734A"/>
                </a:solidFill>
                <a:latin typeface="Calibri"/>
              </a:rPr>
              <a:t>Semantic</a:t>
            </a:r>
          </a:p>
        </p:txBody>
      </p:sp>
      <p:sp>
        <p:nvSpPr>
          <p:cNvPr id="28" name="TextBox 27"/>
          <p:cNvSpPr txBox="1"/>
          <p:nvPr/>
        </p:nvSpPr>
        <p:spPr>
          <a:xfrm>
            <a:off x="914400" y="6053328"/>
            <a:ext cx="5669280" cy="365760"/>
          </a:xfrm>
          <a:prstGeom prst="rect">
            <a:avLst/>
          </a:prstGeom>
          <a:noFill/>
        </p:spPr>
        <p:txBody>
          <a:bodyPr wrap="square" anchor="t" lIns="0" rIns="0" tIns="0" bIns="0">
            <a:spAutoFit/>
          </a:bodyPr>
          <a:lstStyle/>
          <a:p>
            <a:pPr algn="l">
              <a:lnSpc>
                <a:spcPct val="115000"/>
              </a:lnSpc>
              <a:spcBef>
                <a:spcPts val="0"/>
              </a:spcBef>
              <a:spcAft>
                <a:spcPts val="600"/>
              </a:spcAft>
            </a:pPr>
            <a:r>
              <a:rPr sz="1150" b="0" i="0">
                <a:solidFill>
                  <a:srgbClr val="7E92A8"/>
                </a:solidFill>
                <a:latin typeface="Calibri"/>
              </a:rPr>
              <a:t>Four conditions · one variable · generalisation tested from the start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OVERVIEW</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Presentation Outline</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Outline</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a:t>
            </a:r>
          </a:p>
        </p:txBody>
      </p:sp>
      <p:sp>
        <p:nvSpPr>
          <p:cNvPr id="7" name="Rounded Rectangle 6"/>
          <p:cNvSpPr/>
          <p:nvPr/>
        </p:nvSpPr>
        <p:spPr>
          <a:xfrm>
            <a:off x="658368" y="1527048"/>
            <a:ext cx="3438144" cy="1389888"/>
          </a:xfrm>
          <a:prstGeom prst="roundRect">
            <a:avLst>
              <a:gd name="adj" fmla="val 7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527048"/>
            <a:ext cx="50292" cy="138988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1682495"/>
            <a:ext cx="731520" cy="457200"/>
          </a:xfrm>
          <a:prstGeom prst="rect">
            <a:avLst/>
          </a:prstGeom>
          <a:noFill/>
        </p:spPr>
        <p:txBody>
          <a:bodyPr wrap="square" anchor="t" lIns="0" rIns="0" tIns="0" bIns="0">
            <a:spAutoFit/>
          </a:bodyPr>
          <a:lstStyle/>
          <a:p>
            <a:pPr algn="l">
              <a:lnSpc>
                <a:spcPct val="115000"/>
              </a:lnSpc>
              <a:spcBef>
                <a:spcPts val="0"/>
              </a:spcBef>
              <a:spcAft>
                <a:spcPts val="600"/>
              </a:spcAft>
            </a:pPr>
            <a:r>
              <a:rPr sz="2400" b="1" i="0">
                <a:solidFill>
                  <a:srgbClr val="E8734A"/>
                </a:solidFill>
                <a:latin typeface="Calibri"/>
              </a:rPr>
              <a:t>01</a:t>
            </a:r>
          </a:p>
        </p:txBody>
      </p:sp>
      <p:sp>
        <p:nvSpPr>
          <p:cNvPr id="10" name="TextBox 9"/>
          <p:cNvSpPr txBox="1"/>
          <p:nvPr/>
        </p:nvSpPr>
        <p:spPr>
          <a:xfrm>
            <a:off x="877824" y="2130552"/>
            <a:ext cx="3026663" cy="365760"/>
          </a:xfrm>
          <a:prstGeom prst="rect">
            <a:avLst/>
          </a:prstGeom>
          <a:noFill/>
        </p:spPr>
        <p:txBody>
          <a:bodyPr wrap="square" anchor="t" lIns="0" rIns="0" tIns="0" bIns="0">
            <a:spAutoFit/>
          </a:bodyPr>
          <a:lstStyle/>
          <a:p>
            <a:pPr algn="l">
              <a:lnSpc>
                <a:spcPct val="115000"/>
              </a:lnSpc>
              <a:spcBef>
                <a:spcPts val="0"/>
              </a:spcBef>
              <a:spcAft>
                <a:spcPts val="300"/>
              </a:spcAft>
            </a:pPr>
            <a:r>
              <a:rPr sz="1450" b="1" i="0">
                <a:solidFill>
                  <a:srgbClr val="16202B"/>
                </a:solidFill>
                <a:latin typeface="Calibri"/>
              </a:rPr>
              <a:t>Introduction</a:t>
            </a:r>
          </a:p>
        </p:txBody>
      </p:sp>
      <p:sp>
        <p:nvSpPr>
          <p:cNvPr id="11" name="TextBox 10"/>
          <p:cNvSpPr txBox="1"/>
          <p:nvPr/>
        </p:nvSpPr>
        <p:spPr>
          <a:xfrm>
            <a:off x="877824" y="2441448"/>
            <a:ext cx="3026663" cy="411480"/>
          </a:xfrm>
          <a:prstGeom prst="rect">
            <a:avLst/>
          </a:prstGeom>
          <a:noFill/>
        </p:spPr>
        <p:txBody>
          <a:bodyPr wrap="square" anchor="t" lIns="0" rIns="0" tIns="0" bIns="0">
            <a:spAutoFit/>
          </a:bodyPr>
          <a:lstStyle/>
          <a:p>
            <a:pPr algn="l">
              <a:lnSpc>
                <a:spcPct val="115000"/>
              </a:lnSpc>
              <a:spcBef>
                <a:spcPts val="0"/>
              </a:spcBef>
              <a:spcAft>
                <a:spcPts val="600"/>
              </a:spcAft>
            </a:pPr>
            <a:r>
              <a:rPr sz="1100" b="0" i="0">
                <a:solidFill>
                  <a:srgbClr val="444E59"/>
                </a:solidFill>
                <a:latin typeface="Calibri"/>
              </a:rPr>
              <a:t>Why domain-specific similarity is hard</a:t>
            </a:r>
          </a:p>
        </p:txBody>
      </p:sp>
      <p:sp>
        <p:nvSpPr>
          <p:cNvPr id="12" name="Rounded Rectangle 11"/>
          <p:cNvSpPr/>
          <p:nvPr/>
        </p:nvSpPr>
        <p:spPr>
          <a:xfrm>
            <a:off x="4370831" y="1527048"/>
            <a:ext cx="3438144" cy="1389888"/>
          </a:xfrm>
          <a:prstGeom prst="roundRect">
            <a:avLst>
              <a:gd name="adj" fmla="val 7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70831" y="1527048"/>
            <a:ext cx="50292" cy="138988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90288" y="1682495"/>
            <a:ext cx="731520" cy="457200"/>
          </a:xfrm>
          <a:prstGeom prst="rect">
            <a:avLst/>
          </a:prstGeom>
          <a:noFill/>
        </p:spPr>
        <p:txBody>
          <a:bodyPr wrap="square" anchor="t" lIns="0" rIns="0" tIns="0" bIns="0">
            <a:spAutoFit/>
          </a:bodyPr>
          <a:lstStyle/>
          <a:p>
            <a:pPr algn="l">
              <a:lnSpc>
                <a:spcPct val="115000"/>
              </a:lnSpc>
              <a:spcBef>
                <a:spcPts val="0"/>
              </a:spcBef>
              <a:spcAft>
                <a:spcPts val="600"/>
              </a:spcAft>
            </a:pPr>
            <a:r>
              <a:rPr sz="2400" b="1" i="0">
                <a:solidFill>
                  <a:srgbClr val="E8734A"/>
                </a:solidFill>
                <a:latin typeface="Calibri"/>
              </a:rPr>
              <a:t>02</a:t>
            </a:r>
          </a:p>
        </p:txBody>
      </p:sp>
      <p:sp>
        <p:nvSpPr>
          <p:cNvPr id="15" name="TextBox 14"/>
          <p:cNvSpPr txBox="1"/>
          <p:nvPr/>
        </p:nvSpPr>
        <p:spPr>
          <a:xfrm>
            <a:off x="4590288" y="2130552"/>
            <a:ext cx="3026663" cy="365760"/>
          </a:xfrm>
          <a:prstGeom prst="rect">
            <a:avLst/>
          </a:prstGeom>
          <a:noFill/>
        </p:spPr>
        <p:txBody>
          <a:bodyPr wrap="square" anchor="t" lIns="0" rIns="0" tIns="0" bIns="0">
            <a:spAutoFit/>
          </a:bodyPr>
          <a:lstStyle/>
          <a:p>
            <a:pPr algn="l">
              <a:lnSpc>
                <a:spcPct val="115000"/>
              </a:lnSpc>
              <a:spcBef>
                <a:spcPts val="0"/>
              </a:spcBef>
              <a:spcAft>
                <a:spcPts val="300"/>
              </a:spcAft>
            </a:pPr>
            <a:r>
              <a:rPr sz="1450" b="1" i="0">
                <a:solidFill>
                  <a:srgbClr val="16202B"/>
                </a:solidFill>
                <a:latin typeface="Calibri"/>
              </a:rPr>
              <a:t>Literature Review</a:t>
            </a:r>
          </a:p>
        </p:txBody>
      </p:sp>
      <p:sp>
        <p:nvSpPr>
          <p:cNvPr id="16" name="TextBox 15"/>
          <p:cNvSpPr txBox="1"/>
          <p:nvPr/>
        </p:nvSpPr>
        <p:spPr>
          <a:xfrm>
            <a:off x="4590288" y="2441448"/>
            <a:ext cx="3026663" cy="411480"/>
          </a:xfrm>
          <a:prstGeom prst="rect">
            <a:avLst/>
          </a:prstGeom>
          <a:noFill/>
        </p:spPr>
        <p:txBody>
          <a:bodyPr wrap="square" anchor="t" lIns="0" rIns="0" tIns="0" bIns="0">
            <a:spAutoFit/>
          </a:bodyPr>
          <a:lstStyle/>
          <a:p>
            <a:pPr algn="l">
              <a:lnSpc>
                <a:spcPct val="115000"/>
              </a:lnSpc>
              <a:spcBef>
                <a:spcPts val="0"/>
              </a:spcBef>
              <a:spcAft>
                <a:spcPts val="600"/>
              </a:spcAft>
            </a:pPr>
            <a:r>
              <a:rPr sz="1100" b="0" i="0">
                <a:solidFill>
                  <a:srgbClr val="444E59"/>
                </a:solidFill>
                <a:latin typeface="Calibri"/>
              </a:rPr>
              <a:t>Five studies, the trends, the gap</a:t>
            </a:r>
          </a:p>
        </p:txBody>
      </p:sp>
      <p:sp>
        <p:nvSpPr>
          <p:cNvPr id="17" name="Rounded Rectangle 16"/>
          <p:cNvSpPr/>
          <p:nvPr/>
        </p:nvSpPr>
        <p:spPr>
          <a:xfrm>
            <a:off x="8083296" y="1527048"/>
            <a:ext cx="3438144" cy="1389888"/>
          </a:xfrm>
          <a:prstGeom prst="roundRect">
            <a:avLst>
              <a:gd name="adj" fmla="val 7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83296" y="1527048"/>
            <a:ext cx="50292" cy="138988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02752" y="1682495"/>
            <a:ext cx="731520" cy="457200"/>
          </a:xfrm>
          <a:prstGeom prst="rect">
            <a:avLst/>
          </a:prstGeom>
          <a:noFill/>
        </p:spPr>
        <p:txBody>
          <a:bodyPr wrap="square" anchor="t" lIns="0" rIns="0" tIns="0" bIns="0">
            <a:spAutoFit/>
          </a:bodyPr>
          <a:lstStyle/>
          <a:p>
            <a:pPr algn="l">
              <a:lnSpc>
                <a:spcPct val="115000"/>
              </a:lnSpc>
              <a:spcBef>
                <a:spcPts val="0"/>
              </a:spcBef>
              <a:spcAft>
                <a:spcPts val="600"/>
              </a:spcAft>
            </a:pPr>
            <a:r>
              <a:rPr sz="2400" b="1" i="0">
                <a:solidFill>
                  <a:srgbClr val="E8734A"/>
                </a:solidFill>
                <a:latin typeface="Calibri"/>
              </a:rPr>
              <a:t>03</a:t>
            </a:r>
          </a:p>
        </p:txBody>
      </p:sp>
      <p:sp>
        <p:nvSpPr>
          <p:cNvPr id="20" name="TextBox 19"/>
          <p:cNvSpPr txBox="1"/>
          <p:nvPr/>
        </p:nvSpPr>
        <p:spPr>
          <a:xfrm>
            <a:off x="8302752" y="2130552"/>
            <a:ext cx="3026663" cy="365760"/>
          </a:xfrm>
          <a:prstGeom prst="rect">
            <a:avLst/>
          </a:prstGeom>
          <a:noFill/>
        </p:spPr>
        <p:txBody>
          <a:bodyPr wrap="square" anchor="t" lIns="0" rIns="0" tIns="0" bIns="0">
            <a:spAutoFit/>
          </a:bodyPr>
          <a:lstStyle/>
          <a:p>
            <a:pPr algn="l">
              <a:lnSpc>
                <a:spcPct val="115000"/>
              </a:lnSpc>
              <a:spcBef>
                <a:spcPts val="0"/>
              </a:spcBef>
              <a:spcAft>
                <a:spcPts val="300"/>
              </a:spcAft>
            </a:pPr>
            <a:r>
              <a:rPr sz="1450" b="1" i="0">
                <a:solidFill>
                  <a:srgbClr val="16202B"/>
                </a:solidFill>
                <a:latin typeface="Calibri"/>
              </a:rPr>
              <a:t>Problem Definition</a:t>
            </a:r>
          </a:p>
        </p:txBody>
      </p:sp>
      <p:sp>
        <p:nvSpPr>
          <p:cNvPr id="21" name="TextBox 20"/>
          <p:cNvSpPr txBox="1"/>
          <p:nvPr/>
        </p:nvSpPr>
        <p:spPr>
          <a:xfrm>
            <a:off x="8302752" y="2441448"/>
            <a:ext cx="3026663" cy="411480"/>
          </a:xfrm>
          <a:prstGeom prst="rect">
            <a:avLst/>
          </a:prstGeom>
          <a:noFill/>
        </p:spPr>
        <p:txBody>
          <a:bodyPr wrap="square" anchor="t" lIns="0" rIns="0" tIns="0" bIns="0">
            <a:spAutoFit/>
          </a:bodyPr>
          <a:lstStyle/>
          <a:p>
            <a:pPr algn="l">
              <a:lnSpc>
                <a:spcPct val="115000"/>
              </a:lnSpc>
              <a:spcBef>
                <a:spcPts val="0"/>
              </a:spcBef>
              <a:spcAft>
                <a:spcPts val="600"/>
              </a:spcAft>
            </a:pPr>
            <a:r>
              <a:rPr sz="1100" b="0" i="0">
                <a:solidFill>
                  <a:srgbClr val="444E59"/>
                </a:solidFill>
                <a:latin typeface="Calibri"/>
              </a:rPr>
              <a:t>What exactly is unclear</a:t>
            </a:r>
          </a:p>
        </p:txBody>
      </p:sp>
      <p:sp>
        <p:nvSpPr>
          <p:cNvPr id="22" name="Rounded Rectangle 21"/>
          <p:cNvSpPr/>
          <p:nvPr/>
        </p:nvSpPr>
        <p:spPr>
          <a:xfrm>
            <a:off x="658368" y="3172968"/>
            <a:ext cx="3438144" cy="1389888"/>
          </a:xfrm>
          <a:prstGeom prst="roundRect">
            <a:avLst>
              <a:gd name="adj" fmla="val 7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58368" y="3172968"/>
            <a:ext cx="50292" cy="138988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 y="3328415"/>
            <a:ext cx="731520" cy="457200"/>
          </a:xfrm>
          <a:prstGeom prst="rect">
            <a:avLst/>
          </a:prstGeom>
          <a:noFill/>
        </p:spPr>
        <p:txBody>
          <a:bodyPr wrap="square" anchor="t" lIns="0" rIns="0" tIns="0" bIns="0">
            <a:spAutoFit/>
          </a:bodyPr>
          <a:lstStyle/>
          <a:p>
            <a:pPr algn="l">
              <a:lnSpc>
                <a:spcPct val="115000"/>
              </a:lnSpc>
              <a:spcBef>
                <a:spcPts val="0"/>
              </a:spcBef>
              <a:spcAft>
                <a:spcPts val="600"/>
              </a:spcAft>
            </a:pPr>
            <a:r>
              <a:rPr sz="2400" b="1" i="0">
                <a:solidFill>
                  <a:srgbClr val="E8734A"/>
                </a:solidFill>
                <a:latin typeface="Calibri"/>
              </a:rPr>
              <a:t>04</a:t>
            </a:r>
          </a:p>
        </p:txBody>
      </p:sp>
      <p:sp>
        <p:nvSpPr>
          <p:cNvPr id="25" name="TextBox 24"/>
          <p:cNvSpPr txBox="1"/>
          <p:nvPr/>
        </p:nvSpPr>
        <p:spPr>
          <a:xfrm>
            <a:off x="877824" y="3776472"/>
            <a:ext cx="3026663" cy="365760"/>
          </a:xfrm>
          <a:prstGeom prst="rect">
            <a:avLst/>
          </a:prstGeom>
          <a:noFill/>
        </p:spPr>
        <p:txBody>
          <a:bodyPr wrap="square" anchor="t" lIns="0" rIns="0" tIns="0" bIns="0">
            <a:spAutoFit/>
          </a:bodyPr>
          <a:lstStyle/>
          <a:p>
            <a:pPr algn="l">
              <a:lnSpc>
                <a:spcPct val="115000"/>
              </a:lnSpc>
              <a:spcBef>
                <a:spcPts val="0"/>
              </a:spcBef>
              <a:spcAft>
                <a:spcPts val="300"/>
              </a:spcAft>
            </a:pPr>
            <a:r>
              <a:rPr sz="1450" b="1" i="0">
                <a:solidFill>
                  <a:srgbClr val="16202B"/>
                </a:solidFill>
                <a:latin typeface="Calibri"/>
              </a:rPr>
              <a:t>Objectives</a:t>
            </a:r>
          </a:p>
        </p:txBody>
      </p:sp>
      <p:sp>
        <p:nvSpPr>
          <p:cNvPr id="26" name="TextBox 25"/>
          <p:cNvSpPr txBox="1"/>
          <p:nvPr/>
        </p:nvSpPr>
        <p:spPr>
          <a:xfrm>
            <a:off x="877824" y="4087368"/>
            <a:ext cx="3026663" cy="411480"/>
          </a:xfrm>
          <a:prstGeom prst="rect">
            <a:avLst/>
          </a:prstGeom>
          <a:noFill/>
        </p:spPr>
        <p:txBody>
          <a:bodyPr wrap="square" anchor="t" lIns="0" rIns="0" tIns="0" bIns="0">
            <a:spAutoFit/>
          </a:bodyPr>
          <a:lstStyle/>
          <a:p>
            <a:pPr algn="l">
              <a:lnSpc>
                <a:spcPct val="115000"/>
              </a:lnSpc>
              <a:spcBef>
                <a:spcPts val="0"/>
              </a:spcBef>
              <a:spcAft>
                <a:spcPts val="600"/>
              </a:spcAft>
            </a:pPr>
            <a:r>
              <a:rPr sz="1100" b="0" i="0">
                <a:solidFill>
                  <a:srgbClr val="444E59"/>
                </a:solidFill>
                <a:latin typeface="Calibri"/>
              </a:rPr>
              <a:t>Main aim and four specific objectives</a:t>
            </a:r>
          </a:p>
        </p:txBody>
      </p:sp>
      <p:sp>
        <p:nvSpPr>
          <p:cNvPr id="27" name="Rounded Rectangle 26"/>
          <p:cNvSpPr/>
          <p:nvPr/>
        </p:nvSpPr>
        <p:spPr>
          <a:xfrm>
            <a:off x="4370831" y="3172968"/>
            <a:ext cx="3438144" cy="1389888"/>
          </a:xfrm>
          <a:prstGeom prst="roundRect">
            <a:avLst>
              <a:gd name="adj" fmla="val 7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370831" y="3172968"/>
            <a:ext cx="50292" cy="138988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590288" y="3328415"/>
            <a:ext cx="731520" cy="457200"/>
          </a:xfrm>
          <a:prstGeom prst="rect">
            <a:avLst/>
          </a:prstGeom>
          <a:noFill/>
        </p:spPr>
        <p:txBody>
          <a:bodyPr wrap="square" anchor="t" lIns="0" rIns="0" tIns="0" bIns="0">
            <a:spAutoFit/>
          </a:bodyPr>
          <a:lstStyle/>
          <a:p>
            <a:pPr algn="l">
              <a:lnSpc>
                <a:spcPct val="115000"/>
              </a:lnSpc>
              <a:spcBef>
                <a:spcPts val="0"/>
              </a:spcBef>
              <a:spcAft>
                <a:spcPts val="600"/>
              </a:spcAft>
            </a:pPr>
            <a:r>
              <a:rPr sz="2400" b="1" i="0">
                <a:solidFill>
                  <a:srgbClr val="E8734A"/>
                </a:solidFill>
                <a:latin typeface="Calibri"/>
              </a:rPr>
              <a:t>05</a:t>
            </a:r>
          </a:p>
        </p:txBody>
      </p:sp>
      <p:sp>
        <p:nvSpPr>
          <p:cNvPr id="30" name="TextBox 29"/>
          <p:cNvSpPr txBox="1"/>
          <p:nvPr/>
        </p:nvSpPr>
        <p:spPr>
          <a:xfrm>
            <a:off x="4590288" y="3776472"/>
            <a:ext cx="3026663" cy="365760"/>
          </a:xfrm>
          <a:prstGeom prst="rect">
            <a:avLst/>
          </a:prstGeom>
          <a:noFill/>
        </p:spPr>
        <p:txBody>
          <a:bodyPr wrap="square" anchor="t" lIns="0" rIns="0" tIns="0" bIns="0">
            <a:spAutoFit/>
          </a:bodyPr>
          <a:lstStyle/>
          <a:p>
            <a:pPr algn="l">
              <a:lnSpc>
                <a:spcPct val="115000"/>
              </a:lnSpc>
              <a:spcBef>
                <a:spcPts val="0"/>
              </a:spcBef>
              <a:spcAft>
                <a:spcPts val="300"/>
              </a:spcAft>
            </a:pPr>
            <a:r>
              <a:rPr sz="1450" b="1" i="0">
                <a:solidFill>
                  <a:srgbClr val="16202B"/>
                </a:solidFill>
                <a:latin typeface="Calibri"/>
              </a:rPr>
              <a:t>Methodology</a:t>
            </a:r>
          </a:p>
        </p:txBody>
      </p:sp>
      <p:sp>
        <p:nvSpPr>
          <p:cNvPr id="31" name="TextBox 30"/>
          <p:cNvSpPr txBox="1"/>
          <p:nvPr/>
        </p:nvSpPr>
        <p:spPr>
          <a:xfrm>
            <a:off x="4590288" y="4087368"/>
            <a:ext cx="3026663" cy="411480"/>
          </a:xfrm>
          <a:prstGeom prst="rect">
            <a:avLst/>
          </a:prstGeom>
          <a:noFill/>
        </p:spPr>
        <p:txBody>
          <a:bodyPr wrap="square" anchor="t" lIns="0" rIns="0" tIns="0" bIns="0">
            <a:spAutoFit/>
          </a:bodyPr>
          <a:lstStyle/>
          <a:p>
            <a:pPr algn="l">
              <a:lnSpc>
                <a:spcPct val="115000"/>
              </a:lnSpc>
              <a:spcBef>
                <a:spcPts val="0"/>
              </a:spcBef>
              <a:spcAft>
                <a:spcPts val="600"/>
              </a:spcAft>
            </a:pPr>
            <a:r>
              <a:rPr sz="1100" b="0" i="0">
                <a:solidFill>
                  <a:srgbClr val="444E59"/>
                </a:solidFill>
                <a:latin typeface="Calibri"/>
              </a:rPr>
              <a:t>Design, data, analysis, tools</a:t>
            </a:r>
          </a:p>
        </p:txBody>
      </p:sp>
      <p:sp>
        <p:nvSpPr>
          <p:cNvPr id="32" name="Rounded Rectangle 31"/>
          <p:cNvSpPr/>
          <p:nvPr/>
        </p:nvSpPr>
        <p:spPr>
          <a:xfrm>
            <a:off x="8083296" y="3172968"/>
            <a:ext cx="3438144" cy="1389888"/>
          </a:xfrm>
          <a:prstGeom prst="roundRect">
            <a:avLst>
              <a:gd name="adj" fmla="val 7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083296" y="3172968"/>
            <a:ext cx="50292" cy="138988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02752" y="3328415"/>
            <a:ext cx="731520" cy="457200"/>
          </a:xfrm>
          <a:prstGeom prst="rect">
            <a:avLst/>
          </a:prstGeom>
          <a:noFill/>
        </p:spPr>
        <p:txBody>
          <a:bodyPr wrap="square" anchor="t" lIns="0" rIns="0" tIns="0" bIns="0">
            <a:spAutoFit/>
          </a:bodyPr>
          <a:lstStyle/>
          <a:p>
            <a:pPr algn="l">
              <a:lnSpc>
                <a:spcPct val="115000"/>
              </a:lnSpc>
              <a:spcBef>
                <a:spcPts val="0"/>
              </a:spcBef>
              <a:spcAft>
                <a:spcPts val="600"/>
              </a:spcAft>
            </a:pPr>
            <a:r>
              <a:rPr sz="2400" b="1" i="0">
                <a:solidFill>
                  <a:srgbClr val="E8734A"/>
                </a:solidFill>
                <a:latin typeface="Calibri"/>
              </a:rPr>
              <a:t>06</a:t>
            </a:r>
          </a:p>
        </p:txBody>
      </p:sp>
      <p:sp>
        <p:nvSpPr>
          <p:cNvPr id="35" name="TextBox 34"/>
          <p:cNvSpPr txBox="1"/>
          <p:nvPr/>
        </p:nvSpPr>
        <p:spPr>
          <a:xfrm>
            <a:off x="8302752" y="3776472"/>
            <a:ext cx="3026663" cy="365760"/>
          </a:xfrm>
          <a:prstGeom prst="rect">
            <a:avLst/>
          </a:prstGeom>
          <a:noFill/>
        </p:spPr>
        <p:txBody>
          <a:bodyPr wrap="square" anchor="t" lIns="0" rIns="0" tIns="0" bIns="0">
            <a:spAutoFit/>
          </a:bodyPr>
          <a:lstStyle/>
          <a:p>
            <a:pPr algn="l">
              <a:lnSpc>
                <a:spcPct val="115000"/>
              </a:lnSpc>
              <a:spcBef>
                <a:spcPts val="0"/>
              </a:spcBef>
              <a:spcAft>
                <a:spcPts val="300"/>
              </a:spcAft>
            </a:pPr>
            <a:r>
              <a:rPr sz="1450" b="1" i="0">
                <a:solidFill>
                  <a:srgbClr val="16202B"/>
                </a:solidFill>
                <a:latin typeface="Calibri"/>
              </a:rPr>
              <a:t>Proposed Outcomes</a:t>
            </a:r>
          </a:p>
        </p:txBody>
      </p:sp>
      <p:sp>
        <p:nvSpPr>
          <p:cNvPr id="36" name="TextBox 35"/>
          <p:cNvSpPr txBox="1"/>
          <p:nvPr/>
        </p:nvSpPr>
        <p:spPr>
          <a:xfrm>
            <a:off x="8302752" y="4087368"/>
            <a:ext cx="3026663" cy="411480"/>
          </a:xfrm>
          <a:prstGeom prst="rect">
            <a:avLst/>
          </a:prstGeom>
          <a:noFill/>
        </p:spPr>
        <p:txBody>
          <a:bodyPr wrap="square" anchor="t" lIns="0" rIns="0" tIns="0" bIns="0">
            <a:spAutoFit/>
          </a:bodyPr>
          <a:lstStyle/>
          <a:p>
            <a:pPr algn="l">
              <a:lnSpc>
                <a:spcPct val="115000"/>
              </a:lnSpc>
              <a:spcBef>
                <a:spcPts val="0"/>
              </a:spcBef>
              <a:spcAft>
                <a:spcPts val="600"/>
              </a:spcAft>
            </a:pPr>
            <a:r>
              <a:rPr sz="1100" b="0" i="0">
                <a:solidFill>
                  <a:srgbClr val="444E59"/>
                </a:solidFill>
                <a:latin typeface="Calibri"/>
              </a:rPr>
              <a:t>Expected results and impact</a:t>
            </a:r>
          </a:p>
        </p:txBody>
      </p:sp>
      <p:sp>
        <p:nvSpPr>
          <p:cNvPr id="37" name="Rounded Rectangle 36"/>
          <p:cNvSpPr/>
          <p:nvPr/>
        </p:nvSpPr>
        <p:spPr>
          <a:xfrm>
            <a:off x="658368" y="4818888"/>
            <a:ext cx="3438144" cy="1389888"/>
          </a:xfrm>
          <a:prstGeom prst="roundRect">
            <a:avLst>
              <a:gd name="adj" fmla="val 7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58368" y="4818888"/>
            <a:ext cx="50292" cy="138988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77824" y="4974336"/>
            <a:ext cx="731520" cy="457200"/>
          </a:xfrm>
          <a:prstGeom prst="rect">
            <a:avLst/>
          </a:prstGeom>
          <a:noFill/>
        </p:spPr>
        <p:txBody>
          <a:bodyPr wrap="square" anchor="t" lIns="0" rIns="0" tIns="0" bIns="0">
            <a:spAutoFit/>
          </a:bodyPr>
          <a:lstStyle/>
          <a:p>
            <a:pPr algn="l">
              <a:lnSpc>
                <a:spcPct val="115000"/>
              </a:lnSpc>
              <a:spcBef>
                <a:spcPts val="0"/>
              </a:spcBef>
              <a:spcAft>
                <a:spcPts val="600"/>
              </a:spcAft>
            </a:pPr>
            <a:r>
              <a:rPr sz="2400" b="1" i="0">
                <a:solidFill>
                  <a:srgbClr val="E8734A"/>
                </a:solidFill>
                <a:latin typeface="Calibri"/>
              </a:rPr>
              <a:t>07</a:t>
            </a:r>
          </a:p>
        </p:txBody>
      </p:sp>
      <p:sp>
        <p:nvSpPr>
          <p:cNvPr id="40" name="TextBox 39"/>
          <p:cNvSpPr txBox="1"/>
          <p:nvPr/>
        </p:nvSpPr>
        <p:spPr>
          <a:xfrm>
            <a:off x="877824" y="5422392"/>
            <a:ext cx="3026663" cy="365760"/>
          </a:xfrm>
          <a:prstGeom prst="rect">
            <a:avLst/>
          </a:prstGeom>
          <a:noFill/>
        </p:spPr>
        <p:txBody>
          <a:bodyPr wrap="square" anchor="t" lIns="0" rIns="0" tIns="0" bIns="0">
            <a:spAutoFit/>
          </a:bodyPr>
          <a:lstStyle/>
          <a:p>
            <a:pPr algn="l">
              <a:lnSpc>
                <a:spcPct val="115000"/>
              </a:lnSpc>
              <a:spcBef>
                <a:spcPts val="0"/>
              </a:spcBef>
              <a:spcAft>
                <a:spcPts val="300"/>
              </a:spcAft>
            </a:pPr>
            <a:r>
              <a:rPr sz="1450" b="1" i="0">
                <a:solidFill>
                  <a:srgbClr val="16202B"/>
                </a:solidFill>
                <a:latin typeface="Calibri"/>
              </a:rPr>
              <a:t>Timeline of the Project</a:t>
            </a:r>
          </a:p>
        </p:txBody>
      </p:sp>
      <p:sp>
        <p:nvSpPr>
          <p:cNvPr id="41" name="TextBox 40"/>
          <p:cNvSpPr txBox="1"/>
          <p:nvPr/>
        </p:nvSpPr>
        <p:spPr>
          <a:xfrm>
            <a:off x="877824" y="5733288"/>
            <a:ext cx="3026663" cy="411480"/>
          </a:xfrm>
          <a:prstGeom prst="rect">
            <a:avLst/>
          </a:prstGeom>
          <a:noFill/>
        </p:spPr>
        <p:txBody>
          <a:bodyPr wrap="square" anchor="t" lIns="0" rIns="0" tIns="0" bIns="0">
            <a:spAutoFit/>
          </a:bodyPr>
          <a:lstStyle/>
          <a:p>
            <a:pPr algn="l">
              <a:lnSpc>
                <a:spcPct val="115000"/>
              </a:lnSpc>
              <a:spcBef>
                <a:spcPts val="0"/>
              </a:spcBef>
              <a:spcAft>
                <a:spcPts val="600"/>
              </a:spcAft>
            </a:pPr>
            <a:r>
              <a:rPr sz="1100" b="0" i="0">
                <a:solidFill>
                  <a:srgbClr val="444E59"/>
                </a:solidFill>
                <a:latin typeface="Calibri"/>
              </a:rPr>
              <a:t>Initiation → closure</a:t>
            </a:r>
          </a:p>
        </p:txBody>
      </p:sp>
      <p:sp>
        <p:nvSpPr>
          <p:cNvPr id="42" name="Rounded Rectangle 41"/>
          <p:cNvSpPr/>
          <p:nvPr/>
        </p:nvSpPr>
        <p:spPr>
          <a:xfrm>
            <a:off x="4370831" y="4818888"/>
            <a:ext cx="3438144" cy="1389888"/>
          </a:xfrm>
          <a:prstGeom prst="roundRect">
            <a:avLst>
              <a:gd name="adj" fmla="val 7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370831" y="4818888"/>
            <a:ext cx="50292" cy="138988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590288" y="4974336"/>
            <a:ext cx="731520" cy="457200"/>
          </a:xfrm>
          <a:prstGeom prst="rect">
            <a:avLst/>
          </a:prstGeom>
          <a:noFill/>
        </p:spPr>
        <p:txBody>
          <a:bodyPr wrap="square" anchor="t" lIns="0" rIns="0" tIns="0" bIns="0">
            <a:spAutoFit/>
          </a:bodyPr>
          <a:lstStyle/>
          <a:p>
            <a:pPr algn="l">
              <a:lnSpc>
                <a:spcPct val="115000"/>
              </a:lnSpc>
              <a:spcBef>
                <a:spcPts val="0"/>
              </a:spcBef>
              <a:spcAft>
                <a:spcPts val="600"/>
              </a:spcAft>
            </a:pPr>
            <a:r>
              <a:rPr sz="2400" b="1" i="0">
                <a:solidFill>
                  <a:srgbClr val="E8734A"/>
                </a:solidFill>
                <a:latin typeface="Calibri"/>
              </a:rPr>
              <a:t>08</a:t>
            </a:r>
          </a:p>
        </p:txBody>
      </p:sp>
      <p:sp>
        <p:nvSpPr>
          <p:cNvPr id="45" name="TextBox 44"/>
          <p:cNvSpPr txBox="1"/>
          <p:nvPr/>
        </p:nvSpPr>
        <p:spPr>
          <a:xfrm>
            <a:off x="4590288" y="5422392"/>
            <a:ext cx="3026663" cy="365760"/>
          </a:xfrm>
          <a:prstGeom prst="rect">
            <a:avLst/>
          </a:prstGeom>
          <a:noFill/>
        </p:spPr>
        <p:txBody>
          <a:bodyPr wrap="square" anchor="t" lIns="0" rIns="0" tIns="0" bIns="0">
            <a:spAutoFit/>
          </a:bodyPr>
          <a:lstStyle/>
          <a:p>
            <a:pPr algn="l">
              <a:lnSpc>
                <a:spcPct val="115000"/>
              </a:lnSpc>
              <a:spcBef>
                <a:spcPts val="0"/>
              </a:spcBef>
              <a:spcAft>
                <a:spcPts val="300"/>
              </a:spcAft>
            </a:pPr>
            <a:r>
              <a:rPr sz="1450" b="1" i="0">
                <a:solidFill>
                  <a:srgbClr val="16202B"/>
                </a:solidFill>
                <a:latin typeface="Calibri"/>
              </a:rPr>
              <a:t>Conclusion</a:t>
            </a:r>
          </a:p>
        </p:txBody>
      </p:sp>
      <p:sp>
        <p:nvSpPr>
          <p:cNvPr id="46" name="TextBox 45"/>
          <p:cNvSpPr txBox="1"/>
          <p:nvPr/>
        </p:nvSpPr>
        <p:spPr>
          <a:xfrm>
            <a:off x="4590288" y="5733288"/>
            <a:ext cx="3026663" cy="411480"/>
          </a:xfrm>
          <a:prstGeom prst="rect">
            <a:avLst/>
          </a:prstGeom>
          <a:noFill/>
        </p:spPr>
        <p:txBody>
          <a:bodyPr wrap="square" anchor="t" lIns="0" rIns="0" tIns="0" bIns="0">
            <a:spAutoFit/>
          </a:bodyPr>
          <a:lstStyle/>
          <a:p>
            <a:pPr algn="l">
              <a:lnSpc>
                <a:spcPct val="115000"/>
              </a:lnSpc>
              <a:spcBef>
                <a:spcPts val="0"/>
              </a:spcBef>
              <a:spcAft>
                <a:spcPts val="600"/>
              </a:spcAft>
            </a:pPr>
            <a:r>
              <a:rPr sz="1100" b="0" i="0">
                <a:solidFill>
                  <a:srgbClr val="444E59"/>
                </a:solidFill>
                <a:latin typeface="Calibri"/>
              </a:rPr>
              <a:t>Summary and next steps</a:t>
            </a:r>
          </a:p>
        </p:txBody>
      </p:sp>
      <p:sp>
        <p:nvSpPr>
          <p:cNvPr id="47" name="Rounded Rectangle 46"/>
          <p:cNvSpPr/>
          <p:nvPr/>
        </p:nvSpPr>
        <p:spPr>
          <a:xfrm>
            <a:off x="8083296" y="4818888"/>
            <a:ext cx="3438144" cy="1389888"/>
          </a:xfrm>
          <a:prstGeom prst="roundRect">
            <a:avLst>
              <a:gd name="adj" fmla="val 7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083296" y="4818888"/>
            <a:ext cx="50292" cy="138988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302752" y="4974336"/>
            <a:ext cx="731520" cy="457200"/>
          </a:xfrm>
          <a:prstGeom prst="rect">
            <a:avLst/>
          </a:prstGeom>
          <a:noFill/>
        </p:spPr>
        <p:txBody>
          <a:bodyPr wrap="square" anchor="t" lIns="0" rIns="0" tIns="0" bIns="0">
            <a:spAutoFit/>
          </a:bodyPr>
          <a:lstStyle/>
          <a:p>
            <a:pPr algn="l">
              <a:lnSpc>
                <a:spcPct val="115000"/>
              </a:lnSpc>
              <a:spcBef>
                <a:spcPts val="0"/>
              </a:spcBef>
              <a:spcAft>
                <a:spcPts val="600"/>
              </a:spcAft>
            </a:pPr>
            <a:r>
              <a:rPr sz="2400" b="1" i="0">
                <a:solidFill>
                  <a:srgbClr val="E8734A"/>
                </a:solidFill>
                <a:latin typeface="Calibri"/>
              </a:rPr>
              <a:t>09</a:t>
            </a:r>
          </a:p>
        </p:txBody>
      </p:sp>
      <p:sp>
        <p:nvSpPr>
          <p:cNvPr id="50" name="TextBox 49"/>
          <p:cNvSpPr txBox="1"/>
          <p:nvPr/>
        </p:nvSpPr>
        <p:spPr>
          <a:xfrm>
            <a:off x="8302752" y="5422392"/>
            <a:ext cx="3026663" cy="365760"/>
          </a:xfrm>
          <a:prstGeom prst="rect">
            <a:avLst/>
          </a:prstGeom>
          <a:noFill/>
        </p:spPr>
        <p:txBody>
          <a:bodyPr wrap="square" anchor="t" lIns="0" rIns="0" tIns="0" bIns="0">
            <a:spAutoFit/>
          </a:bodyPr>
          <a:lstStyle/>
          <a:p>
            <a:pPr algn="l">
              <a:lnSpc>
                <a:spcPct val="115000"/>
              </a:lnSpc>
              <a:spcBef>
                <a:spcPts val="0"/>
              </a:spcBef>
              <a:spcAft>
                <a:spcPts val="300"/>
              </a:spcAft>
            </a:pPr>
            <a:r>
              <a:rPr sz="1450" b="1" i="0">
                <a:solidFill>
                  <a:srgbClr val="16202B"/>
                </a:solidFill>
                <a:latin typeface="Calibri"/>
              </a:rPr>
              <a:t>References</a:t>
            </a:r>
          </a:p>
        </p:txBody>
      </p:sp>
      <p:sp>
        <p:nvSpPr>
          <p:cNvPr id="51" name="TextBox 50"/>
          <p:cNvSpPr txBox="1"/>
          <p:nvPr/>
        </p:nvSpPr>
        <p:spPr>
          <a:xfrm>
            <a:off x="8302752" y="5733288"/>
            <a:ext cx="3026663" cy="411480"/>
          </a:xfrm>
          <a:prstGeom prst="rect">
            <a:avLst/>
          </a:prstGeom>
          <a:noFill/>
        </p:spPr>
        <p:txBody>
          <a:bodyPr wrap="square" anchor="t" lIns="0" rIns="0" tIns="0" bIns="0">
            <a:spAutoFit/>
          </a:bodyPr>
          <a:lstStyle/>
          <a:p>
            <a:pPr algn="l">
              <a:lnSpc>
                <a:spcPct val="115000"/>
              </a:lnSpc>
              <a:spcBef>
                <a:spcPts val="0"/>
              </a:spcBef>
              <a:spcAft>
                <a:spcPts val="600"/>
              </a:spcAft>
            </a:pPr>
            <a:r>
              <a:rPr sz="1100" b="0" i="0">
                <a:solidFill>
                  <a:srgbClr val="444E59"/>
                </a:solidFill>
                <a:latin typeface="Calibri"/>
              </a:rPr>
              <a:t>IEEE-style sources</a:t>
            </a:r>
          </a:p>
        </p:txBody>
      </p:sp>
      <p:sp>
        <p:nvSpPr>
          <p:cNvPr id="52" name="TextBox 51"/>
          <p:cNvSpPr txBox="1"/>
          <p:nvPr/>
        </p:nvSpPr>
        <p:spPr>
          <a:xfrm>
            <a:off x="658368" y="6053328"/>
            <a:ext cx="10874959" cy="548640"/>
          </a:xfrm>
          <a:prstGeom prst="rect">
            <a:avLst/>
          </a:prstGeom>
          <a:noFill/>
        </p:spPr>
        <p:txBody>
          <a:bodyPr wrap="square" anchor="t" lIns="0" rIns="0" tIns="0" bIns="0">
            <a:spAutoFit/>
          </a:bodyPr>
          <a:lstStyle/>
          <a:p>
            <a:pPr algn="l">
              <a:lnSpc>
                <a:spcPct val="125000"/>
              </a:lnSpc>
              <a:spcBef>
                <a:spcPts val="0"/>
              </a:spcBef>
              <a:spcAft>
                <a:spcPts val="600"/>
              </a:spcAft>
            </a:pPr>
            <a:r>
              <a:rPr sz="1100" b="0" i="0">
                <a:solidFill>
                  <a:srgbClr val="87919D"/>
                </a:solidFill>
                <a:latin typeface="Calibri"/>
              </a:rPr>
              <a:t>An EL Phase-I deliverable slide and a closing slide follow the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2084831"/>
            <a:ext cx="2926080" cy="1371600"/>
          </a:xfrm>
          <a:prstGeom prst="rect">
            <a:avLst/>
          </a:prstGeom>
          <a:noFill/>
        </p:spPr>
        <p:txBody>
          <a:bodyPr wrap="square" anchor="t" lIns="0" rIns="0" tIns="0" bIns="0">
            <a:spAutoFit/>
          </a:bodyPr>
          <a:lstStyle/>
          <a:p>
            <a:pPr algn="l">
              <a:lnSpc>
                <a:spcPct val="115000"/>
              </a:lnSpc>
              <a:spcBef>
                <a:spcPts val="0"/>
              </a:spcBef>
              <a:spcAft>
                <a:spcPts val="0"/>
              </a:spcAft>
            </a:pPr>
            <a:r>
              <a:rPr sz="7400" b="1" i="0">
                <a:solidFill>
                  <a:srgbClr val="E8734A"/>
                </a:solidFill>
                <a:latin typeface="Calibri"/>
              </a:rPr>
              <a:t>01</a:t>
            </a:r>
          </a:p>
        </p:txBody>
      </p:sp>
      <p:sp>
        <p:nvSpPr>
          <p:cNvPr id="5" name="TextBox 4"/>
          <p:cNvSpPr txBox="1"/>
          <p:nvPr/>
        </p:nvSpPr>
        <p:spPr>
          <a:xfrm>
            <a:off x="960120" y="3310128"/>
            <a:ext cx="9692640" cy="777240"/>
          </a:xfrm>
          <a:prstGeom prst="rect">
            <a:avLst/>
          </a:prstGeom>
          <a:noFill/>
        </p:spPr>
        <p:txBody>
          <a:bodyPr wrap="square" anchor="t" lIns="0" rIns="0" tIns="0" bIns="0">
            <a:spAutoFit/>
          </a:bodyPr>
          <a:lstStyle/>
          <a:p>
            <a:pPr algn="l">
              <a:lnSpc>
                <a:spcPct val="115000"/>
              </a:lnSpc>
              <a:spcBef>
                <a:spcPts val="0"/>
              </a:spcBef>
              <a:spcAft>
                <a:spcPts val="0"/>
              </a:spcAft>
            </a:pPr>
            <a:r>
              <a:rPr sz="3800" b="1" i="0">
                <a:solidFill>
                  <a:srgbClr val="FFFFFF"/>
                </a:solidFill>
                <a:latin typeface="Calibri"/>
              </a:rPr>
              <a:t>Introduction</a:t>
            </a:r>
          </a:p>
        </p:txBody>
      </p:sp>
      <p:sp>
        <p:nvSpPr>
          <p:cNvPr id="6" name="TextBox 5"/>
          <p:cNvSpPr txBox="1"/>
          <p:nvPr/>
        </p:nvSpPr>
        <p:spPr>
          <a:xfrm>
            <a:off x="960120" y="4224528"/>
            <a:ext cx="9509760" cy="82296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B9C6D4"/>
                </a:solidFill>
                <a:latin typeface="Calibri"/>
              </a:rPr>
              <a:t>What the topic is, and why it is worth a project.</a:t>
            </a:r>
          </a:p>
        </p:txBody>
      </p:sp>
      <p:sp>
        <p:nvSpPr>
          <p:cNvPr id="7" name="Rectangle 6"/>
          <p:cNvSpPr/>
          <p:nvPr/>
        </p:nvSpPr>
        <p:spPr>
          <a:xfrm>
            <a:off x="960120" y="4041648"/>
            <a:ext cx="1371600" cy="50292"/>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01  ·  INTRODUCTION</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Overview of the Topic</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1298448"/>
            <a:ext cx="10874959" cy="274320"/>
          </a:xfrm>
          <a:prstGeom prst="rect">
            <a:avLst/>
          </a:prstGeom>
          <a:noFill/>
        </p:spPr>
        <p:txBody>
          <a:bodyPr wrap="square" anchor="t" lIns="0" rIns="0" tIns="0" bIns="0">
            <a:spAutoFit/>
          </a:bodyPr>
          <a:lstStyle/>
          <a:p>
            <a:pPr algn="l">
              <a:lnSpc>
                <a:spcPct val="115000"/>
              </a:lnSpc>
              <a:spcBef>
                <a:spcPts val="0"/>
              </a:spcBef>
              <a:spcAft>
                <a:spcPts val="600"/>
              </a:spcAft>
            </a:pPr>
            <a:r>
              <a:rPr sz="1250" b="0" i="0">
                <a:solidFill>
                  <a:srgbClr val="87919D"/>
                </a:solidFill>
                <a:latin typeface="Calibri"/>
              </a:rPr>
              <a:t>Generic embeddings are a compromise; contrastive learning removes the compromise — but introduces a choice nobody has isolated.</a:t>
            </a:r>
          </a:p>
        </p:txBody>
      </p:sp>
      <p:sp>
        <p:nvSpPr>
          <p:cNvPr id="6" name="TextBox 5"/>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Introduction</a:t>
            </a:r>
          </a:p>
        </p:txBody>
      </p:sp>
      <p:sp>
        <p:nvSpPr>
          <p:cNvPr id="7" name="TextBox 6"/>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4</a:t>
            </a:r>
          </a:p>
        </p:txBody>
      </p:sp>
      <p:sp>
        <p:nvSpPr>
          <p:cNvPr id="8" name="TextBox 7"/>
          <p:cNvSpPr txBox="1"/>
          <p:nvPr/>
        </p:nvSpPr>
        <p:spPr>
          <a:xfrm>
            <a:off x="658368" y="1408176"/>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50" b="1" i="0">
                <a:solidFill>
                  <a:srgbClr val="1F6FB2"/>
                </a:solidFill>
                <a:latin typeface="Calibri"/>
              </a:rPr>
              <a:t>▪  </a:t>
            </a:r>
            <a:r>
              <a:rPr sz="1450" b="1" i="0">
                <a:solidFill>
                  <a:srgbClr val="16202B"/>
                </a:solidFill>
                <a:latin typeface="Calibri"/>
              </a:rPr>
              <a:t>The problem with generic models: </a:t>
            </a:r>
            <a:r>
              <a:rPr sz="1450" b="0" i="0">
                <a:solidFill>
                  <a:srgbClr val="444E59"/>
                </a:solidFill>
                <a:latin typeface="Calibri"/>
              </a:rPr>
              <a:t>Pretrained embedding models are trained on broad, general-purpose objectives. They do not inherently capture what “similar” means inside one specialised domain.</a:t>
            </a:r>
          </a:p>
        </p:txBody>
      </p:sp>
      <p:sp>
        <p:nvSpPr>
          <p:cNvPr id="9" name="TextBox 8"/>
          <p:cNvSpPr txBox="1"/>
          <p:nvPr/>
        </p:nvSpPr>
        <p:spPr>
          <a:xfrm>
            <a:off x="658368" y="2103120"/>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50" b="1" i="0">
                <a:solidFill>
                  <a:srgbClr val="1F6FB2"/>
                </a:solidFill>
                <a:latin typeface="Calibri"/>
              </a:rPr>
              <a:t>▪  </a:t>
            </a:r>
            <a:r>
              <a:rPr sz="1450" b="1" i="0">
                <a:solidFill>
                  <a:srgbClr val="16202B"/>
                </a:solidFill>
                <a:latin typeface="Calibri"/>
              </a:rPr>
              <a:t>Contrastive learning: </a:t>
            </a:r>
            <a:r>
              <a:rPr sz="1450" b="0" i="0">
                <a:solidFill>
                  <a:srgbClr val="444E59"/>
                </a:solidFill>
                <a:latin typeface="Calibri"/>
              </a:rPr>
              <a:t>Train embeddings by showing pairs of similar and dissimilar examples — pulling the similar ones together and pushing the dissimilar ones apart in vector space.</a:t>
            </a:r>
          </a:p>
        </p:txBody>
      </p:sp>
      <p:sp>
        <p:nvSpPr>
          <p:cNvPr id="10" name="TextBox 9"/>
          <p:cNvSpPr txBox="1"/>
          <p:nvPr/>
        </p:nvSpPr>
        <p:spPr>
          <a:xfrm>
            <a:off x="658368" y="2798064"/>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50" b="1" i="0">
                <a:solidFill>
                  <a:srgbClr val="1F6FB2"/>
                </a:solidFill>
                <a:latin typeface="Calibri"/>
              </a:rPr>
              <a:t>▪  </a:t>
            </a:r>
            <a:r>
              <a:rPr sz="1450" b="1" i="0">
                <a:solidFill>
                  <a:srgbClr val="16202B"/>
                </a:solidFill>
                <a:latin typeface="Calibri"/>
              </a:rPr>
              <a:t>The underexplored lever: </a:t>
            </a:r>
            <a:r>
              <a:rPr sz="1450" b="0" i="0">
                <a:solidFill>
                  <a:srgbClr val="444E59"/>
                </a:solidFill>
                <a:latin typeface="Calibri"/>
              </a:rPr>
              <a:t>“Dissimilar” is our choice. Does picking negatives at random, by keyword overlap, or by model similarity change the result? That is this project.</a:t>
            </a:r>
          </a:p>
        </p:txBody>
      </p:sp>
      <p:sp>
        <p:nvSpPr>
          <p:cNvPr id="11" name="TextBox 10"/>
          <p:cNvSpPr txBox="1"/>
          <p:nvPr/>
        </p:nvSpPr>
        <p:spPr>
          <a:xfrm>
            <a:off x="658368" y="3493008"/>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50" b="1" i="0">
                <a:solidFill>
                  <a:srgbClr val="1F6FB2"/>
                </a:solidFill>
                <a:latin typeface="Calibri"/>
              </a:rPr>
              <a:t>▪  </a:t>
            </a:r>
            <a:r>
              <a:rPr sz="1450" b="1" i="0">
                <a:solidFill>
                  <a:srgbClr val="16202B"/>
                </a:solidFill>
                <a:latin typeface="Calibri"/>
              </a:rPr>
              <a:t>Our test case: </a:t>
            </a:r>
            <a:r>
              <a:rPr sz="1450" b="0" i="0">
                <a:solidFill>
                  <a:srgbClr val="444E59"/>
                </a:solidFill>
                <a:latin typeface="Calibri"/>
              </a:rPr>
              <a:t>Code similarity detection — a domain with strong public benchmarks, so the comparison is rigorous and the numbers are comparable.</a:t>
            </a:r>
          </a:p>
        </p:txBody>
      </p:sp>
      <p:sp>
        <p:nvSpPr>
          <p:cNvPr id="12" name="Rounded Rectangle 11"/>
          <p:cNvSpPr/>
          <p:nvPr/>
        </p:nvSpPr>
        <p:spPr>
          <a:xfrm>
            <a:off x="658368" y="4187952"/>
            <a:ext cx="10874959" cy="1298448"/>
          </a:xfrm>
          <a:prstGeom prst="roundRect">
            <a:avLst>
              <a:gd name="adj" fmla="val 5000"/>
            </a:avLst>
          </a:prstGeom>
          <a:solidFill>
            <a:srgbClr val="F7FAFD"/>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334256"/>
            <a:ext cx="2743200" cy="274320"/>
          </a:xfrm>
          <a:prstGeom prst="rect">
            <a:avLst/>
          </a:prstGeom>
          <a:noFill/>
        </p:spPr>
        <p:txBody>
          <a:bodyPr wrap="square" anchor="t" lIns="0" rIns="0" tIns="0" bIns="0">
            <a:spAutoFit/>
          </a:bodyPr>
          <a:lstStyle/>
          <a:p>
            <a:pPr algn="l">
              <a:lnSpc>
                <a:spcPct val="115000"/>
              </a:lnSpc>
              <a:spcBef>
                <a:spcPts val="0"/>
              </a:spcBef>
              <a:spcAft>
                <a:spcPts val="600"/>
              </a:spcAft>
            </a:pPr>
            <a:r>
              <a:rPr sz="1050" b="1" i="0">
                <a:solidFill>
                  <a:srgbClr val="1F6FB2"/>
                </a:solidFill>
                <a:latin typeface="Calibri"/>
              </a:rPr>
              <a:t>THE MECHANISM IN ONE PICTURE</a:t>
            </a:r>
          </a:p>
        </p:txBody>
      </p:sp>
      <p:sp>
        <p:nvSpPr>
          <p:cNvPr id="14" name="Oval 13"/>
          <p:cNvSpPr/>
          <p:nvPr/>
        </p:nvSpPr>
        <p:spPr>
          <a:xfrm>
            <a:off x="2075688" y="4873752"/>
            <a:ext cx="274320" cy="27432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847088" y="5212080"/>
            <a:ext cx="777240" cy="274320"/>
          </a:xfrm>
          <a:prstGeom prst="rect">
            <a:avLst/>
          </a:prstGeom>
          <a:noFill/>
        </p:spPr>
        <p:txBody>
          <a:bodyPr wrap="square" anchor="t" lIns="0" rIns="0" tIns="0" bIns="0">
            <a:spAutoFit/>
          </a:bodyPr>
          <a:lstStyle/>
          <a:p>
            <a:pPr algn="ctr">
              <a:lnSpc>
                <a:spcPct val="115000"/>
              </a:lnSpc>
              <a:spcBef>
                <a:spcPts val="0"/>
              </a:spcBef>
              <a:spcAft>
                <a:spcPts val="600"/>
              </a:spcAft>
            </a:pPr>
            <a:r>
              <a:rPr sz="1050" b="1" i="0">
                <a:solidFill>
                  <a:srgbClr val="16202B"/>
                </a:solidFill>
                <a:latin typeface="Calibri"/>
              </a:rPr>
              <a:t>anchor</a:t>
            </a:r>
          </a:p>
        </p:txBody>
      </p:sp>
      <p:sp>
        <p:nvSpPr>
          <p:cNvPr id="16" name="Oval 15"/>
          <p:cNvSpPr/>
          <p:nvPr/>
        </p:nvSpPr>
        <p:spPr>
          <a:xfrm>
            <a:off x="3721608" y="4754880"/>
            <a:ext cx="237744" cy="237744"/>
          </a:xfrm>
          <a:prstGeom prst="ellipse">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19856" y="5084064"/>
            <a:ext cx="841248" cy="274320"/>
          </a:xfrm>
          <a:prstGeom prst="rect">
            <a:avLst/>
          </a:prstGeom>
          <a:noFill/>
        </p:spPr>
        <p:txBody>
          <a:bodyPr wrap="square" anchor="t" lIns="0" rIns="0" tIns="0" bIns="0">
            <a:spAutoFit/>
          </a:bodyPr>
          <a:lstStyle/>
          <a:p>
            <a:pPr algn="ctr">
              <a:lnSpc>
                <a:spcPct val="115000"/>
              </a:lnSpc>
              <a:spcBef>
                <a:spcPts val="0"/>
              </a:spcBef>
              <a:spcAft>
                <a:spcPts val="600"/>
              </a:spcAft>
            </a:pPr>
            <a:r>
              <a:rPr sz="1050" b="1" i="0">
                <a:solidFill>
                  <a:srgbClr val="2E8B6F"/>
                </a:solidFill>
                <a:latin typeface="Calibri"/>
              </a:rPr>
              <a:t>positive</a:t>
            </a:r>
          </a:p>
        </p:txBody>
      </p:sp>
      <p:sp>
        <p:nvSpPr>
          <p:cNvPr id="18" name="Rectangle 17"/>
          <p:cNvSpPr/>
          <p:nvPr/>
        </p:nvSpPr>
        <p:spPr>
          <a:xfrm>
            <a:off x="2468880" y="4974336"/>
            <a:ext cx="1207008" cy="64008"/>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670048" y="4736592"/>
            <a:ext cx="914400" cy="228600"/>
          </a:xfrm>
          <a:prstGeom prst="rect">
            <a:avLst/>
          </a:prstGeom>
          <a:noFill/>
        </p:spPr>
        <p:txBody>
          <a:bodyPr wrap="square" anchor="t" lIns="0" rIns="0" tIns="0" bIns="0">
            <a:spAutoFit/>
          </a:bodyPr>
          <a:lstStyle/>
          <a:p>
            <a:pPr algn="ctr">
              <a:lnSpc>
                <a:spcPct val="115000"/>
              </a:lnSpc>
              <a:spcBef>
                <a:spcPts val="0"/>
              </a:spcBef>
              <a:spcAft>
                <a:spcPts val="600"/>
              </a:spcAft>
            </a:pPr>
            <a:r>
              <a:rPr sz="1000" b="0" i="0">
                <a:solidFill>
                  <a:srgbClr val="2E8B6F"/>
                </a:solidFill>
                <a:latin typeface="Calibri"/>
              </a:rPr>
              <a:t>pull together</a:t>
            </a:r>
          </a:p>
        </p:txBody>
      </p:sp>
      <p:sp>
        <p:nvSpPr>
          <p:cNvPr id="20" name="Oval 19"/>
          <p:cNvSpPr/>
          <p:nvPr/>
        </p:nvSpPr>
        <p:spPr>
          <a:xfrm>
            <a:off x="6464807" y="4754880"/>
            <a:ext cx="237744" cy="237744"/>
          </a:xfrm>
          <a:prstGeom prst="ellipse">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63055" y="5084064"/>
            <a:ext cx="841248" cy="274320"/>
          </a:xfrm>
          <a:prstGeom prst="rect">
            <a:avLst/>
          </a:prstGeom>
          <a:noFill/>
        </p:spPr>
        <p:txBody>
          <a:bodyPr wrap="square" anchor="t" lIns="0" rIns="0" tIns="0" bIns="0">
            <a:spAutoFit/>
          </a:bodyPr>
          <a:lstStyle/>
          <a:p>
            <a:pPr algn="ctr">
              <a:lnSpc>
                <a:spcPct val="115000"/>
              </a:lnSpc>
              <a:spcBef>
                <a:spcPts val="0"/>
              </a:spcBef>
              <a:spcAft>
                <a:spcPts val="600"/>
              </a:spcAft>
            </a:pPr>
            <a:r>
              <a:rPr sz="1050" b="1" i="0">
                <a:solidFill>
                  <a:srgbClr val="E8734A"/>
                </a:solidFill>
                <a:latin typeface="Calibri"/>
              </a:rPr>
              <a:t>negative</a:t>
            </a:r>
          </a:p>
        </p:txBody>
      </p:sp>
      <p:sp>
        <p:nvSpPr>
          <p:cNvPr id="22" name="Rectangle 21"/>
          <p:cNvSpPr/>
          <p:nvPr/>
        </p:nvSpPr>
        <p:spPr>
          <a:xfrm>
            <a:off x="2468880" y="5431536"/>
            <a:ext cx="3913632" cy="64008"/>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904487" y="5504688"/>
            <a:ext cx="1280160" cy="228600"/>
          </a:xfrm>
          <a:prstGeom prst="rect">
            <a:avLst/>
          </a:prstGeom>
          <a:noFill/>
        </p:spPr>
        <p:txBody>
          <a:bodyPr wrap="square" anchor="t" lIns="0" rIns="0" tIns="0" bIns="0">
            <a:spAutoFit/>
          </a:bodyPr>
          <a:lstStyle/>
          <a:p>
            <a:pPr algn="ctr">
              <a:lnSpc>
                <a:spcPct val="115000"/>
              </a:lnSpc>
              <a:spcBef>
                <a:spcPts val="0"/>
              </a:spcBef>
              <a:spcAft>
                <a:spcPts val="600"/>
              </a:spcAft>
            </a:pPr>
            <a:r>
              <a:rPr sz="1000" b="0" i="0">
                <a:solidFill>
                  <a:srgbClr val="E8734A"/>
                </a:solidFill>
                <a:latin typeface="Calibri"/>
              </a:rPr>
              <a:t>push apart</a:t>
            </a:r>
          </a:p>
        </p:txBody>
      </p:sp>
      <p:sp>
        <p:nvSpPr>
          <p:cNvPr id="24" name="TextBox 23"/>
          <p:cNvSpPr txBox="1"/>
          <p:nvPr/>
        </p:nvSpPr>
        <p:spPr>
          <a:xfrm>
            <a:off x="7562088" y="4754880"/>
            <a:ext cx="3657600" cy="822960"/>
          </a:xfrm>
          <a:prstGeom prst="rect">
            <a:avLst/>
          </a:prstGeom>
          <a:noFill/>
        </p:spPr>
        <p:txBody>
          <a:bodyPr wrap="square" anchor="t" lIns="0" rIns="0" tIns="0" bIns="0">
            <a:spAutoFit/>
          </a:bodyPr>
          <a:lstStyle/>
          <a:p>
            <a:pPr algn="l">
              <a:lnSpc>
                <a:spcPct val="115000"/>
              </a:lnSpc>
              <a:spcBef>
                <a:spcPts val="0"/>
              </a:spcBef>
              <a:spcAft>
                <a:spcPts val="400"/>
              </a:spcAft>
            </a:pPr>
            <a:r>
              <a:rPr sz="1300" b="1" i="0">
                <a:solidFill>
                  <a:srgbClr val="16202B"/>
                </a:solidFill>
                <a:latin typeface="Calibri"/>
              </a:rPr>
              <a:t>Everything in this project is about the red arrow.</a:t>
            </a:r>
          </a:p>
          <a:p>
            <a:pPr algn="l">
              <a:lnSpc>
                <a:spcPct val="115000"/>
              </a:lnSpc>
              <a:spcBef>
                <a:spcPts val="0"/>
              </a:spcBef>
              <a:spcAft>
                <a:spcPts val="0"/>
              </a:spcAft>
            </a:pPr>
            <a:r>
              <a:rPr sz="1150" b="0" i="0">
                <a:solidFill>
                  <a:srgbClr val="444E59"/>
                </a:solidFill>
                <a:latin typeface="Calibri"/>
              </a:rPr>
              <a:t>There are thousands of possible negatives. We compare three ways of choosing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01  ·  INTRODUCTION</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Importance of the Topic</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Introduction</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5</a:t>
            </a:r>
          </a:p>
        </p:txBody>
      </p:sp>
      <p:sp>
        <p:nvSpPr>
          <p:cNvPr id="7" name="Rounded Rectangle 6"/>
          <p:cNvSpPr/>
          <p:nvPr/>
        </p:nvSpPr>
        <p:spPr>
          <a:xfrm>
            <a:off x="658368" y="1435608"/>
            <a:ext cx="3401568" cy="1755648"/>
          </a:xfrm>
          <a:prstGeom prst="roundRect">
            <a:avLst>
              <a:gd name="adj" fmla="val 6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68096" y="1581912"/>
            <a:ext cx="3182112" cy="658368"/>
          </a:xfrm>
          <a:prstGeom prst="rect">
            <a:avLst/>
          </a:prstGeom>
          <a:noFill/>
        </p:spPr>
        <p:txBody>
          <a:bodyPr wrap="square" anchor="t" lIns="0" rIns="0" tIns="0" bIns="0">
            <a:spAutoFit/>
          </a:bodyPr>
          <a:lstStyle/>
          <a:p>
            <a:pPr algn="ctr">
              <a:lnSpc>
                <a:spcPct val="115000"/>
              </a:lnSpc>
              <a:spcBef>
                <a:spcPts val="0"/>
              </a:spcBef>
              <a:spcAft>
                <a:spcPts val="0"/>
              </a:spcAft>
            </a:pPr>
            <a:r>
              <a:rPr sz="3200" b="1" i="0">
                <a:solidFill>
                  <a:srgbClr val="1F6FB2"/>
                </a:solidFill>
                <a:latin typeface="Calibri"/>
              </a:rPr>
              <a:t>8M+</a:t>
            </a:r>
          </a:p>
        </p:txBody>
      </p:sp>
      <p:sp>
        <p:nvSpPr>
          <p:cNvPr id="9" name="TextBox 8"/>
          <p:cNvSpPr txBox="1"/>
          <p:nvPr/>
        </p:nvSpPr>
        <p:spPr>
          <a:xfrm>
            <a:off x="786384" y="2276856"/>
            <a:ext cx="3145536" cy="841247"/>
          </a:xfrm>
          <a:prstGeom prst="rect">
            <a:avLst/>
          </a:prstGeom>
          <a:noFill/>
        </p:spPr>
        <p:txBody>
          <a:bodyPr wrap="square" anchor="t" lIns="0" rIns="0" tIns="0" bIns="0">
            <a:spAutoFit/>
          </a:bodyPr>
          <a:lstStyle/>
          <a:p>
            <a:pPr algn="ctr">
              <a:lnSpc>
                <a:spcPct val="115000"/>
              </a:lnSpc>
              <a:spcBef>
                <a:spcPts val="0"/>
              </a:spcBef>
              <a:spcAft>
                <a:spcPts val="200"/>
              </a:spcAft>
            </a:pPr>
            <a:r>
              <a:rPr sz="1100" b="0" i="0">
                <a:solidFill>
                  <a:srgbClr val="444E59"/>
                </a:solidFill>
                <a:latin typeface="Calibri"/>
              </a:rPr>
              <a:t>validated code-clone pairs in BigCloneBench,</a:t>
            </a:r>
          </a:p>
          <a:p>
            <a:pPr algn="ctr">
              <a:lnSpc>
                <a:spcPct val="115000"/>
              </a:lnSpc>
              <a:spcBef>
                <a:spcPts val="0"/>
              </a:spcBef>
              <a:spcAft>
                <a:spcPts val="200"/>
              </a:spcAft>
            </a:pPr>
            <a:r>
              <a:rPr sz="1100" b="0" i="0">
                <a:solidFill>
                  <a:srgbClr val="444E59"/>
                </a:solidFill>
                <a:latin typeface="Calibri"/>
              </a:rPr>
              <a:t>drawn from ~25,000 real</a:t>
            </a:r>
          </a:p>
          <a:p>
            <a:pPr algn="ctr">
              <a:lnSpc>
                <a:spcPct val="115000"/>
              </a:lnSpc>
              <a:spcBef>
                <a:spcPts val="0"/>
              </a:spcBef>
              <a:spcAft>
                <a:spcPts val="200"/>
              </a:spcAft>
            </a:pPr>
            <a:r>
              <a:rPr sz="1100" b="0" i="0">
                <a:solidFill>
                  <a:srgbClr val="444E59"/>
                </a:solidFill>
                <a:latin typeface="Calibri"/>
              </a:rPr>
              <a:t>open-source Java projects</a:t>
            </a:r>
          </a:p>
        </p:txBody>
      </p:sp>
      <p:sp>
        <p:nvSpPr>
          <p:cNvPr id="10" name="Rounded Rectangle 9"/>
          <p:cNvSpPr/>
          <p:nvPr/>
        </p:nvSpPr>
        <p:spPr>
          <a:xfrm>
            <a:off x="4261104" y="1435608"/>
            <a:ext cx="3401568" cy="1755648"/>
          </a:xfrm>
          <a:prstGeom prst="roundRect">
            <a:avLst>
              <a:gd name="adj" fmla="val 6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70832" y="1581912"/>
            <a:ext cx="3182112" cy="658368"/>
          </a:xfrm>
          <a:prstGeom prst="rect">
            <a:avLst/>
          </a:prstGeom>
          <a:noFill/>
        </p:spPr>
        <p:txBody>
          <a:bodyPr wrap="square" anchor="t" lIns="0" rIns="0" tIns="0" bIns="0">
            <a:spAutoFit/>
          </a:bodyPr>
          <a:lstStyle/>
          <a:p>
            <a:pPr algn="ctr">
              <a:lnSpc>
                <a:spcPct val="115000"/>
              </a:lnSpc>
              <a:spcBef>
                <a:spcPts val="0"/>
              </a:spcBef>
              <a:spcAft>
                <a:spcPts val="0"/>
              </a:spcAft>
            </a:pPr>
            <a:r>
              <a:rPr sz="3200" b="1" i="0">
                <a:solidFill>
                  <a:srgbClr val="E8734A"/>
                </a:solidFill>
                <a:latin typeface="Calibri"/>
              </a:rPr>
              <a:t>43</a:t>
            </a:r>
          </a:p>
        </p:txBody>
      </p:sp>
      <p:sp>
        <p:nvSpPr>
          <p:cNvPr id="12" name="TextBox 11"/>
          <p:cNvSpPr txBox="1"/>
          <p:nvPr/>
        </p:nvSpPr>
        <p:spPr>
          <a:xfrm>
            <a:off x="4389120" y="2276856"/>
            <a:ext cx="3145536" cy="841247"/>
          </a:xfrm>
          <a:prstGeom prst="rect">
            <a:avLst/>
          </a:prstGeom>
          <a:noFill/>
        </p:spPr>
        <p:txBody>
          <a:bodyPr wrap="square" anchor="t" lIns="0" rIns="0" tIns="0" bIns="0">
            <a:spAutoFit/>
          </a:bodyPr>
          <a:lstStyle/>
          <a:p>
            <a:pPr algn="ctr">
              <a:lnSpc>
                <a:spcPct val="115000"/>
              </a:lnSpc>
              <a:spcBef>
                <a:spcPts val="0"/>
              </a:spcBef>
              <a:spcAft>
                <a:spcPts val="200"/>
              </a:spcAft>
            </a:pPr>
            <a:r>
              <a:rPr sz="1100" b="0" i="0">
                <a:solidFill>
                  <a:srgbClr val="444E59"/>
                </a:solidFill>
                <a:latin typeface="Calibri"/>
              </a:rPr>
              <a:t>distinct functionalities in the benchmark —</a:t>
            </a:r>
          </a:p>
          <a:p>
            <a:pPr algn="ctr">
              <a:lnSpc>
                <a:spcPct val="115000"/>
              </a:lnSpc>
              <a:spcBef>
                <a:spcPts val="0"/>
              </a:spcBef>
              <a:spcAft>
                <a:spcPts val="200"/>
              </a:spcAft>
            </a:pPr>
            <a:r>
              <a:rPr sz="1100" b="0" i="0">
                <a:solidFill>
                  <a:srgbClr val="444E59"/>
                </a:solidFill>
                <a:latin typeface="Calibri"/>
              </a:rPr>
              <a:t>and most clone pairs belong to</a:t>
            </a:r>
          </a:p>
          <a:p>
            <a:pPr algn="ctr">
              <a:lnSpc>
                <a:spcPct val="115000"/>
              </a:lnSpc>
              <a:spcBef>
                <a:spcPts val="0"/>
              </a:spcBef>
              <a:spcAft>
                <a:spcPts val="200"/>
              </a:spcAft>
            </a:pPr>
            <a:r>
              <a:rPr sz="1100" b="0" i="0">
                <a:solidFill>
                  <a:srgbClr val="444E59"/>
                </a:solidFill>
                <a:latin typeface="Calibri"/>
              </a:rPr>
              <a:t>only a handful of them</a:t>
            </a:r>
          </a:p>
        </p:txBody>
      </p:sp>
      <p:sp>
        <p:nvSpPr>
          <p:cNvPr id="13" name="Rounded Rectangle 12"/>
          <p:cNvSpPr/>
          <p:nvPr/>
        </p:nvSpPr>
        <p:spPr>
          <a:xfrm>
            <a:off x="7863840" y="1435608"/>
            <a:ext cx="3401568" cy="1755648"/>
          </a:xfrm>
          <a:prstGeom prst="roundRect">
            <a:avLst>
              <a:gd name="adj" fmla="val 6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73567" y="1581912"/>
            <a:ext cx="3182112" cy="658368"/>
          </a:xfrm>
          <a:prstGeom prst="rect">
            <a:avLst/>
          </a:prstGeom>
          <a:noFill/>
        </p:spPr>
        <p:txBody>
          <a:bodyPr wrap="square" anchor="t" lIns="0" rIns="0" tIns="0" bIns="0">
            <a:spAutoFit/>
          </a:bodyPr>
          <a:lstStyle/>
          <a:p>
            <a:pPr algn="ctr">
              <a:lnSpc>
                <a:spcPct val="115000"/>
              </a:lnSpc>
              <a:spcBef>
                <a:spcPts val="0"/>
              </a:spcBef>
              <a:spcAft>
                <a:spcPts val="0"/>
              </a:spcAft>
            </a:pPr>
            <a:r>
              <a:rPr sz="3200" b="1" i="0">
                <a:solidFill>
                  <a:srgbClr val="2E8B6F"/>
                </a:solidFill>
                <a:latin typeface="Calibri"/>
              </a:rPr>
              <a:t>3</a:t>
            </a:r>
          </a:p>
        </p:txBody>
      </p:sp>
      <p:sp>
        <p:nvSpPr>
          <p:cNvPr id="15" name="TextBox 14"/>
          <p:cNvSpPr txBox="1"/>
          <p:nvPr/>
        </p:nvSpPr>
        <p:spPr>
          <a:xfrm>
            <a:off x="7991856" y="2276856"/>
            <a:ext cx="3145536" cy="841247"/>
          </a:xfrm>
          <a:prstGeom prst="rect">
            <a:avLst/>
          </a:prstGeom>
          <a:noFill/>
        </p:spPr>
        <p:txBody>
          <a:bodyPr wrap="square" anchor="t" lIns="0" rIns="0" tIns="0" bIns="0">
            <a:spAutoFit/>
          </a:bodyPr>
          <a:lstStyle/>
          <a:p>
            <a:pPr algn="ctr">
              <a:lnSpc>
                <a:spcPct val="115000"/>
              </a:lnSpc>
              <a:spcBef>
                <a:spcPts val="0"/>
              </a:spcBef>
              <a:spcAft>
                <a:spcPts val="200"/>
              </a:spcAft>
            </a:pPr>
            <a:r>
              <a:rPr sz="1100" b="0" i="0">
                <a:solidFill>
                  <a:srgbClr val="444E59"/>
                </a:solidFill>
                <a:latin typeface="Calibri"/>
              </a:rPr>
              <a:t>ways to choose a negative, all three used</a:t>
            </a:r>
          </a:p>
          <a:p>
            <a:pPr algn="ctr">
              <a:lnSpc>
                <a:spcPct val="115000"/>
              </a:lnSpc>
              <a:spcBef>
                <a:spcPts val="0"/>
              </a:spcBef>
              <a:spcAft>
                <a:spcPts val="200"/>
              </a:spcAft>
            </a:pPr>
            <a:r>
              <a:rPr sz="1100" b="0" i="0">
                <a:solidFill>
                  <a:srgbClr val="444E59"/>
                </a:solidFill>
                <a:latin typeface="Calibri"/>
              </a:rPr>
              <a:t>in practice, and almost never</a:t>
            </a:r>
          </a:p>
          <a:p>
            <a:pPr algn="ctr">
              <a:lnSpc>
                <a:spcPct val="115000"/>
              </a:lnSpc>
              <a:spcBef>
                <a:spcPts val="0"/>
              </a:spcBef>
              <a:spcAft>
                <a:spcPts val="200"/>
              </a:spcAft>
            </a:pPr>
            <a:r>
              <a:rPr sz="1100" b="0" i="0">
                <a:solidFill>
                  <a:srgbClr val="444E59"/>
                </a:solidFill>
                <a:latin typeface="Calibri"/>
              </a:rPr>
              <a:t>compared against each other</a:t>
            </a:r>
          </a:p>
        </p:txBody>
      </p:sp>
      <p:sp>
        <p:nvSpPr>
          <p:cNvPr id="16" name="TextBox 15"/>
          <p:cNvSpPr txBox="1"/>
          <p:nvPr/>
        </p:nvSpPr>
        <p:spPr>
          <a:xfrm>
            <a:off x="658368" y="3401568"/>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It is not only about code: </a:t>
            </a:r>
            <a:r>
              <a:rPr sz="1350" b="0" i="0">
                <a:solidFill>
                  <a:srgbClr val="444E59"/>
                </a:solidFill>
                <a:latin typeface="Calibri"/>
              </a:rPr>
              <a:t>Domain-specific similarity is needed for legal clause matching, duplicate bug reports, medical record matching — anywhere a generic, off-the-shelf embedding is a compromise.</a:t>
            </a:r>
          </a:p>
        </p:txBody>
      </p:sp>
      <p:sp>
        <p:nvSpPr>
          <p:cNvPr id="17" name="TextBox 16"/>
          <p:cNvSpPr txBox="1"/>
          <p:nvPr/>
        </p:nvSpPr>
        <p:spPr>
          <a:xfrm>
            <a:off x="658368" y="3895344"/>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The lever is known, but under-studied here: </a:t>
            </a:r>
            <a:r>
              <a:rPr sz="1350" b="0" i="0">
                <a:solidFill>
                  <a:srgbClr val="444E59"/>
                </a:solidFill>
                <a:latin typeface="Calibri"/>
              </a:rPr>
              <a:t>Negative-sampling strategy is a recognised lever in contrastive learning generally. Its specific effect for domain adaptation is rarely compared systematically.</a:t>
            </a:r>
          </a:p>
        </p:txBody>
      </p:sp>
      <p:sp>
        <p:nvSpPr>
          <p:cNvPr id="18" name="TextBox 17"/>
          <p:cNvSpPr txBox="1"/>
          <p:nvPr/>
        </p:nvSpPr>
        <p:spPr>
          <a:xfrm>
            <a:off x="658368" y="4389120"/>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Why now: </a:t>
            </a:r>
            <a:r>
              <a:rPr sz="1350" b="0" i="0">
                <a:solidFill>
                  <a:srgbClr val="444E59"/>
                </a:solidFill>
                <a:latin typeface="Calibri"/>
              </a:rPr>
              <a:t>AI-assisted generation makes superficially different but functionally equivalent content cheap to produce — so capturing true semantic similarity matters more, not less.</a:t>
            </a:r>
          </a:p>
        </p:txBody>
      </p:sp>
      <p:sp>
        <p:nvSpPr>
          <p:cNvPr id="19" name="Rounded Rectangle 18"/>
          <p:cNvSpPr/>
          <p:nvPr/>
        </p:nvSpPr>
        <p:spPr>
          <a:xfrm>
            <a:off x="658368" y="4974336"/>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58368" y="4974336"/>
            <a:ext cx="54864" cy="1119560"/>
          </a:xfrm>
          <a:prstGeom prst="rect">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77824" y="5111496"/>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Justification</a:t>
            </a:r>
          </a:p>
          <a:p>
            <a:pPr algn="l">
              <a:lnSpc>
                <a:spcPct val="117000"/>
              </a:lnSpc>
              <a:spcBef>
                <a:spcPts val="0"/>
              </a:spcBef>
              <a:spcAft>
                <a:spcPts val="300"/>
              </a:spcAft>
            </a:pPr>
            <a:r>
              <a:rPr sz="1250" b="0" i="0">
                <a:solidFill>
                  <a:srgbClr val="444E59"/>
                </a:solidFill>
                <a:latin typeface="Calibri"/>
              </a:rPr>
              <a:t>Better embeddings for specialised domains are not a marginal convenience: similarity search is the retrieval layer that downstream tools are built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2084831"/>
            <a:ext cx="2926080" cy="1371600"/>
          </a:xfrm>
          <a:prstGeom prst="rect">
            <a:avLst/>
          </a:prstGeom>
          <a:noFill/>
        </p:spPr>
        <p:txBody>
          <a:bodyPr wrap="square" anchor="t" lIns="0" rIns="0" tIns="0" bIns="0">
            <a:spAutoFit/>
          </a:bodyPr>
          <a:lstStyle/>
          <a:p>
            <a:pPr algn="l">
              <a:lnSpc>
                <a:spcPct val="115000"/>
              </a:lnSpc>
              <a:spcBef>
                <a:spcPts val="0"/>
              </a:spcBef>
              <a:spcAft>
                <a:spcPts val="0"/>
              </a:spcAft>
            </a:pPr>
            <a:r>
              <a:rPr sz="7400" b="1" i="0">
                <a:solidFill>
                  <a:srgbClr val="E8734A"/>
                </a:solidFill>
                <a:latin typeface="Calibri"/>
              </a:rPr>
              <a:t>02</a:t>
            </a:r>
          </a:p>
        </p:txBody>
      </p:sp>
      <p:sp>
        <p:nvSpPr>
          <p:cNvPr id="5" name="TextBox 4"/>
          <p:cNvSpPr txBox="1"/>
          <p:nvPr/>
        </p:nvSpPr>
        <p:spPr>
          <a:xfrm>
            <a:off x="960120" y="3310128"/>
            <a:ext cx="9692640" cy="777240"/>
          </a:xfrm>
          <a:prstGeom prst="rect">
            <a:avLst/>
          </a:prstGeom>
          <a:noFill/>
        </p:spPr>
        <p:txBody>
          <a:bodyPr wrap="square" anchor="t" lIns="0" rIns="0" tIns="0" bIns="0">
            <a:spAutoFit/>
          </a:bodyPr>
          <a:lstStyle/>
          <a:p>
            <a:pPr algn="l">
              <a:lnSpc>
                <a:spcPct val="115000"/>
              </a:lnSpc>
              <a:spcBef>
                <a:spcPts val="0"/>
              </a:spcBef>
              <a:spcAft>
                <a:spcPts val="0"/>
              </a:spcAft>
            </a:pPr>
            <a:r>
              <a:rPr sz="3800" b="1" i="0">
                <a:solidFill>
                  <a:srgbClr val="FFFFFF"/>
                </a:solidFill>
                <a:latin typeface="Calibri"/>
              </a:rPr>
              <a:t>Literature Review</a:t>
            </a:r>
          </a:p>
        </p:txBody>
      </p:sp>
      <p:sp>
        <p:nvSpPr>
          <p:cNvPr id="6" name="TextBox 5"/>
          <p:cNvSpPr txBox="1"/>
          <p:nvPr/>
        </p:nvSpPr>
        <p:spPr>
          <a:xfrm>
            <a:off x="960120" y="4224528"/>
            <a:ext cx="9509760" cy="82296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B9C6D4"/>
                </a:solidFill>
                <a:latin typeface="Calibri"/>
              </a:rPr>
              <a:t>Five studies, the trends they establish, and the gap they leave open.</a:t>
            </a:r>
          </a:p>
        </p:txBody>
      </p:sp>
      <p:sp>
        <p:nvSpPr>
          <p:cNvPr id="7" name="Rectangle 6"/>
          <p:cNvSpPr/>
          <p:nvPr/>
        </p:nvSpPr>
        <p:spPr>
          <a:xfrm>
            <a:off x="960120" y="4041648"/>
            <a:ext cx="1371600" cy="50292"/>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02  ·  LITERATURE REVIEW</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Key Studies and Findings</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1298448"/>
            <a:ext cx="10874959" cy="274320"/>
          </a:xfrm>
          <a:prstGeom prst="rect">
            <a:avLst/>
          </a:prstGeom>
          <a:noFill/>
        </p:spPr>
        <p:txBody>
          <a:bodyPr wrap="square" anchor="t" lIns="0" rIns="0" tIns="0" bIns="0">
            <a:spAutoFit/>
          </a:bodyPr>
          <a:lstStyle/>
          <a:p>
            <a:pPr algn="l">
              <a:lnSpc>
                <a:spcPct val="115000"/>
              </a:lnSpc>
              <a:spcBef>
                <a:spcPts val="0"/>
              </a:spcBef>
              <a:spcAft>
                <a:spcPts val="600"/>
              </a:spcAft>
            </a:pPr>
            <a:r>
              <a:rPr sz="1250" b="0" i="0">
                <a:solidFill>
                  <a:srgbClr val="87919D"/>
                </a:solidFill>
                <a:latin typeface="Calibri"/>
              </a:rPr>
              <a:t>Five significant studies that frame the project.</a:t>
            </a:r>
          </a:p>
        </p:txBody>
      </p:sp>
      <p:sp>
        <p:nvSpPr>
          <p:cNvPr id="6" name="TextBox 5"/>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Literature Review</a:t>
            </a:r>
          </a:p>
        </p:txBody>
      </p:sp>
      <p:sp>
        <p:nvSpPr>
          <p:cNvPr id="7" name="TextBox 6"/>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7</a:t>
            </a:r>
          </a:p>
        </p:txBody>
      </p:sp>
      <p:graphicFrame>
        <p:nvGraphicFramePr>
          <p:cNvPr id="8" name="Table 7"/>
          <p:cNvGraphicFramePr>
            <a:graphicFrameLocks noGrp="1"/>
          </p:cNvGraphicFramePr>
          <p:nvPr/>
        </p:nvGraphicFramePr>
        <p:xfrm>
          <a:off x="658368" y="1499616"/>
          <a:ext cx="10874958" cy="3401568"/>
        </p:xfrm>
        <a:graphic>
          <a:graphicData uri="http://schemas.openxmlformats.org/drawingml/2006/table">
            <a:tbl>
              <a:tblPr firstRow="1">
                <a:tableStyleId>{5C22544A-7EE6-4342-B048-85BDC9FD1C3A}</a:tableStyleId>
              </a:tblPr>
              <a:tblGrid>
                <a:gridCol w="4414587"/>
                <a:gridCol w="6460371"/>
              </a:tblGrid>
              <a:tr h="384048">
                <a:tc>
                  <a:txBody>
                    <a:bodyPr wrap="square"/>
                    <a:lstStyle/>
                    <a:p>
                      <a:pPr algn="l">
                        <a:lnSpc>
                          <a:spcPct val="112000"/>
                        </a:lnSpc>
                        <a:spcBef>
                          <a:spcPts val="0"/>
                        </a:spcBef>
                        <a:spcAft>
                          <a:spcPts val="0"/>
                        </a:spcAft>
                      </a:pPr>
                      <a:r>
                        <a:rPr sz="1200" b="1" i="0">
                          <a:solidFill>
                            <a:srgbClr val="FFFFFF"/>
                          </a:solidFill>
                          <a:latin typeface="Calibri"/>
                        </a:rPr>
                        <a:t>Study</a:t>
                      </a:r>
                    </a:p>
                  </a:txBody>
                  <a:tcPr marL="100584" marR="100584" marT="45720" marB="45720" anchor="ctr">
                    <a:solidFill>
                      <a:srgbClr val="12263A"/>
                    </a:solidFill>
                  </a:tcPr>
                </a:tc>
                <a:tc>
                  <a:txBody>
                    <a:bodyPr wrap="square"/>
                    <a:lstStyle/>
                    <a:p>
                      <a:pPr algn="l">
                        <a:lnSpc>
                          <a:spcPct val="112000"/>
                        </a:lnSpc>
                        <a:spcBef>
                          <a:spcPts val="0"/>
                        </a:spcBef>
                        <a:spcAft>
                          <a:spcPts val="0"/>
                        </a:spcAft>
                      </a:pPr>
                      <a:r>
                        <a:rPr sz="1200" b="1" i="0">
                          <a:solidFill>
                            <a:srgbClr val="FFFFFF"/>
                          </a:solidFill>
                          <a:latin typeface="Calibri"/>
                        </a:rPr>
                        <a:t>Contribution</a:t>
                      </a:r>
                    </a:p>
                  </a:txBody>
                  <a:tcPr marL="100584" marR="100584" marT="45720" marB="45720" anchor="ctr">
                    <a:solidFill>
                      <a:srgbClr val="12263A"/>
                    </a:solidFill>
                  </a:tcPr>
                </a:tc>
              </a:tr>
              <a:tr h="603504">
                <a:tc>
                  <a:txBody>
                    <a:bodyPr wrap="square"/>
                    <a:lstStyle/>
                    <a:p>
                      <a:pPr algn="l">
                        <a:lnSpc>
                          <a:spcPct val="112000"/>
                        </a:lnSpc>
                        <a:spcBef>
                          <a:spcPts val="0"/>
                        </a:spcBef>
                        <a:spcAft>
                          <a:spcPts val="0"/>
                        </a:spcAft>
                      </a:pPr>
                      <a:r>
                        <a:rPr sz="1200" b="1" i="0">
                          <a:solidFill>
                            <a:srgbClr val="16202B"/>
                          </a:solidFill>
                          <a:latin typeface="Calibri"/>
                        </a:rPr>
                        <a:t>Guo et al. — GraphCodeBERT (ICLR 2021)</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Introduced structural, data-flow-aware pretraining for code, improving on purely token-based models.</a:t>
                      </a:r>
                    </a:p>
                  </a:txBody>
                  <a:tcPr marL="100584" marR="100584" marT="45720" marB="45720" anchor="ctr">
                    <a:solidFill>
                      <a:srgbClr val="FFFFFF"/>
                    </a:solidFill>
                  </a:tcPr>
                </a:tc>
              </a:tr>
              <a:tr h="603504">
                <a:tc>
                  <a:txBody>
                    <a:bodyPr wrap="square"/>
                    <a:lstStyle/>
                    <a:p>
                      <a:pPr algn="l">
                        <a:lnSpc>
                          <a:spcPct val="112000"/>
                        </a:lnSpc>
                        <a:spcBef>
                          <a:spcPts val="0"/>
                        </a:spcBef>
                        <a:spcAft>
                          <a:spcPts val="0"/>
                        </a:spcAft>
                      </a:pPr>
                      <a:r>
                        <a:rPr sz="1200" b="1" i="0">
                          <a:solidFill>
                            <a:srgbClr val="16202B"/>
                          </a:solidFill>
                          <a:latin typeface="Calibri"/>
                        </a:rPr>
                        <a:t>Jain et al. — Contrastive Code Representation Learning (EMNLP 2021)</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Applied contrastive learning directly to source code representation, demonstrating its viability for this modality.</a:t>
                      </a:r>
                    </a:p>
                  </a:txBody>
                  <a:tcPr marL="100584" marR="100584" marT="45720" marB="45720" anchor="ctr">
                    <a:solidFill>
                      <a:srgbClr val="FAFBFD"/>
                    </a:solidFill>
                  </a:tcPr>
                </a:tc>
              </a:tr>
              <a:tr h="603504">
                <a:tc>
                  <a:txBody>
                    <a:bodyPr wrap="square"/>
                    <a:lstStyle/>
                    <a:p>
                      <a:pPr algn="l">
                        <a:lnSpc>
                          <a:spcPct val="112000"/>
                        </a:lnSpc>
                        <a:spcBef>
                          <a:spcPts val="0"/>
                        </a:spcBef>
                        <a:spcAft>
                          <a:spcPts val="0"/>
                        </a:spcAft>
                      </a:pPr>
                      <a:r>
                        <a:rPr sz="1200" b="1" i="0">
                          <a:solidFill>
                            <a:srgbClr val="16202B"/>
                          </a:solidFill>
                          <a:latin typeface="Calibri"/>
                        </a:rPr>
                        <a:t>Sonnekalb et al. — Generalizability of Code Clone Detection on CodeBERT (ASE 2022)</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Found that a ~96.5% F1 score on standard benchmarks drops significantly when evaluated on unseen functionalities.</a:t>
                      </a:r>
                    </a:p>
                  </a:txBody>
                  <a:tcPr marL="100584" marR="100584" marT="45720" marB="45720" anchor="ctr">
                    <a:solidFill>
                      <a:srgbClr val="FFFFFF"/>
                    </a:solidFill>
                  </a:tcPr>
                </a:tc>
              </a:tr>
              <a:tr h="603504">
                <a:tc>
                  <a:txBody>
                    <a:bodyPr wrap="square"/>
                    <a:lstStyle/>
                    <a:p>
                      <a:pPr algn="l">
                        <a:lnSpc>
                          <a:spcPct val="112000"/>
                        </a:lnSpc>
                        <a:spcBef>
                          <a:spcPts val="0"/>
                        </a:spcBef>
                        <a:spcAft>
                          <a:spcPts val="0"/>
                        </a:spcAft>
                      </a:pPr>
                      <a:r>
                        <a:rPr sz="1200" b="1" i="0">
                          <a:solidFill>
                            <a:srgbClr val="16202B"/>
                          </a:solidFill>
                          <a:latin typeface="Calibri"/>
                        </a:rPr>
                        <a:t>Liu et al. — ContraBERT (ICSE 2023)</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Showed contrastive learning improves robustness of code pretrained models beyond standard fine-tuning.</a:t>
                      </a:r>
                    </a:p>
                  </a:txBody>
                  <a:tcPr marL="100584" marR="100584" marT="45720" marB="45720" anchor="ctr">
                    <a:solidFill>
                      <a:srgbClr val="FAFBFD"/>
                    </a:solidFill>
                  </a:tcPr>
                </a:tc>
              </a:tr>
              <a:tr h="603504">
                <a:tc>
                  <a:txBody>
                    <a:bodyPr wrap="square"/>
                    <a:lstStyle/>
                    <a:p>
                      <a:pPr algn="l">
                        <a:lnSpc>
                          <a:spcPct val="112000"/>
                        </a:lnSpc>
                        <a:spcBef>
                          <a:spcPts val="0"/>
                        </a:spcBef>
                        <a:spcAft>
                          <a:spcPts val="0"/>
                        </a:spcAft>
                      </a:pPr>
                      <a:r>
                        <a:rPr sz="1200" b="1" i="0">
                          <a:solidFill>
                            <a:srgbClr val="16202B"/>
                          </a:solidFill>
                          <a:latin typeface="Calibri"/>
                        </a:rPr>
                        <a:t>Khajezade, Fard &amp; Shehata (Empirical Software Engineering 2024)</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Directly evaluated contrastive learning under limited-data and unseen-problem conditions for clone detection.</a:t>
                      </a:r>
                    </a:p>
                  </a:txBody>
                  <a:tcPr marL="100584" marR="100584" marT="45720" marB="45720" anchor="ctr">
                    <a:solidFill>
                      <a:srgbClr val="FFFFFF"/>
                    </a:solidFill>
                  </a:tcPr>
                </a:tc>
              </a:tr>
            </a:tbl>
          </a:graphicData>
        </a:graphic>
      </p:graphicFrame>
      <p:sp>
        <p:nvSpPr>
          <p:cNvPr id="9" name="Rounded Rectangle 8"/>
          <p:cNvSpPr/>
          <p:nvPr/>
        </p:nvSpPr>
        <p:spPr>
          <a:xfrm>
            <a:off x="658368" y="5029200"/>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8368" y="5029200"/>
            <a:ext cx="54864" cy="111956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5166360"/>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The thread that connects them</a:t>
            </a:r>
          </a:p>
          <a:p>
            <a:pPr algn="l">
              <a:lnSpc>
                <a:spcPct val="117000"/>
              </a:lnSpc>
              <a:spcBef>
                <a:spcPts val="0"/>
              </a:spcBef>
              <a:spcAft>
                <a:spcPts val="300"/>
              </a:spcAft>
            </a:pPr>
            <a:r>
              <a:rPr sz="1250" b="0" i="0">
                <a:solidFill>
                  <a:srgbClr val="444E59"/>
                </a:solidFill>
                <a:latin typeface="Calibri"/>
              </a:rPr>
              <a:t>Each study establishes that contrastive learning helps code models, or that benchmark scores overstate generalisation. None of them isolates how the negative examples were chosen.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02  ·  LITERATURE REVIEW</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Trends in Literature</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Literature Review</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8</a:t>
            </a:r>
          </a:p>
        </p:txBody>
      </p:sp>
      <p:sp>
        <p:nvSpPr>
          <p:cNvPr id="7" name="TextBox 6"/>
          <p:cNvSpPr txBox="1"/>
          <p:nvPr/>
        </p:nvSpPr>
        <p:spPr>
          <a:xfrm>
            <a:off x="658368" y="1481328"/>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00" b="1" i="0">
                <a:solidFill>
                  <a:srgbClr val="1F6FB2"/>
                </a:solidFill>
                <a:latin typeface="Calibri"/>
              </a:rPr>
              <a:t>▪  </a:t>
            </a:r>
            <a:r>
              <a:rPr sz="1400" b="1" i="0">
                <a:solidFill>
                  <a:srgbClr val="16202B"/>
                </a:solidFill>
                <a:latin typeface="Calibri"/>
              </a:rPr>
              <a:t>Trend 1 — </a:t>
            </a:r>
            <a:r>
              <a:rPr sz="1400" b="0" i="0">
                <a:solidFill>
                  <a:srgbClr val="444E59"/>
                </a:solidFill>
                <a:latin typeface="Calibri"/>
              </a:rPr>
              <a:t>A shift from generic-purpose embeddings toward domain-adapted representations trained with contrastive objectives (Jain et al., 2021; Liu et al., 2023).</a:t>
            </a:r>
          </a:p>
        </p:txBody>
      </p:sp>
      <p:sp>
        <p:nvSpPr>
          <p:cNvPr id="8" name="TextBox 7"/>
          <p:cNvSpPr txBox="1"/>
          <p:nvPr/>
        </p:nvSpPr>
        <p:spPr>
          <a:xfrm>
            <a:off x="658368" y="2048256"/>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00" b="1" i="0">
                <a:solidFill>
                  <a:srgbClr val="1F6FB2"/>
                </a:solidFill>
                <a:latin typeface="Calibri"/>
              </a:rPr>
              <a:t>▪  </a:t>
            </a:r>
            <a:r>
              <a:rPr sz="1400" b="1" i="0">
                <a:solidFill>
                  <a:srgbClr val="16202B"/>
                </a:solidFill>
                <a:latin typeface="Calibri"/>
              </a:rPr>
              <a:t>Trend 2 — </a:t>
            </a:r>
            <a:r>
              <a:rPr sz="1400" b="0" i="0">
                <a:solidFill>
                  <a:srgbClr val="444E59"/>
                </a:solidFill>
                <a:latin typeface="Calibri"/>
              </a:rPr>
              <a:t>Increasing scrutiny of generalisability claims: several 2022–2024 studies question whether strong benchmark scores reflect genuine understanding or benchmark-specific exposure.</a:t>
            </a:r>
          </a:p>
        </p:txBody>
      </p:sp>
      <p:sp>
        <p:nvSpPr>
          <p:cNvPr id="9" name="TextBox 8"/>
          <p:cNvSpPr txBox="1"/>
          <p:nvPr/>
        </p:nvSpPr>
        <p:spPr>
          <a:xfrm>
            <a:off x="658368" y="2615184"/>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00" b="1" i="0">
                <a:solidFill>
                  <a:srgbClr val="1F6FB2"/>
                </a:solidFill>
                <a:latin typeface="Calibri"/>
              </a:rPr>
              <a:t>▪  </a:t>
            </a:r>
            <a:r>
              <a:rPr sz="1400" b="1" i="0">
                <a:solidFill>
                  <a:srgbClr val="16202B"/>
                </a:solidFill>
                <a:latin typeface="Calibri"/>
              </a:rPr>
              <a:t>Trend 3 — </a:t>
            </a:r>
            <a:r>
              <a:rPr sz="1400" b="0" i="0">
                <a:solidFill>
                  <a:srgbClr val="444E59"/>
                </a:solidFill>
                <a:latin typeface="Calibri"/>
              </a:rPr>
              <a:t>Contrastive learning is increasingly favoured over classification-based fine-tuning, because it produces reusable, general-purpose embeddings rather than a task-specific head.</a:t>
            </a:r>
          </a:p>
        </p:txBody>
      </p:sp>
      <p:sp>
        <p:nvSpPr>
          <p:cNvPr id="10" name="TextBox 9"/>
          <p:cNvSpPr txBox="1"/>
          <p:nvPr/>
        </p:nvSpPr>
        <p:spPr>
          <a:xfrm>
            <a:off x="658368" y="3182112"/>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00" b="1" i="0">
                <a:solidFill>
                  <a:srgbClr val="1F6FB2"/>
                </a:solidFill>
                <a:latin typeface="Calibri"/>
              </a:rPr>
              <a:t>▪  </a:t>
            </a:r>
            <a:r>
              <a:rPr sz="1400" b="1" i="0">
                <a:solidFill>
                  <a:srgbClr val="16202B"/>
                </a:solidFill>
                <a:latin typeface="Calibri"/>
              </a:rPr>
              <a:t>Trend 4 — </a:t>
            </a:r>
            <a:r>
              <a:rPr sz="1400" b="0" i="0">
                <a:solidFill>
                  <a:srgbClr val="444E59"/>
                </a:solidFill>
                <a:latin typeface="Calibri"/>
              </a:rPr>
              <a:t>Evaluation is moving beyond a single held-out split toward held-out categories, functionalities and domains.</a:t>
            </a:r>
          </a:p>
        </p:txBody>
      </p:sp>
      <p:sp>
        <p:nvSpPr>
          <p:cNvPr id="11" name="Rounded Rectangle 10"/>
          <p:cNvSpPr/>
          <p:nvPr/>
        </p:nvSpPr>
        <p:spPr>
          <a:xfrm>
            <a:off x="658368" y="3877056"/>
            <a:ext cx="10874959" cy="1225296"/>
          </a:xfrm>
          <a:prstGeom prst="roundRect">
            <a:avLst>
              <a:gd name="adj" fmla="val 5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3877056"/>
            <a:ext cx="54864" cy="1225296"/>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4041648"/>
            <a:ext cx="10372039" cy="914400"/>
          </a:xfrm>
          <a:prstGeom prst="rect">
            <a:avLst/>
          </a:prstGeom>
          <a:noFill/>
        </p:spPr>
        <p:txBody>
          <a:bodyPr wrap="square" anchor="t" lIns="0" rIns="0" tIns="0" bIns="0">
            <a:spAutoFit/>
          </a:bodyPr>
          <a:lstStyle/>
          <a:p>
            <a:pPr algn="l">
              <a:lnSpc>
                <a:spcPct val="115000"/>
              </a:lnSpc>
              <a:spcBef>
                <a:spcPts val="0"/>
              </a:spcBef>
              <a:spcAft>
                <a:spcPts val="500"/>
              </a:spcAft>
            </a:pPr>
            <a:r>
              <a:rPr sz="1450" b="1" i="0">
                <a:solidFill>
                  <a:srgbClr val="16202B"/>
                </a:solidFill>
                <a:latin typeface="Calibri"/>
              </a:rPr>
              <a:t>The gap observed across this literature</a:t>
            </a:r>
          </a:p>
          <a:p>
            <a:pPr algn="l">
              <a:lnSpc>
                <a:spcPct val="122000"/>
              </a:lnSpc>
              <a:spcBef>
                <a:spcPts val="0"/>
              </a:spcBef>
              <a:spcAft>
                <a:spcPts val="0"/>
              </a:spcAft>
            </a:pPr>
            <a:r>
              <a:rPr sz="1300" b="0" i="0">
                <a:solidFill>
                  <a:srgbClr val="444E59"/>
                </a:solidFill>
                <a:latin typeface="Calibri"/>
              </a:rPr>
              <a:t>Negative-sampling strategy is acknowledged as influential in contrastive learning generally, but is rarely isolated and compared as an explicit experimental variable — especially for code.</a:t>
            </a:r>
          </a:p>
        </p:txBody>
      </p:sp>
      <p:sp>
        <p:nvSpPr>
          <p:cNvPr id="14" name="Rounded Rectangle 13"/>
          <p:cNvSpPr/>
          <p:nvPr/>
        </p:nvSpPr>
        <p:spPr>
          <a:xfrm>
            <a:off x="658368" y="5303520"/>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58368" y="5303520"/>
            <a:ext cx="54864" cy="1119560"/>
          </a:xfrm>
          <a:prstGeom prst="rect">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 y="5440680"/>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Honest framing</a:t>
            </a:r>
          </a:p>
          <a:p>
            <a:pPr algn="l">
              <a:lnSpc>
                <a:spcPct val="117000"/>
              </a:lnSpc>
              <a:spcBef>
                <a:spcPts val="0"/>
              </a:spcBef>
              <a:spcAft>
                <a:spcPts val="300"/>
              </a:spcAft>
            </a:pPr>
            <a:r>
              <a:rPr sz="1250" b="0" i="0">
                <a:solidFill>
                  <a:srgbClr val="444E59"/>
                </a:solidFill>
                <a:latin typeface="Calibri"/>
              </a:rPr>
              <a:t>The three strategies are compared thoroughly in natural-language retrieval (AugSBERT; ANCE; STAR/ADORE; SimANS). What is missing is a controlled comparison for code, and — critically — any test of whether the strategy changes generalisation.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02  ·  LITERATURE REVIEW</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Theoretical Framework</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Literature Review</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9</a:t>
            </a:r>
          </a:p>
        </p:txBody>
      </p:sp>
      <p:sp>
        <p:nvSpPr>
          <p:cNvPr id="7" name="Rounded Rectangle 6"/>
          <p:cNvSpPr/>
          <p:nvPr/>
        </p:nvSpPr>
        <p:spPr>
          <a:xfrm>
            <a:off x="658368" y="1463040"/>
            <a:ext cx="5303520" cy="2718465"/>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63040"/>
            <a:ext cx="50292" cy="2718465"/>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609344"/>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Contrastive Representation Learning</a:t>
            </a:r>
          </a:p>
        </p:txBody>
      </p:sp>
      <p:sp>
        <p:nvSpPr>
          <p:cNvPr id="10" name="TextBox 9"/>
          <p:cNvSpPr txBox="1"/>
          <p:nvPr/>
        </p:nvSpPr>
        <p:spPr>
          <a:xfrm>
            <a:off x="896112" y="2011680"/>
            <a:ext cx="4892040" cy="2041809"/>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Le-Khac, Healy &amp; Smeaton, IEEE Access, 2020.</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Embeddings are learned by pulling similar pairs together and pushing dissimilar pairs apart in vector space — rather than fitting fixed category labels.</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Consequence: the pairs are the curriculum.</a:t>
            </a:r>
          </a:p>
        </p:txBody>
      </p:sp>
      <p:sp>
        <p:nvSpPr>
          <p:cNvPr id="11" name="Rounded Rectangle 10"/>
          <p:cNvSpPr/>
          <p:nvPr/>
        </p:nvSpPr>
        <p:spPr>
          <a:xfrm>
            <a:off x="6227064" y="1463040"/>
            <a:ext cx="5303520" cy="2718465"/>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7064" y="1463040"/>
            <a:ext cx="50292" cy="2718465"/>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64807" y="1609344"/>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Classical IR Theory — BM25</a:t>
            </a:r>
          </a:p>
        </p:txBody>
      </p:sp>
      <p:sp>
        <p:nvSpPr>
          <p:cNvPr id="14" name="TextBox 13"/>
          <p:cNvSpPr txBox="1"/>
          <p:nvPr/>
        </p:nvSpPr>
        <p:spPr>
          <a:xfrm>
            <a:off x="6464807" y="2011680"/>
            <a:ext cx="4892040" cy="2041809"/>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A keyword-relevance ranking model.</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Used here as one method for constructing “hard” negative training pairs: retrieve the snippets that share the most keywords with the anchor, then use them as negatives.</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Cheap, deterministic, and blind to meaning.</a:t>
            </a:r>
          </a:p>
        </p:txBody>
      </p:sp>
      <p:sp>
        <p:nvSpPr>
          <p:cNvPr id="15" name="Rounded Rectangle 14"/>
          <p:cNvSpPr/>
          <p:nvPr/>
        </p:nvSpPr>
        <p:spPr>
          <a:xfrm>
            <a:off x="658368" y="3877056"/>
            <a:ext cx="10874959" cy="1356059"/>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3877056"/>
            <a:ext cx="54864" cy="1356059"/>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77824" y="4014216"/>
            <a:ext cx="10454335" cy="1081739"/>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Relevance to this project</a:t>
            </a:r>
          </a:p>
          <a:p>
            <a:pPr algn="l">
              <a:lnSpc>
                <a:spcPct val="117000"/>
              </a:lnSpc>
              <a:spcBef>
                <a:spcPts val="0"/>
              </a:spcBef>
              <a:spcAft>
                <a:spcPts val="300"/>
              </a:spcAft>
            </a:pPr>
            <a:r>
              <a:rPr sz="1250" b="0" i="0">
                <a:solidFill>
                  <a:srgbClr val="444E59"/>
                </a:solidFill>
                <a:latin typeface="Calibri"/>
              </a:rPr>
              <a:t>Similarity is learned relative to explicitly chosen pairs. That makes the choice of pairs — and specifically how the negatives are chosen — a first-class design decision, not an implementation detail. This is the theoretical basis for treating negative-sampling strategy as an independent variable.</a:t>
            </a:r>
          </a:p>
        </p:txBody>
      </p:sp>
      <p:sp>
        <p:nvSpPr>
          <p:cNvPr id="18" name="TextBox 17"/>
          <p:cNvSpPr txBox="1"/>
          <p:nvPr/>
        </p:nvSpPr>
        <p:spPr>
          <a:xfrm>
            <a:off x="658368" y="5029200"/>
            <a:ext cx="10874959" cy="822960"/>
          </a:xfrm>
          <a:prstGeom prst="rect">
            <a:avLst/>
          </a:prstGeom>
          <a:noFill/>
        </p:spPr>
        <p:txBody>
          <a:bodyPr wrap="square" anchor="t" lIns="0" rIns="0" tIns="0" bIns="0">
            <a:spAutoFit/>
          </a:bodyPr>
          <a:lstStyle/>
          <a:p>
            <a:pPr algn="l">
              <a:lnSpc>
                <a:spcPct val="120000"/>
              </a:lnSpc>
              <a:spcBef>
                <a:spcPts val="0"/>
              </a:spcBef>
              <a:spcAft>
                <a:spcPts val="600"/>
              </a:spcAft>
            </a:pPr>
            <a:r>
              <a:rPr sz="1350" b="1" i="0">
                <a:solidFill>
                  <a:srgbClr val="16202B"/>
                </a:solidFill>
                <a:latin typeface="Calibri"/>
              </a:rPr>
              <a:t>In one sentence:</a:t>
            </a:r>
          </a:p>
          <a:p>
            <a:pPr algn="l">
              <a:lnSpc>
                <a:spcPct val="120000"/>
              </a:lnSpc>
              <a:spcBef>
                <a:spcPts val="0"/>
              </a:spcBef>
              <a:spcAft>
                <a:spcPts val="0"/>
              </a:spcAft>
            </a:pPr>
            <a:r>
              <a:rPr sz="1300" b="0" i="0">
                <a:solidFill>
                  <a:srgbClr val="444E59"/>
                </a:solidFill>
                <a:latin typeface="Calibri"/>
              </a:rPr>
              <a:t>If the curriculum is the pairs, then the negatives are half the curriculum — and this project is the first, in this domain, to vary only that half and measure what changes.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02  ·  LITERATURE REVIEW</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Relevance to Current Research</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Literature Review</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10</a:t>
            </a:r>
          </a:p>
        </p:txBody>
      </p:sp>
      <p:sp>
        <p:nvSpPr>
          <p:cNvPr id="7" name="TextBox 6"/>
          <p:cNvSpPr txBox="1"/>
          <p:nvPr/>
        </p:nvSpPr>
        <p:spPr>
          <a:xfrm>
            <a:off x="658368" y="1481328"/>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Comparability: </a:t>
            </a:r>
            <a:r>
              <a:rPr sz="1350" b="0" i="0">
                <a:solidFill>
                  <a:srgbClr val="444E59"/>
                </a:solidFill>
                <a:latin typeface="Calibri"/>
              </a:rPr>
              <a:t>We adopt the same base model (GraphCodeBERT) and the same benchmark (BigCloneBench) used by Guo et al. (2021), Sonnekalb et al. (2022) and Khajezade et al. (2024), so our numbers sit directly alongside published ones.</a:t>
            </a:r>
          </a:p>
        </p:txBody>
      </p:sp>
      <p:sp>
        <p:nvSpPr>
          <p:cNvPr id="8" name="TextBox 7"/>
          <p:cNvSpPr txBox="1"/>
          <p:nvPr/>
        </p:nvSpPr>
        <p:spPr>
          <a:xfrm>
            <a:off x="658368" y="2103120"/>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Extending Sonnekalb et al. (2022): </a:t>
            </a:r>
            <a:r>
              <a:rPr sz="1350" b="0" i="0">
                <a:solidFill>
                  <a:srgbClr val="444E59"/>
                </a:solidFill>
                <a:latin typeface="Calibri"/>
              </a:rPr>
              <a:t>They raised generalisation as a critique. We make generalisation testing a built-in, core experiment rather than a follow-up observation.</a:t>
            </a:r>
          </a:p>
        </p:txBody>
      </p:sp>
      <p:sp>
        <p:nvSpPr>
          <p:cNvPr id="9" name="TextBox 8"/>
          <p:cNvSpPr txBox="1"/>
          <p:nvPr/>
        </p:nvSpPr>
        <p:spPr>
          <a:xfrm>
            <a:off x="658368" y="2724912"/>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Extending Khajezade et al. (2024) and Liu et al. (2023): </a:t>
            </a:r>
            <a:r>
              <a:rPr sz="1350" b="0" i="0">
                <a:solidFill>
                  <a:srgbClr val="444E59"/>
                </a:solidFill>
                <a:latin typeface="Calibri"/>
              </a:rPr>
              <a:t>They show contrastive learning helps. We isolate negative-sampling strategy as the single variable under study.</a:t>
            </a:r>
          </a:p>
        </p:txBody>
      </p:sp>
      <p:sp>
        <p:nvSpPr>
          <p:cNvPr id="10" name="TextBox 9"/>
          <p:cNvSpPr txBox="1"/>
          <p:nvPr/>
        </p:nvSpPr>
        <p:spPr>
          <a:xfrm>
            <a:off x="658368" y="3346704"/>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Extending the retrieval literature: </a:t>
            </a:r>
            <a:r>
              <a:rPr sz="1350" b="0" i="0">
                <a:solidFill>
                  <a:srgbClr val="444E59"/>
                </a:solidFill>
                <a:latin typeface="Calibri"/>
              </a:rPr>
              <a:t>Random vs BM25 vs semantic negatives is a well-populated comparison in text retrieval. It has not been run for code.</a:t>
            </a:r>
          </a:p>
        </p:txBody>
      </p:sp>
      <p:sp>
        <p:nvSpPr>
          <p:cNvPr id="11" name="Rounded Rectangle 10"/>
          <p:cNvSpPr/>
          <p:nvPr/>
        </p:nvSpPr>
        <p:spPr>
          <a:xfrm>
            <a:off x="658368" y="4078224"/>
            <a:ext cx="10874959" cy="1298448"/>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4224528"/>
            <a:ext cx="10326319" cy="1060704"/>
          </a:xfrm>
          <a:prstGeom prst="rect">
            <a:avLst/>
          </a:prstGeom>
          <a:noFill/>
        </p:spPr>
        <p:txBody>
          <a:bodyPr wrap="square" anchor="t" lIns="0" rIns="0" tIns="0" bIns="0">
            <a:spAutoFit/>
          </a:bodyPr>
          <a:lstStyle/>
          <a:p>
            <a:pPr algn="l">
              <a:lnSpc>
                <a:spcPct val="120000"/>
              </a:lnSpc>
              <a:spcBef>
                <a:spcPts val="0"/>
              </a:spcBef>
              <a:spcAft>
                <a:spcPts val="600"/>
              </a:spcAft>
            </a:pPr>
            <a:r>
              <a:rPr sz="1400" b="1" i="0">
                <a:solidFill>
                  <a:srgbClr val="16202B"/>
                </a:solidFill>
                <a:latin typeface="Calibri"/>
              </a:rPr>
              <a:t>The positioning, stated carefully</a:t>
            </a:r>
          </a:p>
          <a:p>
            <a:pPr algn="l">
              <a:lnSpc>
                <a:spcPct val="122000"/>
              </a:lnSpc>
              <a:spcBef>
                <a:spcPts val="0"/>
              </a:spcBef>
              <a:spcAft>
                <a:spcPts val="0"/>
              </a:spcAft>
            </a:pPr>
            <a:r>
              <a:rPr sz="1250" b="0" i="0">
                <a:solidFill>
                  <a:srgbClr val="444E59"/>
                </a:solidFill>
                <a:latin typeface="Calibri"/>
              </a:rPr>
              <a:t>This is not a claim that nothing similar has been done. Contrastive learning for code, and generalisation gaps for code models, are both established. The specific comparison — three negative-sampling strategies, held constant everywhere else, evaluated on both a standard split and held-out functionalities — is what this project adds.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02  ·  LITERATURE REVIEW</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What Already Exists vs. Our Contribution</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Literature Review</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11</a:t>
            </a:r>
          </a:p>
        </p:txBody>
      </p:sp>
      <p:graphicFrame>
        <p:nvGraphicFramePr>
          <p:cNvPr id="7" name="Table 6"/>
          <p:cNvGraphicFramePr>
            <a:graphicFrameLocks noGrp="1"/>
          </p:cNvGraphicFramePr>
          <p:nvPr/>
        </p:nvGraphicFramePr>
        <p:xfrm>
          <a:off x="658368" y="1499616"/>
          <a:ext cx="10874958" cy="3282696"/>
        </p:xfrm>
        <a:graphic>
          <a:graphicData uri="http://schemas.openxmlformats.org/drawingml/2006/table">
            <a:tbl>
              <a:tblPr firstRow="1">
                <a:tableStyleId>{5C22544A-7EE6-4342-B048-85BDC9FD1C3A}</a:tableStyleId>
              </a:tblPr>
              <a:tblGrid>
                <a:gridCol w="5437479"/>
                <a:gridCol w="5437479"/>
              </a:tblGrid>
              <a:tr h="402336">
                <a:tc>
                  <a:txBody>
                    <a:bodyPr wrap="square"/>
                    <a:lstStyle/>
                    <a:p>
                      <a:pPr algn="l">
                        <a:lnSpc>
                          <a:spcPct val="112000"/>
                        </a:lnSpc>
                        <a:spcBef>
                          <a:spcPts val="0"/>
                        </a:spcBef>
                        <a:spcAft>
                          <a:spcPts val="0"/>
                        </a:spcAft>
                      </a:pPr>
                      <a:r>
                        <a:rPr sz="1250" b="1" i="0">
                          <a:solidFill>
                            <a:srgbClr val="FFFFFF"/>
                          </a:solidFill>
                          <a:latin typeface="Calibri"/>
                        </a:rPr>
                        <a:t>Already exists</a:t>
                      </a:r>
                    </a:p>
                  </a:txBody>
                  <a:tcPr marL="100584" marR="100584" marT="45720" marB="45720" anchor="ctr">
                    <a:solidFill>
                      <a:srgbClr val="12263A"/>
                    </a:solidFill>
                  </a:tcPr>
                </a:tc>
                <a:tc>
                  <a:txBody>
                    <a:bodyPr wrap="square"/>
                    <a:lstStyle/>
                    <a:p>
                      <a:pPr algn="l">
                        <a:lnSpc>
                          <a:spcPct val="112000"/>
                        </a:lnSpc>
                        <a:spcBef>
                          <a:spcPts val="0"/>
                        </a:spcBef>
                        <a:spcAft>
                          <a:spcPts val="0"/>
                        </a:spcAft>
                      </a:pPr>
                      <a:r>
                        <a:rPr sz="1250" b="1" i="0">
                          <a:solidFill>
                            <a:srgbClr val="FFFFFF"/>
                          </a:solidFill>
                          <a:latin typeface="Calibri"/>
                        </a:rPr>
                        <a:t>Our contribution</a:t>
                      </a:r>
                    </a:p>
                  </a:txBody>
                  <a:tcPr marL="100584" marR="100584" marT="45720" marB="45720" anchor="ctr">
                    <a:solidFill>
                      <a:srgbClr val="12263A"/>
                    </a:solidFill>
                  </a:tcPr>
                </a:tc>
              </a:tr>
              <a:tr h="960120">
                <a:tc>
                  <a:txBody>
                    <a:bodyPr wrap="square"/>
                    <a:lstStyle/>
                    <a:p>
                      <a:pPr algn="l">
                        <a:lnSpc>
                          <a:spcPct val="112000"/>
                        </a:lnSpc>
                        <a:spcBef>
                          <a:spcPts val="0"/>
                        </a:spcBef>
                        <a:spcAft>
                          <a:spcPts val="0"/>
                        </a:spcAft>
                      </a:pPr>
                      <a:r>
                        <a:rPr sz="1250" b="1" i="0">
                          <a:solidFill>
                            <a:srgbClr val="16202B"/>
                          </a:solidFill>
                          <a:latin typeface="Calibri"/>
                        </a:rPr>
                        <a:t>Contrastive learning improves code representations generally (Jain et al., 2021; Liu et al., 2023)</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50" b="0" i="0">
                          <a:solidFill>
                            <a:srgbClr val="16202B"/>
                          </a:solidFill>
                          <a:latin typeface="Calibri"/>
                        </a:rPr>
                        <a:t>We isolate negative-sampling strategy as the variable — random vs BM25 vs semantic, compared directly</a:t>
                      </a:r>
                    </a:p>
                  </a:txBody>
                  <a:tcPr marL="100584" marR="100584" marT="45720" marB="45720" anchor="ctr">
                    <a:solidFill>
                      <a:srgbClr val="FFFFFF"/>
                    </a:solidFill>
                  </a:tcPr>
                </a:tc>
              </a:tr>
              <a:tr h="960120">
                <a:tc>
                  <a:txBody>
                    <a:bodyPr wrap="square"/>
                    <a:lstStyle/>
                    <a:p>
                      <a:pPr algn="l">
                        <a:lnSpc>
                          <a:spcPct val="112000"/>
                        </a:lnSpc>
                        <a:spcBef>
                          <a:spcPts val="0"/>
                        </a:spcBef>
                        <a:spcAft>
                          <a:spcPts val="0"/>
                        </a:spcAft>
                      </a:pPr>
                      <a:r>
                        <a:rPr sz="1250" b="1" i="0">
                          <a:solidFill>
                            <a:srgbClr val="16202B"/>
                          </a:solidFill>
                          <a:latin typeface="Calibri"/>
                        </a:rPr>
                        <a:t>Generalisation gaps are documented for fine-tuned code models (Sonnekalb et al., 2022; Khajezade et al., 2024)</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50" b="0" i="0">
                          <a:solidFill>
                            <a:srgbClr val="16202B"/>
                          </a:solidFill>
                          <a:latin typeface="Calibri"/>
                        </a:rPr>
                        <a:t>We build generalisation testing into the core experimental design, not a separate critique</a:t>
                      </a:r>
                    </a:p>
                  </a:txBody>
                  <a:tcPr marL="100584" marR="100584" marT="45720" marB="45720" anchor="ctr">
                    <a:solidFill>
                      <a:srgbClr val="FAFBFD"/>
                    </a:solidFill>
                  </a:tcPr>
                </a:tc>
              </a:tr>
              <a:tr h="960120">
                <a:tc>
                  <a:txBody>
                    <a:bodyPr wrap="square"/>
                    <a:lstStyle/>
                    <a:p>
                      <a:pPr algn="l">
                        <a:lnSpc>
                          <a:spcPct val="112000"/>
                        </a:lnSpc>
                        <a:spcBef>
                          <a:spcPts val="0"/>
                        </a:spcBef>
                        <a:spcAft>
                          <a:spcPts val="0"/>
                        </a:spcAft>
                      </a:pPr>
                      <a:r>
                        <a:rPr sz="1250" b="1" i="0">
                          <a:solidFill>
                            <a:srgbClr val="16202B"/>
                          </a:solidFill>
                          <a:latin typeface="Calibri"/>
                        </a:rPr>
                        <a:t>Domain-specific fine-tuning is studied per domain, in isolation</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50" b="0" i="0">
                          <a:solidFill>
                            <a:srgbClr val="16202B"/>
                          </a:solidFill>
                          <a:latin typeface="Calibri"/>
                        </a:rPr>
                        <a:t>We frame it as a method-level question — does negative strategy matter? — using code as one well-supported test case</a:t>
                      </a:r>
                    </a:p>
                  </a:txBody>
                  <a:tcPr marL="100584" marR="100584" marT="45720" marB="45720" anchor="ctr">
                    <a:solidFill>
                      <a:srgbClr val="FFFFFF"/>
                    </a:solidFill>
                  </a:tcPr>
                </a:tc>
              </a:tr>
            </a:tbl>
          </a:graphicData>
        </a:graphic>
      </p:graphicFrame>
      <p:sp>
        <p:nvSpPr>
          <p:cNvPr id="8" name="Rounded Rectangle 7"/>
          <p:cNvSpPr/>
          <p:nvPr/>
        </p:nvSpPr>
        <p:spPr>
          <a:xfrm>
            <a:off x="658368" y="4937760"/>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4937760"/>
            <a:ext cx="54864" cy="111956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 y="5074920"/>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Scope discipline</a:t>
            </a:r>
          </a:p>
          <a:p>
            <a:pPr algn="l">
              <a:lnSpc>
                <a:spcPct val="117000"/>
              </a:lnSpc>
              <a:spcBef>
                <a:spcPts val="0"/>
              </a:spcBef>
              <a:spcAft>
                <a:spcPts val="300"/>
              </a:spcAft>
            </a:pPr>
            <a:r>
              <a:rPr sz="1250" b="0" i="0">
                <a:solidFill>
                  <a:srgbClr val="444E59"/>
                </a:solidFill>
                <a:latin typeface="Calibri"/>
              </a:rPr>
              <a:t>We do not claim the comparison is new in general — it is well established for natural-language retrieval. We claim it is unrun for code, and that the interaction between negative strategy and generalisation has not been measured in any domain.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2084831"/>
            <a:ext cx="2926080" cy="1371600"/>
          </a:xfrm>
          <a:prstGeom prst="rect">
            <a:avLst/>
          </a:prstGeom>
          <a:noFill/>
        </p:spPr>
        <p:txBody>
          <a:bodyPr wrap="square" anchor="t" lIns="0" rIns="0" tIns="0" bIns="0">
            <a:spAutoFit/>
          </a:bodyPr>
          <a:lstStyle/>
          <a:p>
            <a:pPr algn="l">
              <a:lnSpc>
                <a:spcPct val="115000"/>
              </a:lnSpc>
              <a:spcBef>
                <a:spcPts val="0"/>
              </a:spcBef>
              <a:spcAft>
                <a:spcPts val="0"/>
              </a:spcAft>
            </a:pPr>
            <a:r>
              <a:rPr sz="7400" b="1" i="0">
                <a:solidFill>
                  <a:srgbClr val="E8734A"/>
                </a:solidFill>
                <a:latin typeface="Calibri"/>
              </a:rPr>
              <a:t>03</a:t>
            </a:r>
          </a:p>
        </p:txBody>
      </p:sp>
      <p:sp>
        <p:nvSpPr>
          <p:cNvPr id="5" name="TextBox 4"/>
          <p:cNvSpPr txBox="1"/>
          <p:nvPr/>
        </p:nvSpPr>
        <p:spPr>
          <a:xfrm>
            <a:off x="960120" y="3310128"/>
            <a:ext cx="9692640" cy="777240"/>
          </a:xfrm>
          <a:prstGeom prst="rect">
            <a:avLst/>
          </a:prstGeom>
          <a:noFill/>
        </p:spPr>
        <p:txBody>
          <a:bodyPr wrap="square" anchor="t" lIns="0" rIns="0" tIns="0" bIns="0">
            <a:spAutoFit/>
          </a:bodyPr>
          <a:lstStyle/>
          <a:p>
            <a:pPr algn="l">
              <a:lnSpc>
                <a:spcPct val="115000"/>
              </a:lnSpc>
              <a:spcBef>
                <a:spcPts val="0"/>
              </a:spcBef>
              <a:spcAft>
                <a:spcPts val="0"/>
              </a:spcAft>
            </a:pPr>
            <a:r>
              <a:rPr sz="3800" b="1" i="0">
                <a:solidFill>
                  <a:srgbClr val="FFFFFF"/>
                </a:solidFill>
                <a:latin typeface="Calibri"/>
              </a:rPr>
              <a:t>Problem Definition</a:t>
            </a:r>
          </a:p>
        </p:txBody>
      </p:sp>
      <p:sp>
        <p:nvSpPr>
          <p:cNvPr id="6" name="TextBox 5"/>
          <p:cNvSpPr txBox="1"/>
          <p:nvPr/>
        </p:nvSpPr>
        <p:spPr>
          <a:xfrm>
            <a:off x="960120" y="4224528"/>
            <a:ext cx="9509760" cy="82296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B9C6D4"/>
                </a:solidFill>
                <a:latin typeface="Calibri"/>
              </a:rPr>
              <a:t>What, precisely, is unclear — and what it costs to leave it unclear.</a:t>
            </a:r>
          </a:p>
        </p:txBody>
      </p:sp>
      <p:sp>
        <p:nvSpPr>
          <p:cNvPr id="7" name="Rectangle 6"/>
          <p:cNvSpPr/>
          <p:nvPr/>
        </p:nvSpPr>
        <p:spPr>
          <a:xfrm>
            <a:off x="960120" y="4041648"/>
            <a:ext cx="1371600" cy="50292"/>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03  ·  PROBLEM DEFINITION</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Clear Statement of the Problem</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Problem Definition</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13</a:t>
            </a:r>
          </a:p>
        </p:txBody>
      </p:sp>
      <p:sp>
        <p:nvSpPr>
          <p:cNvPr id="7" name="Rounded Rectangle 6"/>
          <p:cNvSpPr/>
          <p:nvPr/>
        </p:nvSpPr>
        <p:spPr>
          <a:xfrm>
            <a:off x="658368" y="1444752"/>
            <a:ext cx="10874959" cy="1481328"/>
          </a:xfrm>
          <a:prstGeom prst="roundRect">
            <a:avLst>
              <a:gd name="adj" fmla="val 45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44752"/>
            <a:ext cx="64008" cy="1481328"/>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42415" y="1664208"/>
            <a:ext cx="10097719" cy="1097280"/>
          </a:xfrm>
          <a:prstGeom prst="rect">
            <a:avLst/>
          </a:prstGeom>
          <a:noFill/>
        </p:spPr>
        <p:txBody>
          <a:bodyPr wrap="square" anchor="t" lIns="0" rIns="0" tIns="0" bIns="0">
            <a:spAutoFit/>
          </a:bodyPr>
          <a:lstStyle/>
          <a:p>
            <a:pPr algn="l">
              <a:lnSpc>
                <a:spcPct val="128000"/>
              </a:lnSpc>
              <a:spcBef>
                <a:spcPts val="0"/>
              </a:spcBef>
              <a:spcAft>
                <a:spcPts val="0"/>
              </a:spcAft>
            </a:pPr>
            <a:r>
              <a:rPr sz="1550" b="0" i="0">
                <a:solidFill>
                  <a:srgbClr val="FFFFFF"/>
                </a:solidFill>
                <a:latin typeface="Calibri"/>
              </a:rPr>
              <a:t>“It is unclear whether the method used to select negative training examples during contrastive fine-tuning meaningfully affects the quality and generalization of domain-specific embeddings, or whether such improvements — if any — hold up beyond the training distribution.”</a:t>
            </a:r>
          </a:p>
        </p:txBody>
      </p:sp>
      <p:sp>
        <p:nvSpPr>
          <p:cNvPr id="10" name="TextBox 9"/>
          <p:cNvSpPr txBox="1"/>
          <p:nvPr/>
        </p:nvSpPr>
        <p:spPr>
          <a:xfrm>
            <a:off x="658368" y="3145536"/>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Context 1 — </a:t>
            </a:r>
            <a:r>
              <a:rPr sz="1350" b="0" i="0">
                <a:solidFill>
                  <a:srgbClr val="444E59"/>
                </a:solidFill>
                <a:latin typeface="Calibri"/>
              </a:rPr>
              <a:t>Generic pretrained models are trained on broad objectives such as masked language modelling, not explicitly for domain-specific similarity judgement.</a:t>
            </a:r>
          </a:p>
        </p:txBody>
      </p:sp>
      <p:sp>
        <p:nvSpPr>
          <p:cNvPr id="11" name="TextBox 10"/>
          <p:cNvSpPr txBox="1"/>
          <p:nvPr/>
        </p:nvSpPr>
        <p:spPr>
          <a:xfrm>
            <a:off x="658368" y="3675887"/>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Context 2 — </a:t>
            </a:r>
            <a:r>
              <a:rPr sz="1350" b="0" i="0">
                <a:solidFill>
                  <a:srgbClr val="444E59"/>
                </a:solidFill>
                <a:latin typeface="Calibri"/>
              </a:rPr>
              <a:t>Contrastive fine-tuning is a known adaptation method, but the choice of negative pairs is rarely treated as a controlled variable in published studies.</a:t>
            </a:r>
          </a:p>
        </p:txBody>
      </p:sp>
      <p:sp>
        <p:nvSpPr>
          <p:cNvPr id="12" name="TextBox 11"/>
          <p:cNvSpPr txBox="1"/>
          <p:nvPr/>
        </p:nvSpPr>
        <p:spPr>
          <a:xfrm>
            <a:off x="658368" y="4206240"/>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Context 3 — </a:t>
            </a:r>
            <a:r>
              <a:rPr sz="1350" b="0" i="0">
                <a:solidFill>
                  <a:srgbClr val="444E59"/>
                </a:solidFill>
                <a:latin typeface="Calibri"/>
              </a:rPr>
              <a:t>Prior work shows benchmark performance can substantially overstate real generalisation, which raises the question of whether that depends on how the model was trained.</a:t>
            </a:r>
          </a:p>
        </p:txBody>
      </p:sp>
      <p:sp>
        <p:nvSpPr>
          <p:cNvPr id="13" name="Rounded Rectangle 12"/>
          <p:cNvSpPr/>
          <p:nvPr/>
        </p:nvSpPr>
        <p:spPr>
          <a:xfrm>
            <a:off x="658368" y="4846320"/>
            <a:ext cx="10874959" cy="1160327"/>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58368" y="4846320"/>
            <a:ext cx="54864" cy="1160327"/>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7824" y="4983480"/>
            <a:ext cx="10454335" cy="886007"/>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The two questions hidden inside the problem statement</a:t>
            </a:r>
          </a:p>
          <a:p>
            <a:pPr algn="l">
              <a:lnSpc>
                <a:spcPct val="117000"/>
              </a:lnSpc>
              <a:spcBef>
                <a:spcPts val="0"/>
              </a:spcBef>
              <a:spcAft>
                <a:spcPts val="300"/>
              </a:spcAft>
            </a:pPr>
            <a:r>
              <a:rPr sz="1250" b="0" i="0">
                <a:solidFill>
                  <a:srgbClr val="444E59"/>
                </a:solidFill>
                <a:latin typeface="Calibri"/>
              </a:rPr>
              <a:t>1.  Does the negative-selection method change embedding quality at all?</a:t>
            </a:r>
          </a:p>
          <a:p>
            <a:pPr algn="l">
              <a:lnSpc>
                <a:spcPct val="117000"/>
              </a:lnSpc>
              <a:spcBef>
                <a:spcPts val="0"/>
              </a:spcBef>
              <a:spcAft>
                <a:spcPts val="300"/>
              </a:spcAft>
            </a:pPr>
            <a:r>
              <a:rPr sz="1250" b="0" i="0">
                <a:solidFill>
                  <a:srgbClr val="444E59"/>
                </a:solidFill>
                <a:latin typeface="Calibri"/>
              </a:rPr>
              <a:t>2.  Does it change how well that quality survives on data unlike the training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03  ·  PROBLEM DEFINITION</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Significance of Addressing the Problem</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Problem Definition</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14</a:t>
            </a:r>
          </a:p>
        </p:txBody>
      </p:sp>
      <p:sp>
        <p:nvSpPr>
          <p:cNvPr id="7" name="Rounded Rectangle 6"/>
          <p:cNvSpPr/>
          <p:nvPr/>
        </p:nvSpPr>
        <p:spPr>
          <a:xfrm>
            <a:off x="658368" y="1444752"/>
            <a:ext cx="3474720" cy="2084831"/>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44752"/>
            <a:ext cx="50292" cy="2084831"/>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591056"/>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If unaddressed</a:t>
            </a:r>
          </a:p>
        </p:txBody>
      </p:sp>
      <p:sp>
        <p:nvSpPr>
          <p:cNvPr id="10" name="TextBox 9"/>
          <p:cNvSpPr txBox="1"/>
          <p:nvPr/>
        </p:nvSpPr>
        <p:spPr>
          <a:xfrm>
            <a:off x="896112" y="1993392"/>
            <a:ext cx="3063239" cy="1408175"/>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Practitioners adapting embeddings to a new domain default to the simplest option — random negatives — without evidence that it is the best choice.</a:t>
            </a:r>
          </a:p>
        </p:txBody>
      </p:sp>
      <p:sp>
        <p:nvSpPr>
          <p:cNvPr id="11" name="Rounded Rectangle 10"/>
          <p:cNvSpPr/>
          <p:nvPr/>
        </p:nvSpPr>
        <p:spPr>
          <a:xfrm>
            <a:off x="4352544" y="1444752"/>
            <a:ext cx="3474720" cy="2084831"/>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52544" y="1444752"/>
            <a:ext cx="50292" cy="2084831"/>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90288" y="1591056"/>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The gap</a:t>
            </a:r>
          </a:p>
        </p:txBody>
      </p:sp>
      <p:sp>
        <p:nvSpPr>
          <p:cNvPr id="14" name="TextBox 13"/>
          <p:cNvSpPr txBox="1"/>
          <p:nvPr/>
        </p:nvSpPr>
        <p:spPr>
          <a:xfrm>
            <a:off x="4590288" y="1993392"/>
            <a:ext cx="3063239" cy="1408175"/>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Without a systematic comparison, real and available performance improvements from better negative sampling may be left unclaimed.</a:t>
            </a:r>
          </a:p>
        </p:txBody>
      </p:sp>
      <p:sp>
        <p:nvSpPr>
          <p:cNvPr id="15" name="Rounded Rectangle 14"/>
          <p:cNvSpPr/>
          <p:nvPr/>
        </p:nvSpPr>
        <p:spPr>
          <a:xfrm>
            <a:off x="8055864" y="1444752"/>
            <a:ext cx="3474720" cy="2084831"/>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55864" y="1444752"/>
            <a:ext cx="50292" cy="2084831"/>
          </a:xfrm>
          <a:prstGeom prst="rect">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93608" y="1591056"/>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The consequence</a:t>
            </a:r>
          </a:p>
        </p:txBody>
      </p:sp>
      <p:sp>
        <p:nvSpPr>
          <p:cNvPr id="18" name="TextBox 17"/>
          <p:cNvSpPr txBox="1"/>
          <p:nvPr/>
        </p:nvSpPr>
        <p:spPr>
          <a:xfrm>
            <a:off x="8293608" y="1993392"/>
            <a:ext cx="3063239" cy="1408175"/>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Deployed similarity systems underperform silently on real-world, unseen inputs while appearing strong on standard benchmarks.</a:t>
            </a:r>
          </a:p>
        </p:txBody>
      </p:sp>
      <p:sp>
        <p:nvSpPr>
          <p:cNvPr id="19" name="Rounded Rectangle 18"/>
          <p:cNvSpPr/>
          <p:nvPr/>
        </p:nvSpPr>
        <p:spPr>
          <a:xfrm>
            <a:off x="658368" y="3730752"/>
            <a:ext cx="10874959" cy="1188720"/>
          </a:xfrm>
          <a:prstGeom prst="roundRect">
            <a:avLst>
              <a:gd name="adj" fmla="val 50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58368" y="3730752"/>
            <a:ext cx="54864" cy="1188720"/>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3895344"/>
            <a:ext cx="10326319" cy="914400"/>
          </a:xfrm>
          <a:prstGeom prst="rect">
            <a:avLst/>
          </a:prstGeom>
          <a:noFill/>
        </p:spPr>
        <p:txBody>
          <a:bodyPr wrap="square" anchor="t" lIns="0" rIns="0" tIns="0" bIns="0">
            <a:spAutoFit/>
          </a:bodyPr>
          <a:lstStyle/>
          <a:p>
            <a:pPr algn="l">
              <a:lnSpc>
                <a:spcPct val="120000"/>
              </a:lnSpc>
              <a:spcBef>
                <a:spcPts val="0"/>
              </a:spcBef>
              <a:spcAft>
                <a:spcPts val="500"/>
              </a:spcAft>
            </a:pPr>
            <a:r>
              <a:rPr sz="1400" b="1" i="0">
                <a:solidFill>
                  <a:srgbClr val="16202B"/>
                </a:solidFill>
                <a:latin typeface="Calibri"/>
              </a:rPr>
              <a:t>The size of the prize, measured by others</a:t>
            </a:r>
          </a:p>
          <a:p>
            <a:pPr algn="l">
              <a:lnSpc>
                <a:spcPct val="122000"/>
              </a:lnSpc>
              <a:spcBef>
                <a:spcPts val="0"/>
              </a:spcBef>
              <a:spcAft>
                <a:spcPts val="0"/>
              </a:spcAft>
            </a:pPr>
            <a:r>
              <a:rPr sz="1250" b="0" i="0">
                <a:solidFill>
                  <a:srgbClr val="444E59"/>
                </a:solidFill>
                <a:latin typeface="Calibri"/>
              </a:rPr>
              <a:t>Re-evaluated on functionality categories the model has never seen, task-specific clone detectors lose up to 48% F1, averaging 31% — against benchmark scores above 95%. A benchmark number that high is not measuring what a practitioner needs it to measure.</a:t>
            </a:r>
          </a:p>
        </p:txBody>
      </p:sp>
      <p:sp>
        <p:nvSpPr>
          <p:cNvPr id="22" name="Rounded Rectangle 21"/>
          <p:cNvSpPr/>
          <p:nvPr/>
        </p:nvSpPr>
        <p:spPr>
          <a:xfrm>
            <a:off x="658368" y="5102352"/>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58368" y="5102352"/>
            <a:ext cx="54864" cy="1119560"/>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 y="5239512"/>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Why this is the right moment to ask</a:t>
            </a:r>
          </a:p>
          <a:p>
            <a:pPr algn="l">
              <a:lnSpc>
                <a:spcPct val="117000"/>
              </a:lnSpc>
              <a:spcBef>
                <a:spcPts val="0"/>
              </a:spcBef>
              <a:spcAft>
                <a:spcPts val="300"/>
              </a:spcAft>
            </a:pPr>
            <a:r>
              <a:rPr sz="1250" b="0" i="0">
                <a:solidFill>
                  <a:srgbClr val="444E59"/>
                </a:solidFill>
                <a:latin typeface="Calibri"/>
              </a:rPr>
              <a:t>Negative-sampling strategy is cheap to change — it is a data-construction choice, not a new architecture or a bigger model. If it matters, it is one of the cheapest gains available. If it does not, that is worth knowing before the field spends more effort on elaborate mining schemes.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2084831"/>
            <a:ext cx="2926080" cy="1371600"/>
          </a:xfrm>
          <a:prstGeom prst="rect">
            <a:avLst/>
          </a:prstGeom>
          <a:noFill/>
        </p:spPr>
        <p:txBody>
          <a:bodyPr wrap="square" anchor="t" lIns="0" rIns="0" tIns="0" bIns="0">
            <a:spAutoFit/>
          </a:bodyPr>
          <a:lstStyle/>
          <a:p>
            <a:pPr algn="l">
              <a:lnSpc>
                <a:spcPct val="115000"/>
              </a:lnSpc>
              <a:spcBef>
                <a:spcPts val="0"/>
              </a:spcBef>
              <a:spcAft>
                <a:spcPts val="0"/>
              </a:spcAft>
            </a:pPr>
            <a:r>
              <a:rPr sz="7400" b="1" i="0">
                <a:solidFill>
                  <a:srgbClr val="E8734A"/>
                </a:solidFill>
                <a:latin typeface="Calibri"/>
              </a:rPr>
              <a:t>04</a:t>
            </a:r>
          </a:p>
        </p:txBody>
      </p:sp>
      <p:sp>
        <p:nvSpPr>
          <p:cNvPr id="5" name="TextBox 4"/>
          <p:cNvSpPr txBox="1"/>
          <p:nvPr/>
        </p:nvSpPr>
        <p:spPr>
          <a:xfrm>
            <a:off x="960120" y="3310128"/>
            <a:ext cx="9692640" cy="777240"/>
          </a:xfrm>
          <a:prstGeom prst="rect">
            <a:avLst/>
          </a:prstGeom>
          <a:noFill/>
        </p:spPr>
        <p:txBody>
          <a:bodyPr wrap="square" anchor="t" lIns="0" rIns="0" tIns="0" bIns="0">
            <a:spAutoFit/>
          </a:bodyPr>
          <a:lstStyle/>
          <a:p>
            <a:pPr algn="l">
              <a:lnSpc>
                <a:spcPct val="115000"/>
              </a:lnSpc>
              <a:spcBef>
                <a:spcPts val="0"/>
              </a:spcBef>
              <a:spcAft>
                <a:spcPts val="0"/>
              </a:spcAft>
            </a:pPr>
            <a:r>
              <a:rPr sz="3800" b="1" i="0">
                <a:solidFill>
                  <a:srgbClr val="FFFFFF"/>
                </a:solidFill>
                <a:latin typeface="Calibri"/>
              </a:rPr>
              <a:t>Objectives</a:t>
            </a:r>
          </a:p>
        </p:txBody>
      </p:sp>
      <p:sp>
        <p:nvSpPr>
          <p:cNvPr id="6" name="TextBox 5"/>
          <p:cNvSpPr txBox="1"/>
          <p:nvPr/>
        </p:nvSpPr>
        <p:spPr>
          <a:xfrm>
            <a:off x="960120" y="4224528"/>
            <a:ext cx="9509760" cy="82296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B9C6D4"/>
                </a:solidFill>
                <a:latin typeface="Calibri"/>
              </a:rPr>
              <a:t>One main objective, four specific ones, and what the project contributes.</a:t>
            </a:r>
          </a:p>
        </p:txBody>
      </p:sp>
      <p:sp>
        <p:nvSpPr>
          <p:cNvPr id="7" name="Rectangle 6"/>
          <p:cNvSpPr/>
          <p:nvPr/>
        </p:nvSpPr>
        <p:spPr>
          <a:xfrm>
            <a:off x="960120" y="4041648"/>
            <a:ext cx="1371600" cy="50292"/>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04  ·  OBJECTIVES</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Objectives</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Objectives</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16</a:t>
            </a:r>
          </a:p>
        </p:txBody>
      </p:sp>
      <p:sp>
        <p:nvSpPr>
          <p:cNvPr id="7" name="Rounded Rectangle 6"/>
          <p:cNvSpPr/>
          <p:nvPr/>
        </p:nvSpPr>
        <p:spPr>
          <a:xfrm>
            <a:off x="658368" y="1408176"/>
            <a:ext cx="10874959" cy="969264"/>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08176"/>
            <a:ext cx="64008" cy="969264"/>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24128" y="1545336"/>
            <a:ext cx="10143439" cy="731520"/>
          </a:xfrm>
          <a:prstGeom prst="rect">
            <a:avLst/>
          </a:prstGeom>
          <a:noFill/>
        </p:spPr>
        <p:txBody>
          <a:bodyPr wrap="square" anchor="t" lIns="0" rIns="0" tIns="0" bIns="0">
            <a:spAutoFit/>
          </a:bodyPr>
          <a:lstStyle/>
          <a:p>
            <a:pPr algn="l">
              <a:lnSpc>
                <a:spcPct val="115000"/>
              </a:lnSpc>
              <a:spcBef>
                <a:spcPts val="0"/>
              </a:spcBef>
              <a:spcAft>
                <a:spcPts val="400"/>
              </a:spcAft>
            </a:pPr>
            <a:r>
              <a:rPr sz="1100" b="1" i="0">
                <a:solidFill>
                  <a:srgbClr val="E8734A"/>
                </a:solidFill>
                <a:latin typeface="Calibri"/>
              </a:rPr>
              <a:t>Main objective</a:t>
            </a:r>
          </a:p>
          <a:p>
            <a:pPr algn="l">
              <a:lnSpc>
                <a:spcPct val="120000"/>
              </a:lnSpc>
              <a:spcBef>
                <a:spcPts val="0"/>
              </a:spcBef>
              <a:spcAft>
                <a:spcPts val="0"/>
              </a:spcAft>
            </a:pPr>
            <a:r>
              <a:rPr sz="1350" b="0" i="0">
                <a:solidFill>
                  <a:srgbClr val="FFFFFF"/>
                </a:solidFill>
                <a:latin typeface="Calibri"/>
              </a:rPr>
              <a:t>To evaluate whether the choice of negative-sampling strategy in contrastive fine-tuning meaningfully affects domain-specific embedding quality and generalization, using code similarity detection as a controlled test case.</a:t>
            </a:r>
          </a:p>
        </p:txBody>
      </p:sp>
      <p:sp>
        <p:nvSpPr>
          <p:cNvPr id="10" name="Rounded Rectangle 9"/>
          <p:cNvSpPr/>
          <p:nvPr/>
        </p:nvSpPr>
        <p:spPr>
          <a:xfrm>
            <a:off x="658368" y="2542032"/>
            <a:ext cx="10874959" cy="530352"/>
          </a:xfrm>
          <a:prstGeom prst="roundRect">
            <a:avLst>
              <a:gd name="adj" fmla="val 9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04672" y="2633472"/>
            <a:ext cx="329184" cy="329184"/>
          </a:xfrm>
          <a:prstGeom prst="roundRect">
            <a:avLst>
              <a:gd name="adj" fmla="val 3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200" b="1" i="0">
                <a:solidFill>
                  <a:srgbClr val="FFFFFF"/>
                </a:solidFill>
                <a:latin typeface="Calibri"/>
              </a:rPr>
              <a:t>1</a:t>
            </a:r>
          </a:p>
        </p:txBody>
      </p:sp>
      <p:sp>
        <p:nvSpPr>
          <p:cNvPr id="12" name="TextBox 11"/>
          <p:cNvSpPr txBox="1"/>
          <p:nvPr/>
        </p:nvSpPr>
        <p:spPr>
          <a:xfrm>
            <a:off x="1298448" y="2633472"/>
            <a:ext cx="10051999" cy="384048"/>
          </a:xfrm>
          <a:prstGeom prst="rect">
            <a:avLst/>
          </a:prstGeom>
          <a:noFill/>
        </p:spPr>
        <p:txBody>
          <a:bodyPr wrap="square" anchor="t" lIns="0" rIns="0" tIns="0" bIns="0">
            <a:spAutoFit/>
          </a:bodyPr>
          <a:lstStyle/>
          <a:p>
            <a:pPr algn="l">
              <a:lnSpc>
                <a:spcPct val="115000"/>
              </a:lnSpc>
              <a:spcBef>
                <a:spcPts val="0"/>
              </a:spcBef>
              <a:spcAft>
                <a:spcPts val="0"/>
              </a:spcAft>
            </a:pPr>
            <a:r>
              <a:rPr sz="1300" b="0" i="0">
                <a:solidFill>
                  <a:srgbClr val="444E59"/>
                </a:solidFill>
                <a:latin typeface="Calibri"/>
              </a:rPr>
              <a:t>Fine-tune GraphCodeBERT using three distinct negative-sampling strategies: random, BM25-based and semantically-mined.</a:t>
            </a:r>
          </a:p>
        </p:txBody>
      </p:sp>
      <p:sp>
        <p:nvSpPr>
          <p:cNvPr id="13" name="Rounded Rectangle 12"/>
          <p:cNvSpPr/>
          <p:nvPr/>
        </p:nvSpPr>
        <p:spPr>
          <a:xfrm>
            <a:off x="658368" y="3145536"/>
            <a:ext cx="10874959" cy="530352"/>
          </a:xfrm>
          <a:prstGeom prst="roundRect">
            <a:avLst>
              <a:gd name="adj" fmla="val 9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804672" y="3236976"/>
            <a:ext cx="329184" cy="329184"/>
          </a:xfrm>
          <a:prstGeom prst="roundRect">
            <a:avLst>
              <a:gd name="adj" fmla="val 3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200" b="1" i="0">
                <a:solidFill>
                  <a:srgbClr val="FFFFFF"/>
                </a:solidFill>
                <a:latin typeface="Calibri"/>
              </a:rPr>
              <a:t>2</a:t>
            </a:r>
          </a:p>
        </p:txBody>
      </p:sp>
      <p:sp>
        <p:nvSpPr>
          <p:cNvPr id="15" name="TextBox 14"/>
          <p:cNvSpPr txBox="1"/>
          <p:nvPr/>
        </p:nvSpPr>
        <p:spPr>
          <a:xfrm>
            <a:off x="1298448" y="3236976"/>
            <a:ext cx="10051999" cy="384048"/>
          </a:xfrm>
          <a:prstGeom prst="rect">
            <a:avLst/>
          </a:prstGeom>
          <a:noFill/>
        </p:spPr>
        <p:txBody>
          <a:bodyPr wrap="square" anchor="t" lIns="0" rIns="0" tIns="0" bIns="0">
            <a:spAutoFit/>
          </a:bodyPr>
          <a:lstStyle/>
          <a:p>
            <a:pPr algn="l">
              <a:lnSpc>
                <a:spcPct val="115000"/>
              </a:lnSpc>
              <a:spcBef>
                <a:spcPts val="0"/>
              </a:spcBef>
              <a:spcAft>
                <a:spcPts val="0"/>
              </a:spcAft>
            </a:pPr>
            <a:r>
              <a:rPr sz="1300" b="0" i="0">
                <a:solidFill>
                  <a:srgbClr val="444E59"/>
                </a:solidFill>
                <a:latin typeface="Calibri"/>
              </a:rPr>
              <a:t>Compare the embedding quality of each strategy against an off-the-shelf, non-fine-tuned baseline.</a:t>
            </a:r>
          </a:p>
        </p:txBody>
      </p:sp>
      <p:sp>
        <p:nvSpPr>
          <p:cNvPr id="16" name="Rounded Rectangle 15"/>
          <p:cNvSpPr/>
          <p:nvPr/>
        </p:nvSpPr>
        <p:spPr>
          <a:xfrm>
            <a:off x="658368" y="3749040"/>
            <a:ext cx="10874959" cy="530352"/>
          </a:xfrm>
          <a:prstGeom prst="roundRect">
            <a:avLst>
              <a:gd name="adj" fmla="val 9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04672" y="3840480"/>
            <a:ext cx="329184" cy="329184"/>
          </a:xfrm>
          <a:prstGeom prst="roundRect">
            <a:avLst>
              <a:gd name="adj" fmla="val 35000"/>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200" b="1" i="0">
                <a:solidFill>
                  <a:srgbClr val="FFFFFF"/>
                </a:solidFill>
                <a:latin typeface="Calibri"/>
              </a:rPr>
              <a:t>3</a:t>
            </a:r>
          </a:p>
        </p:txBody>
      </p:sp>
      <p:sp>
        <p:nvSpPr>
          <p:cNvPr id="18" name="TextBox 17"/>
          <p:cNvSpPr txBox="1"/>
          <p:nvPr/>
        </p:nvSpPr>
        <p:spPr>
          <a:xfrm>
            <a:off x="1298448" y="3840480"/>
            <a:ext cx="10051999" cy="384048"/>
          </a:xfrm>
          <a:prstGeom prst="rect">
            <a:avLst/>
          </a:prstGeom>
          <a:noFill/>
        </p:spPr>
        <p:txBody>
          <a:bodyPr wrap="square" anchor="t" lIns="0" rIns="0" tIns="0" bIns="0">
            <a:spAutoFit/>
          </a:bodyPr>
          <a:lstStyle/>
          <a:p>
            <a:pPr algn="l">
              <a:lnSpc>
                <a:spcPct val="115000"/>
              </a:lnSpc>
              <a:spcBef>
                <a:spcPts val="0"/>
              </a:spcBef>
              <a:spcAft>
                <a:spcPts val="0"/>
              </a:spcAft>
            </a:pPr>
            <a:r>
              <a:rPr sz="1300" b="0" i="0">
                <a:solidFill>
                  <a:srgbClr val="444E59"/>
                </a:solidFill>
                <a:latin typeface="Calibri"/>
              </a:rPr>
              <a:t>Evaluate whether performance improvements generalise to code functionalities not represented during training.</a:t>
            </a:r>
          </a:p>
        </p:txBody>
      </p:sp>
      <p:sp>
        <p:nvSpPr>
          <p:cNvPr id="19" name="Rounded Rectangle 18"/>
          <p:cNvSpPr/>
          <p:nvPr/>
        </p:nvSpPr>
        <p:spPr>
          <a:xfrm>
            <a:off x="658368" y="4352544"/>
            <a:ext cx="10874959" cy="530352"/>
          </a:xfrm>
          <a:prstGeom prst="roundRect">
            <a:avLst>
              <a:gd name="adj" fmla="val 9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443983"/>
            <a:ext cx="329184" cy="329184"/>
          </a:xfrm>
          <a:prstGeom prst="roundRect">
            <a:avLst>
              <a:gd name="adj" fmla="val 35000"/>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200" b="1" i="0">
                <a:solidFill>
                  <a:srgbClr val="FFFFFF"/>
                </a:solidFill>
                <a:latin typeface="Calibri"/>
              </a:rPr>
              <a:t>4</a:t>
            </a:r>
          </a:p>
        </p:txBody>
      </p:sp>
      <p:sp>
        <p:nvSpPr>
          <p:cNvPr id="21" name="TextBox 20"/>
          <p:cNvSpPr txBox="1"/>
          <p:nvPr/>
        </p:nvSpPr>
        <p:spPr>
          <a:xfrm>
            <a:off x="1298448" y="4443983"/>
            <a:ext cx="10051999" cy="384048"/>
          </a:xfrm>
          <a:prstGeom prst="rect">
            <a:avLst/>
          </a:prstGeom>
          <a:noFill/>
        </p:spPr>
        <p:txBody>
          <a:bodyPr wrap="square" anchor="t" lIns="0" rIns="0" tIns="0" bIns="0">
            <a:spAutoFit/>
          </a:bodyPr>
          <a:lstStyle/>
          <a:p>
            <a:pPr algn="l">
              <a:lnSpc>
                <a:spcPct val="115000"/>
              </a:lnSpc>
              <a:spcBef>
                <a:spcPts val="0"/>
              </a:spcBef>
              <a:spcAft>
                <a:spcPts val="0"/>
              </a:spcAft>
            </a:pPr>
            <a:r>
              <a:rPr sz="1300" b="0" i="0">
                <a:solidFill>
                  <a:srgbClr val="444E59"/>
                </a:solidFill>
                <a:latin typeface="Calibri"/>
              </a:rPr>
              <a:t>Demonstrate differences in embedding quality across strategies, visually and empirically.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04  ·  OBJECTIVES</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Expected Contributions</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Objectives</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17</a:t>
            </a:r>
          </a:p>
        </p:txBody>
      </p:sp>
      <p:sp>
        <p:nvSpPr>
          <p:cNvPr id="7" name="Rounded Rectangle 6"/>
          <p:cNvSpPr/>
          <p:nvPr/>
        </p:nvSpPr>
        <p:spPr>
          <a:xfrm>
            <a:off x="658368" y="1463040"/>
            <a:ext cx="3474720" cy="2823117"/>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63040"/>
            <a:ext cx="50292" cy="282311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609344"/>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A controlled comparison</a:t>
            </a:r>
          </a:p>
        </p:txBody>
      </p:sp>
      <p:sp>
        <p:nvSpPr>
          <p:cNvPr id="10" name="TextBox 9"/>
          <p:cNvSpPr txBox="1"/>
          <p:nvPr/>
        </p:nvSpPr>
        <p:spPr>
          <a:xfrm>
            <a:off x="896112" y="2011680"/>
            <a:ext cx="3063239" cy="2146461"/>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A direct comparison of negative-sampling strategies for contrastive fine-tuning in this domain, with everything else held constant.</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The strategy comparison is established for text retrieval; it has not been run for code.</a:t>
            </a:r>
          </a:p>
        </p:txBody>
      </p:sp>
      <p:sp>
        <p:nvSpPr>
          <p:cNvPr id="11" name="Rounded Rectangle 10"/>
          <p:cNvSpPr/>
          <p:nvPr/>
        </p:nvSpPr>
        <p:spPr>
          <a:xfrm>
            <a:off x="4352544" y="1463040"/>
            <a:ext cx="3474720" cy="2582575"/>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52544" y="1463040"/>
            <a:ext cx="50292" cy="2582575"/>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90288" y="1609344"/>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Cost-aware guidance</a:t>
            </a:r>
          </a:p>
        </p:txBody>
      </p:sp>
      <p:sp>
        <p:nvSpPr>
          <p:cNvPr id="14" name="TextBox 13"/>
          <p:cNvSpPr txBox="1"/>
          <p:nvPr/>
        </p:nvSpPr>
        <p:spPr>
          <a:xfrm>
            <a:off x="4590288" y="2011680"/>
            <a:ext cx="3063239" cy="1905919"/>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Evidence on whether “harder” mining strategies justify their added implementation cost over simple random sampling.</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Practically useful: mining pipelines cost engineering time, and today that decision is made on intuition.</a:t>
            </a:r>
          </a:p>
        </p:txBody>
      </p:sp>
      <p:sp>
        <p:nvSpPr>
          <p:cNvPr id="15" name="Rounded Rectangle 14"/>
          <p:cNvSpPr/>
          <p:nvPr/>
        </p:nvSpPr>
        <p:spPr>
          <a:xfrm>
            <a:off x="8055864" y="1463040"/>
            <a:ext cx="3474720" cy="2395728"/>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55864" y="1463040"/>
            <a:ext cx="50292" cy="2395728"/>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93608" y="1609344"/>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A reusable methodology</a:t>
            </a:r>
          </a:p>
        </p:txBody>
      </p:sp>
      <p:sp>
        <p:nvSpPr>
          <p:cNvPr id="18" name="TextBox 17"/>
          <p:cNvSpPr txBox="1"/>
          <p:nvPr/>
        </p:nvSpPr>
        <p:spPr>
          <a:xfrm>
            <a:off x="8293608" y="2011680"/>
            <a:ext cx="3063239" cy="1719072"/>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A generalisation-focused evaluation design that responds directly to documented benchmark-overfitting concerns.</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Applicable beyond this test case, to any domain-adaptation study.</a:t>
            </a:r>
          </a:p>
        </p:txBody>
      </p:sp>
      <p:sp>
        <p:nvSpPr>
          <p:cNvPr id="19" name="Rounded Rectangle 18"/>
          <p:cNvSpPr/>
          <p:nvPr/>
        </p:nvSpPr>
        <p:spPr>
          <a:xfrm>
            <a:off x="658368" y="4078224"/>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58368" y="4078224"/>
            <a:ext cx="54864" cy="1119560"/>
          </a:xfrm>
          <a:prstGeom prst="rect">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77824" y="4215384"/>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What we deliberately do not claim</a:t>
            </a:r>
          </a:p>
          <a:p>
            <a:pPr algn="l">
              <a:lnSpc>
                <a:spcPct val="117000"/>
              </a:lnSpc>
              <a:spcBef>
                <a:spcPts val="0"/>
              </a:spcBef>
              <a:spcAft>
                <a:spcPts val="300"/>
              </a:spcAft>
            </a:pPr>
            <a:r>
              <a:rPr sz="1250" b="0" i="0">
                <a:solidFill>
                  <a:srgbClr val="444E59"/>
                </a:solidFill>
                <a:latin typeface="Calibri"/>
              </a:rPr>
              <a:t>We do not claim the negative-strategy comparison is new in general — it is well established for natural-language retrieval. We claim it is unrun for code, and that its interaction with generalisation has not been measured in any domain.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2084831"/>
            <a:ext cx="2926080" cy="1371600"/>
          </a:xfrm>
          <a:prstGeom prst="rect">
            <a:avLst/>
          </a:prstGeom>
          <a:noFill/>
        </p:spPr>
        <p:txBody>
          <a:bodyPr wrap="square" anchor="t" lIns="0" rIns="0" tIns="0" bIns="0">
            <a:spAutoFit/>
          </a:bodyPr>
          <a:lstStyle/>
          <a:p>
            <a:pPr algn="l">
              <a:lnSpc>
                <a:spcPct val="115000"/>
              </a:lnSpc>
              <a:spcBef>
                <a:spcPts val="0"/>
              </a:spcBef>
              <a:spcAft>
                <a:spcPts val="0"/>
              </a:spcAft>
            </a:pPr>
            <a:r>
              <a:rPr sz="7400" b="1" i="0">
                <a:solidFill>
                  <a:srgbClr val="E8734A"/>
                </a:solidFill>
                <a:latin typeface="Calibri"/>
              </a:rPr>
              <a:t>05</a:t>
            </a:r>
          </a:p>
        </p:txBody>
      </p:sp>
      <p:sp>
        <p:nvSpPr>
          <p:cNvPr id="5" name="TextBox 4"/>
          <p:cNvSpPr txBox="1"/>
          <p:nvPr/>
        </p:nvSpPr>
        <p:spPr>
          <a:xfrm>
            <a:off x="960120" y="3310128"/>
            <a:ext cx="9692640" cy="777240"/>
          </a:xfrm>
          <a:prstGeom prst="rect">
            <a:avLst/>
          </a:prstGeom>
          <a:noFill/>
        </p:spPr>
        <p:txBody>
          <a:bodyPr wrap="square" anchor="t" lIns="0" rIns="0" tIns="0" bIns="0">
            <a:spAutoFit/>
          </a:bodyPr>
          <a:lstStyle/>
          <a:p>
            <a:pPr algn="l">
              <a:lnSpc>
                <a:spcPct val="115000"/>
              </a:lnSpc>
              <a:spcBef>
                <a:spcPts val="0"/>
              </a:spcBef>
              <a:spcAft>
                <a:spcPts val="0"/>
              </a:spcAft>
            </a:pPr>
            <a:r>
              <a:rPr sz="3800" b="1" i="0">
                <a:solidFill>
                  <a:srgbClr val="FFFFFF"/>
                </a:solidFill>
                <a:latin typeface="Calibri"/>
              </a:rPr>
              <a:t>Methodology</a:t>
            </a:r>
          </a:p>
        </p:txBody>
      </p:sp>
      <p:sp>
        <p:nvSpPr>
          <p:cNvPr id="6" name="TextBox 5"/>
          <p:cNvSpPr txBox="1"/>
          <p:nvPr/>
        </p:nvSpPr>
        <p:spPr>
          <a:xfrm>
            <a:off x="960120" y="4224528"/>
            <a:ext cx="9509760" cy="82296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B9C6D4"/>
                </a:solidFill>
                <a:latin typeface="Calibri"/>
              </a:rPr>
              <a:t>Design, data, analysis and tools — with one variable and everything else held constant.</a:t>
            </a:r>
          </a:p>
        </p:txBody>
      </p:sp>
      <p:sp>
        <p:nvSpPr>
          <p:cNvPr id="7" name="Rectangle 6"/>
          <p:cNvSpPr/>
          <p:nvPr/>
        </p:nvSpPr>
        <p:spPr>
          <a:xfrm>
            <a:off x="960120" y="4041648"/>
            <a:ext cx="1371600" cy="50292"/>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05  ·  METHODOLOGY</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Research Design</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1298448"/>
            <a:ext cx="10874959" cy="274320"/>
          </a:xfrm>
          <a:prstGeom prst="rect">
            <a:avLst/>
          </a:prstGeom>
          <a:noFill/>
        </p:spPr>
        <p:txBody>
          <a:bodyPr wrap="square" anchor="t" lIns="0" rIns="0" tIns="0" bIns="0">
            <a:spAutoFit/>
          </a:bodyPr>
          <a:lstStyle/>
          <a:p>
            <a:pPr algn="l">
              <a:lnSpc>
                <a:spcPct val="115000"/>
              </a:lnSpc>
              <a:spcBef>
                <a:spcPts val="0"/>
              </a:spcBef>
              <a:spcAft>
                <a:spcPts val="600"/>
              </a:spcAft>
            </a:pPr>
            <a:r>
              <a:rPr sz="1250" b="0" i="0">
                <a:solidFill>
                  <a:srgbClr val="87919D"/>
                </a:solidFill>
                <a:latin typeface="Calibri"/>
              </a:rPr>
              <a:t>Quantitative, controlled, and deliberately narrow.</a:t>
            </a:r>
          </a:p>
        </p:txBody>
      </p:sp>
      <p:sp>
        <p:nvSpPr>
          <p:cNvPr id="6" name="TextBox 5"/>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Methodology</a:t>
            </a:r>
          </a:p>
        </p:txBody>
      </p:sp>
      <p:sp>
        <p:nvSpPr>
          <p:cNvPr id="7" name="TextBox 6"/>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19</a:t>
            </a:r>
          </a:p>
        </p:txBody>
      </p:sp>
      <p:sp>
        <p:nvSpPr>
          <p:cNvPr id="8" name="TextBox 7"/>
          <p:cNvSpPr txBox="1"/>
          <p:nvPr/>
        </p:nvSpPr>
        <p:spPr>
          <a:xfrm>
            <a:off x="658368" y="1426464"/>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00" b="1" i="0">
                <a:solidFill>
                  <a:srgbClr val="1F6FB2"/>
                </a:solidFill>
                <a:latin typeface="Calibri"/>
              </a:rPr>
              <a:t>▪  </a:t>
            </a:r>
            <a:r>
              <a:rPr sz="1400" b="1" i="0">
                <a:solidFill>
                  <a:srgbClr val="16202B"/>
                </a:solidFill>
                <a:latin typeface="Calibri"/>
              </a:rPr>
              <a:t>Design: </a:t>
            </a:r>
            <a:r>
              <a:rPr sz="1400" b="0" i="0">
                <a:solidFill>
                  <a:srgbClr val="444E59"/>
                </a:solidFill>
                <a:latin typeface="Calibri"/>
              </a:rPr>
              <a:t>Quantitative, controlled experimental design. Four conditions compared under identical settings.</a:t>
            </a:r>
          </a:p>
        </p:txBody>
      </p:sp>
      <p:sp>
        <p:nvSpPr>
          <p:cNvPr id="9" name="TextBox 8"/>
          <p:cNvSpPr txBox="1"/>
          <p:nvPr/>
        </p:nvSpPr>
        <p:spPr>
          <a:xfrm>
            <a:off x="658368" y="1920240"/>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400" b="1" i="0">
                <a:solidFill>
                  <a:srgbClr val="1F6FB2"/>
                </a:solidFill>
                <a:latin typeface="Calibri"/>
              </a:rPr>
              <a:t>▪  </a:t>
            </a:r>
            <a:r>
              <a:rPr sz="1400" b="1" i="0">
                <a:solidFill>
                  <a:srgbClr val="16202B"/>
                </a:solidFill>
                <a:latin typeface="Calibri"/>
              </a:rPr>
              <a:t>Control: </a:t>
            </a:r>
            <a:r>
              <a:rPr sz="1400" b="0" i="0">
                <a:solidFill>
                  <a:srgbClr val="444E59"/>
                </a:solidFill>
                <a:latin typeface="Calibri"/>
              </a:rPr>
              <a:t>Only the negative-sampling method differs between the three fine-tuned conditions. Model, loss, positive pairs, subset size, epochs, batch size and learning rate are held constant.</a:t>
            </a:r>
          </a:p>
        </p:txBody>
      </p:sp>
      <p:graphicFrame>
        <p:nvGraphicFramePr>
          <p:cNvPr id="10" name="Table 9"/>
          <p:cNvGraphicFramePr>
            <a:graphicFrameLocks noGrp="1"/>
          </p:cNvGraphicFramePr>
          <p:nvPr/>
        </p:nvGraphicFramePr>
        <p:xfrm>
          <a:off x="658368" y="2578608"/>
          <a:ext cx="10874957" cy="2322576"/>
        </p:xfrm>
        <a:graphic>
          <a:graphicData uri="http://schemas.openxmlformats.org/drawingml/2006/table">
            <a:tbl>
              <a:tblPr firstRow="1">
                <a:tableStyleId>{5C22544A-7EE6-4342-B048-85BDC9FD1C3A}</a:tableStyleId>
              </a:tblPr>
              <a:tblGrid>
                <a:gridCol w="1279406"/>
                <a:gridCol w="2166737"/>
                <a:gridCol w="3817585"/>
                <a:gridCol w="3611229"/>
              </a:tblGrid>
              <a:tr h="420624">
                <a:tc>
                  <a:txBody>
                    <a:bodyPr wrap="square"/>
                    <a:lstStyle/>
                    <a:p>
                      <a:pPr algn="ctr">
                        <a:lnSpc>
                          <a:spcPct val="112000"/>
                        </a:lnSpc>
                        <a:spcBef>
                          <a:spcPts val="0"/>
                        </a:spcBef>
                        <a:spcAft>
                          <a:spcPts val="0"/>
                        </a:spcAft>
                      </a:pPr>
                      <a:r>
                        <a:rPr sz="1150" b="1" i="0">
                          <a:solidFill>
                            <a:srgbClr val="FFFFFF"/>
                          </a:solidFill>
                          <a:latin typeface="Calibri"/>
                        </a:rPr>
                        <a:t>Condition</a:t>
                      </a:r>
                    </a:p>
                  </a:txBody>
                  <a:tcPr marL="100584" marR="100584" marT="45720" marB="45720" anchor="ctr">
                    <a:solidFill>
                      <a:srgbClr val="12263A"/>
                    </a:solidFill>
                  </a:tcPr>
                </a:tc>
                <a:tc>
                  <a:txBody>
                    <a:bodyPr wrap="square"/>
                    <a:lstStyle/>
                    <a:p>
                      <a:pPr algn="l">
                        <a:lnSpc>
                          <a:spcPct val="112000"/>
                        </a:lnSpc>
                        <a:spcBef>
                          <a:spcPts val="0"/>
                        </a:spcBef>
                        <a:spcAft>
                          <a:spcPts val="0"/>
                        </a:spcAft>
                      </a:pPr>
                      <a:r>
                        <a:rPr sz="1150" b="1" i="0">
                          <a:solidFill>
                            <a:srgbClr val="FFFFFF"/>
                          </a:solidFill>
                          <a:latin typeface="Calibri"/>
                        </a:rPr>
                        <a:t>Fine-tuning</a:t>
                      </a:r>
                    </a:p>
                  </a:txBody>
                  <a:tcPr marL="100584" marR="100584" marT="45720" marB="45720" anchor="ctr">
                    <a:solidFill>
                      <a:srgbClr val="12263A"/>
                    </a:solidFill>
                  </a:tcPr>
                </a:tc>
                <a:tc>
                  <a:txBody>
                    <a:bodyPr wrap="square"/>
                    <a:lstStyle/>
                    <a:p>
                      <a:pPr algn="l">
                        <a:lnSpc>
                          <a:spcPct val="112000"/>
                        </a:lnSpc>
                        <a:spcBef>
                          <a:spcPts val="0"/>
                        </a:spcBef>
                        <a:spcAft>
                          <a:spcPts val="0"/>
                        </a:spcAft>
                      </a:pPr>
                      <a:r>
                        <a:rPr sz="1150" b="1" i="0">
                          <a:solidFill>
                            <a:srgbClr val="FFFFFF"/>
                          </a:solidFill>
                          <a:latin typeface="Calibri"/>
                        </a:rPr>
                        <a:t>Negative examples are chosen by</a:t>
                      </a:r>
                    </a:p>
                  </a:txBody>
                  <a:tcPr marL="100584" marR="100584" marT="45720" marB="45720" anchor="ctr">
                    <a:solidFill>
                      <a:srgbClr val="12263A"/>
                    </a:solidFill>
                  </a:tcPr>
                </a:tc>
                <a:tc>
                  <a:txBody>
                    <a:bodyPr wrap="square"/>
                    <a:lstStyle/>
                    <a:p>
                      <a:pPr algn="l">
                        <a:lnSpc>
                          <a:spcPct val="112000"/>
                        </a:lnSpc>
                        <a:spcBef>
                          <a:spcPts val="0"/>
                        </a:spcBef>
                        <a:spcAft>
                          <a:spcPts val="0"/>
                        </a:spcAft>
                      </a:pPr>
                      <a:r>
                        <a:rPr sz="1150" b="1" i="0">
                          <a:solidFill>
                            <a:srgbClr val="FFFFFF"/>
                          </a:solidFill>
                          <a:latin typeface="Calibri"/>
                        </a:rPr>
                        <a:t>Role in the comparison</a:t>
                      </a:r>
                    </a:p>
                  </a:txBody>
                  <a:tcPr marL="100584" marR="100584" marT="45720" marB="45720" anchor="ctr">
                    <a:solidFill>
                      <a:srgbClr val="12263A"/>
                    </a:solidFill>
                  </a:tcPr>
                </a:tc>
              </a:tr>
              <a:tr h="475488">
                <a:tc>
                  <a:txBody>
                    <a:bodyPr wrap="square"/>
                    <a:lstStyle/>
                    <a:p>
                      <a:pPr algn="ctr">
                        <a:lnSpc>
                          <a:spcPct val="112000"/>
                        </a:lnSpc>
                        <a:spcBef>
                          <a:spcPts val="0"/>
                        </a:spcBef>
                        <a:spcAft>
                          <a:spcPts val="0"/>
                        </a:spcAft>
                      </a:pPr>
                      <a:r>
                        <a:rPr sz="1200" b="1" i="0">
                          <a:solidFill>
                            <a:srgbClr val="16202B"/>
                          </a:solidFill>
                          <a:latin typeface="Calibri"/>
                        </a:rPr>
                        <a:t>C0</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None — off the shelf</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n/a</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The control. Is fine-tuning worth it at all?</a:t>
                      </a:r>
                    </a:p>
                  </a:txBody>
                  <a:tcPr marL="100584" marR="100584" marT="45720" marB="45720" anchor="ctr">
                    <a:solidFill>
                      <a:srgbClr val="FFFFFF"/>
                    </a:solidFill>
                  </a:tcPr>
                </a:tc>
              </a:tr>
              <a:tr h="475488">
                <a:tc>
                  <a:txBody>
                    <a:bodyPr wrap="square"/>
                    <a:lstStyle/>
                    <a:p>
                      <a:pPr algn="ctr">
                        <a:lnSpc>
                          <a:spcPct val="112000"/>
                        </a:lnSpc>
                        <a:spcBef>
                          <a:spcPts val="0"/>
                        </a:spcBef>
                        <a:spcAft>
                          <a:spcPts val="0"/>
                        </a:spcAft>
                      </a:pPr>
                      <a:r>
                        <a:rPr sz="1200" b="1" i="0">
                          <a:solidFill>
                            <a:srgbClr val="16202B"/>
                          </a:solidFill>
                          <a:latin typeface="Calibri"/>
                        </a:rPr>
                        <a:t>C1</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Yes</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Random selection among non-clones</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The default practitioners actually use</a:t>
                      </a:r>
                    </a:p>
                  </a:txBody>
                  <a:tcPr marL="100584" marR="100584" marT="45720" marB="45720" anchor="ctr">
                    <a:solidFill>
                      <a:srgbClr val="FAFBFD"/>
                    </a:solidFill>
                  </a:tcPr>
                </a:tc>
              </a:tr>
              <a:tr h="475488">
                <a:tc>
                  <a:txBody>
                    <a:bodyPr wrap="square"/>
                    <a:lstStyle/>
                    <a:p>
                      <a:pPr algn="ctr">
                        <a:lnSpc>
                          <a:spcPct val="112000"/>
                        </a:lnSpc>
                        <a:spcBef>
                          <a:spcPts val="0"/>
                        </a:spcBef>
                        <a:spcAft>
                          <a:spcPts val="0"/>
                        </a:spcAft>
                      </a:pPr>
                      <a:r>
                        <a:rPr sz="1200" b="1" i="0">
                          <a:solidFill>
                            <a:srgbClr val="16202B"/>
                          </a:solidFill>
                          <a:latin typeface="Calibri"/>
                        </a:rPr>
                        <a:t>C2</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Yes</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BM25 retrieval — keyword-similar</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Hard negatives, cheap and deterministic</a:t>
                      </a:r>
                    </a:p>
                  </a:txBody>
                  <a:tcPr marL="100584" marR="100584" marT="45720" marB="45720" anchor="ctr">
                    <a:solidFill>
                      <a:srgbClr val="FFFFFF"/>
                    </a:solidFill>
                  </a:tcPr>
                </a:tc>
              </a:tr>
              <a:tr h="475488">
                <a:tc>
                  <a:txBody>
                    <a:bodyPr wrap="square"/>
                    <a:lstStyle/>
                    <a:p>
                      <a:pPr algn="ctr">
                        <a:lnSpc>
                          <a:spcPct val="112000"/>
                        </a:lnSpc>
                        <a:spcBef>
                          <a:spcPts val="0"/>
                        </a:spcBef>
                        <a:spcAft>
                          <a:spcPts val="0"/>
                        </a:spcAft>
                      </a:pPr>
                      <a:r>
                        <a:rPr sz="1200" b="1" i="0">
                          <a:solidFill>
                            <a:srgbClr val="16202B"/>
                          </a:solidFill>
                          <a:latin typeface="Calibri"/>
                        </a:rPr>
                        <a:t>C3</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Yes</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Base-model embeddings — semantically similar</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Hardest negatives, and the riskiest</a:t>
                      </a:r>
                    </a:p>
                  </a:txBody>
                  <a:tcPr marL="100584" marR="100584" marT="45720" marB="45720" anchor="ctr">
                    <a:solidFill>
                      <a:srgbClr val="FAFBFD"/>
                    </a:solidFill>
                  </a:tcPr>
                </a:tc>
              </a:tr>
            </a:tbl>
          </a:graphicData>
        </a:graphic>
      </p:graphicFrame>
      <p:sp>
        <p:nvSpPr>
          <p:cNvPr id="11" name="Rounded Rectangle 10"/>
          <p:cNvSpPr/>
          <p:nvPr/>
        </p:nvSpPr>
        <p:spPr>
          <a:xfrm>
            <a:off x="658368" y="4937760"/>
            <a:ext cx="10874959" cy="1225296"/>
          </a:xfrm>
          <a:prstGeom prst="roundRect">
            <a:avLst>
              <a:gd name="adj" fmla="val 60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4937760"/>
            <a:ext cx="54864" cy="122529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102352"/>
            <a:ext cx="10326319" cy="932688"/>
          </a:xfrm>
          <a:prstGeom prst="rect">
            <a:avLst/>
          </a:prstGeom>
          <a:noFill/>
        </p:spPr>
        <p:txBody>
          <a:bodyPr wrap="square" anchor="t" lIns="0" rIns="0" tIns="0" bIns="0">
            <a:spAutoFit/>
          </a:bodyPr>
          <a:lstStyle/>
          <a:p>
            <a:pPr algn="l">
              <a:lnSpc>
                <a:spcPct val="120000"/>
              </a:lnSpc>
              <a:spcBef>
                <a:spcPts val="0"/>
              </a:spcBef>
              <a:spcAft>
                <a:spcPts val="400"/>
              </a:spcAft>
            </a:pPr>
            <a:r>
              <a:rPr sz="1350" b="1" i="0">
                <a:solidFill>
                  <a:srgbClr val="16202B"/>
                </a:solidFill>
                <a:latin typeface="Calibri"/>
              </a:rPr>
              <a:t>One variable, held constant everywhere else</a:t>
            </a:r>
          </a:p>
          <a:p>
            <a:pPr algn="l">
              <a:lnSpc>
                <a:spcPct val="120000"/>
              </a:lnSpc>
              <a:spcBef>
                <a:spcPts val="0"/>
              </a:spcBef>
              <a:spcAft>
                <a:spcPts val="0"/>
              </a:spcAft>
            </a:pPr>
            <a:r>
              <a:rPr sz="1250" b="0" i="0">
                <a:solidFill>
                  <a:srgbClr val="444E59"/>
                </a:solidFill>
                <a:latin typeface="Calibri"/>
              </a:rPr>
              <a:t>The same positive pairs are used in all four conditions. Because only the negatives change, any difference in the result is attributable to the negative-selection method.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05  ·  METHODOLOGY</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Building the Negative Pairs</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1298448"/>
            <a:ext cx="10874959" cy="274320"/>
          </a:xfrm>
          <a:prstGeom prst="rect">
            <a:avLst/>
          </a:prstGeom>
          <a:noFill/>
        </p:spPr>
        <p:txBody>
          <a:bodyPr wrap="square" anchor="t" lIns="0" rIns="0" tIns="0" bIns="0">
            <a:spAutoFit/>
          </a:bodyPr>
          <a:lstStyle/>
          <a:p>
            <a:pPr algn="l">
              <a:lnSpc>
                <a:spcPct val="115000"/>
              </a:lnSpc>
              <a:spcBef>
                <a:spcPts val="0"/>
              </a:spcBef>
              <a:spcAft>
                <a:spcPts val="600"/>
              </a:spcAft>
            </a:pPr>
            <a:r>
              <a:rPr sz="1250" b="0" i="0">
                <a:solidFill>
                  <a:srgbClr val="87919D"/>
                </a:solidFill>
                <a:latin typeface="Calibri"/>
              </a:rPr>
              <a:t>Three strategies, one anchor — worked on a concrete example.</a:t>
            </a:r>
          </a:p>
        </p:txBody>
      </p:sp>
      <p:sp>
        <p:nvSpPr>
          <p:cNvPr id="6" name="TextBox 5"/>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Methodology</a:t>
            </a:r>
          </a:p>
        </p:txBody>
      </p:sp>
      <p:sp>
        <p:nvSpPr>
          <p:cNvPr id="7" name="TextBox 6"/>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20</a:t>
            </a:r>
          </a:p>
        </p:txBody>
      </p:sp>
      <p:sp>
        <p:nvSpPr>
          <p:cNvPr id="8" name="Rounded Rectangle 7"/>
          <p:cNvSpPr/>
          <p:nvPr/>
        </p:nvSpPr>
        <p:spPr>
          <a:xfrm>
            <a:off x="658368" y="1444752"/>
            <a:ext cx="3474720" cy="1481328"/>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444752"/>
            <a:ext cx="50292" cy="1481328"/>
          </a:xfrm>
          <a:prstGeom prst="rect">
            <a:avLst/>
          </a:prstGeom>
          <a:solidFill>
            <a:srgbClr val="879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96112" y="1591056"/>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Random</a:t>
            </a:r>
          </a:p>
        </p:txBody>
      </p:sp>
      <p:sp>
        <p:nvSpPr>
          <p:cNvPr id="11" name="TextBox 10"/>
          <p:cNvSpPr txBox="1"/>
          <p:nvPr/>
        </p:nvSpPr>
        <p:spPr>
          <a:xfrm>
            <a:off x="896112" y="1993392"/>
            <a:ext cx="3063239" cy="804672"/>
          </a:xfrm>
          <a:prstGeom prst="rect">
            <a:avLst/>
          </a:prstGeom>
          <a:noFill/>
        </p:spPr>
        <p:txBody>
          <a:bodyPr wrap="square" anchor="t" lIns="0" rIns="0" tIns="0" bIns="0">
            <a:spAutoFit/>
          </a:bodyPr>
          <a:lstStyle/>
          <a:p>
            <a:pPr algn="l">
              <a:lnSpc>
                <a:spcPct val="119000"/>
              </a:lnSpc>
              <a:spcBef>
                <a:spcPts val="0"/>
              </a:spcBef>
              <a:spcAft>
                <a:spcPts val="500"/>
              </a:spcAft>
            </a:pPr>
            <a:r>
              <a:rPr sz="1200" b="0" i="0">
                <a:solidFill>
                  <a:srgbClr val="444E59"/>
                </a:solidFill>
                <a:latin typeface="Calibri"/>
              </a:rPr>
              <a:t>Any non-clone snippet, chosen at random.</a:t>
            </a:r>
          </a:p>
          <a:p>
            <a:pPr algn="l">
              <a:lnSpc>
                <a:spcPct val="119000"/>
              </a:lnSpc>
              <a:spcBef>
                <a:spcPts val="0"/>
              </a:spcBef>
              <a:spcAft>
                <a:spcPts val="500"/>
              </a:spcAft>
            </a:pPr>
            <a:r>
              <a:rPr sz="1200" b="0" i="0">
                <a:solidFill>
                  <a:srgbClr val="444E59"/>
                </a:solidFill>
                <a:latin typeface="Calibri"/>
              </a:rPr>
              <a:t>Cost: none.  Difficulty: easy.</a:t>
            </a:r>
          </a:p>
        </p:txBody>
      </p:sp>
      <p:sp>
        <p:nvSpPr>
          <p:cNvPr id="12" name="Rounded Rectangle 11"/>
          <p:cNvSpPr/>
          <p:nvPr/>
        </p:nvSpPr>
        <p:spPr>
          <a:xfrm>
            <a:off x="4352544" y="1444752"/>
            <a:ext cx="3474720" cy="1523595"/>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52544" y="1444752"/>
            <a:ext cx="50292" cy="1523595"/>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90288" y="1591056"/>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BM25  (keyword-similar)</a:t>
            </a:r>
          </a:p>
        </p:txBody>
      </p:sp>
      <p:sp>
        <p:nvSpPr>
          <p:cNvPr id="15" name="TextBox 14"/>
          <p:cNvSpPr txBox="1"/>
          <p:nvPr/>
        </p:nvSpPr>
        <p:spPr>
          <a:xfrm>
            <a:off x="4590288" y="1993392"/>
            <a:ext cx="3063239" cy="846939"/>
          </a:xfrm>
          <a:prstGeom prst="rect">
            <a:avLst/>
          </a:prstGeom>
          <a:noFill/>
        </p:spPr>
        <p:txBody>
          <a:bodyPr wrap="square" anchor="t" lIns="0" rIns="0" tIns="0" bIns="0">
            <a:spAutoFit/>
          </a:bodyPr>
          <a:lstStyle/>
          <a:p>
            <a:pPr algn="l">
              <a:lnSpc>
                <a:spcPct val="119000"/>
              </a:lnSpc>
              <a:spcBef>
                <a:spcPts val="0"/>
              </a:spcBef>
              <a:spcAft>
                <a:spcPts val="500"/>
              </a:spcAft>
            </a:pPr>
            <a:r>
              <a:rPr sz="1200" b="0" i="0">
                <a:solidFill>
                  <a:srgbClr val="444E59"/>
                </a:solidFill>
                <a:latin typeface="Calibri"/>
              </a:rPr>
              <a:t>BM25 index over the corpus; top keyword matches; known clones removed.</a:t>
            </a:r>
          </a:p>
          <a:p>
            <a:pPr algn="l">
              <a:lnSpc>
                <a:spcPct val="119000"/>
              </a:lnSpc>
              <a:spcBef>
                <a:spcPts val="0"/>
              </a:spcBef>
              <a:spcAft>
                <a:spcPts val="500"/>
              </a:spcAft>
            </a:pPr>
            <a:r>
              <a:rPr sz="1200" b="0" i="0">
                <a:solidFill>
                  <a:srgbClr val="444E59"/>
                </a:solidFill>
                <a:latin typeface="Calibri"/>
              </a:rPr>
              <a:t>Finds: shared vocabulary.</a:t>
            </a:r>
          </a:p>
        </p:txBody>
      </p:sp>
      <p:sp>
        <p:nvSpPr>
          <p:cNvPr id="16" name="Rounded Rectangle 15"/>
          <p:cNvSpPr/>
          <p:nvPr/>
        </p:nvSpPr>
        <p:spPr>
          <a:xfrm>
            <a:off x="8055864" y="1444752"/>
            <a:ext cx="3474720" cy="1523595"/>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55864" y="1444752"/>
            <a:ext cx="50292" cy="1523595"/>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93608" y="1591056"/>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Semantic  (model-similar)</a:t>
            </a:r>
          </a:p>
        </p:txBody>
      </p:sp>
      <p:sp>
        <p:nvSpPr>
          <p:cNvPr id="19" name="TextBox 18"/>
          <p:cNvSpPr txBox="1"/>
          <p:nvPr/>
        </p:nvSpPr>
        <p:spPr>
          <a:xfrm>
            <a:off x="8293608" y="1993392"/>
            <a:ext cx="3063239" cy="846939"/>
          </a:xfrm>
          <a:prstGeom prst="rect">
            <a:avLst/>
          </a:prstGeom>
          <a:noFill/>
        </p:spPr>
        <p:txBody>
          <a:bodyPr wrap="square" anchor="t" lIns="0" rIns="0" tIns="0" bIns="0">
            <a:spAutoFit/>
          </a:bodyPr>
          <a:lstStyle/>
          <a:p>
            <a:pPr algn="l">
              <a:lnSpc>
                <a:spcPct val="119000"/>
              </a:lnSpc>
              <a:spcBef>
                <a:spcPts val="0"/>
              </a:spcBef>
              <a:spcAft>
                <a:spcPts val="500"/>
              </a:spcAft>
            </a:pPr>
            <a:r>
              <a:rPr sz="1200" b="0" i="0">
                <a:solidFill>
                  <a:srgbClr val="444E59"/>
                </a:solidFill>
                <a:latin typeface="Calibri"/>
              </a:rPr>
              <a:t>Base model embeds the corpus once; top cosine matches; clones removed.</a:t>
            </a:r>
          </a:p>
          <a:p>
            <a:pPr algn="l">
              <a:lnSpc>
                <a:spcPct val="119000"/>
              </a:lnSpc>
              <a:spcBef>
                <a:spcPts val="0"/>
              </a:spcBef>
              <a:spcAft>
                <a:spcPts val="500"/>
              </a:spcAft>
            </a:pPr>
            <a:r>
              <a:rPr sz="1200" b="0" i="0">
                <a:solidFill>
                  <a:srgbClr val="444E59"/>
                </a:solidFill>
                <a:latin typeface="Calibri"/>
              </a:rPr>
              <a:t>Finds: what the model already confuses.</a:t>
            </a:r>
          </a:p>
        </p:txBody>
      </p:sp>
      <p:sp>
        <p:nvSpPr>
          <p:cNvPr id="20" name="Rounded Rectangle 19"/>
          <p:cNvSpPr/>
          <p:nvPr/>
        </p:nvSpPr>
        <p:spPr>
          <a:xfrm>
            <a:off x="658368" y="3090672"/>
            <a:ext cx="3474720" cy="1755648"/>
          </a:xfrm>
          <a:prstGeom prst="roundRect">
            <a:avLst>
              <a:gd name="adj" fmla="val 3000"/>
            </a:avLst>
          </a:prstGeom>
          <a:solidFill>
            <a:srgbClr val="F7F9FC"/>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58368" y="3090672"/>
            <a:ext cx="3474720" cy="310896"/>
          </a:xfrm>
          <a:prstGeom prst="rect">
            <a:avLst/>
          </a:prstGeom>
          <a:solidFill>
            <a:srgbClr val="E9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04672" y="3140964"/>
            <a:ext cx="3200400" cy="237744"/>
          </a:xfrm>
          <a:prstGeom prst="rect">
            <a:avLst/>
          </a:prstGeom>
          <a:noFill/>
        </p:spPr>
        <p:txBody>
          <a:bodyPr wrap="square" anchor="t" lIns="0" rIns="0" tIns="0" bIns="0">
            <a:spAutoFit/>
          </a:bodyPr>
          <a:lstStyle/>
          <a:p>
            <a:pPr algn="l">
              <a:lnSpc>
                <a:spcPct val="115000"/>
              </a:lnSpc>
              <a:spcBef>
                <a:spcPts val="0"/>
              </a:spcBef>
              <a:spcAft>
                <a:spcPts val="600"/>
              </a:spcAft>
            </a:pPr>
            <a:r>
              <a:rPr sz="1150" b="1" i="0">
                <a:solidFill>
                  <a:srgbClr val="16202B"/>
                </a:solidFill>
                <a:latin typeface="Calibri"/>
              </a:rPr>
              <a:t>Anchor</a:t>
            </a:r>
          </a:p>
        </p:txBody>
      </p:sp>
      <p:sp>
        <p:nvSpPr>
          <p:cNvPr id="23" name="TextBox 22"/>
          <p:cNvSpPr txBox="1"/>
          <p:nvPr/>
        </p:nvSpPr>
        <p:spPr>
          <a:xfrm>
            <a:off x="822959" y="3511296"/>
            <a:ext cx="3163824" cy="1225295"/>
          </a:xfrm>
          <a:prstGeom prst="rect">
            <a:avLst/>
          </a:prstGeom>
          <a:noFill/>
        </p:spPr>
        <p:txBody>
          <a:bodyPr wrap="square" anchor="t" lIns="0" rIns="0" tIns="0" bIns="0">
            <a:spAutoFit/>
          </a:bodyPr>
          <a:lstStyle/>
          <a:p>
            <a:pPr algn="l">
              <a:lnSpc>
                <a:spcPct val="102000"/>
              </a:lnSpc>
              <a:spcBef>
                <a:spcPts val="0"/>
              </a:spcBef>
              <a:spcAft>
                <a:spcPts val="100"/>
              </a:spcAft>
            </a:pPr>
            <a:r>
              <a:rPr sz="1050" b="0" i="0">
                <a:solidFill>
                  <a:srgbClr val="444E59"/>
                </a:solidFill>
                <a:latin typeface="Consolas"/>
              </a:rPr>
              <a:t>void bubbleSort(int[] a) {</a:t>
            </a:r>
          </a:p>
          <a:p>
            <a:pPr algn="l">
              <a:lnSpc>
                <a:spcPct val="102000"/>
              </a:lnSpc>
              <a:spcBef>
                <a:spcPts val="0"/>
              </a:spcBef>
              <a:spcAft>
                <a:spcPts val="100"/>
              </a:spcAft>
            </a:pPr>
            <a:r>
              <a:rPr sz="1050" b="0" i="0">
                <a:solidFill>
                  <a:srgbClr val="444E59"/>
                </a:solidFill>
                <a:latin typeface="Consolas"/>
              </a:rPr>
              <a:t>  for (int i = 0; i &lt; a.length; i++)</a:t>
            </a:r>
          </a:p>
          <a:p>
            <a:pPr algn="l">
              <a:lnSpc>
                <a:spcPct val="102000"/>
              </a:lnSpc>
              <a:spcBef>
                <a:spcPts val="0"/>
              </a:spcBef>
              <a:spcAft>
                <a:spcPts val="100"/>
              </a:spcAft>
            </a:pPr>
            <a:r>
              <a:rPr sz="1050" b="0" i="0">
                <a:solidFill>
                  <a:srgbClr val="444E59"/>
                </a:solidFill>
                <a:latin typeface="Consolas"/>
              </a:rPr>
              <a:t>    for (int j = 0; j &lt; a.length-1; j++)</a:t>
            </a:r>
          </a:p>
          <a:p>
            <a:pPr algn="l">
              <a:lnSpc>
                <a:spcPct val="102000"/>
              </a:lnSpc>
              <a:spcBef>
                <a:spcPts val="0"/>
              </a:spcBef>
              <a:spcAft>
                <a:spcPts val="100"/>
              </a:spcAft>
            </a:pPr>
            <a:r>
              <a:rPr sz="1050" b="0" i="0">
                <a:solidFill>
                  <a:srgbClr val="444E59"/>
                </a:solidFill>
                <a:latin typeface="Consolas"/>
              </a:rPr>
              <a:t>      if (a[j] &gt; a[j+1]) swap(a, j, j+1);</a:t>
            </a:r>
          </a:p>
          <a:p>
            <a:pPr algn="l">
              <a:lnSpc>
                <a:spcPct val="102000"/>
              </a:lnSpc>
              <a:spcBef>
                <a:spcPts val="0"/>
              </a:spcBef>
              <a:spcAft>
                <a:spcPts val="100"/>
              </a:spcAft>
            </a:pPr>
            <a:r>
              <a:rPr sz="1050" b="0" i="0">
                <a:solidFill>
                  <a:srgbClr val="444E59"/>
                </a:solidFill>
                <a:latin typeface="Consolas"/>
              </a:rPr>
              <a:t>}</a:t>
            </a:r>
          </a:p>
        </p:txBody>
      </p:sp>
      <p:sp>
        <p:nvSpPr>
          <p:cNvPr id="24" name="Rounded Rectangle 23"/>
          <p:cNvSpPr/>
          <p:nvPr/>
        </p:nvSpPr>
        <p:spPr>
          <a:xfrm>
            <a:off x="4352544" y="3090672"/>
            <a:ext cx="3474720" cy="1755648"/>
          </a:xfrm>
          <a:prstGeom prst="roundRect">
            <a:avLst>
              <a:gd name="adj" fmla="val 3000"/>
            </a:avLst>
          </a:prstGeom>
          <a:solidFill>
            <a:srgbClr val="F7F9FC"/>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352544" y="3090672"/>
            <a:ext cx="3474720" cy="310896"/>
          </a:xfrm>
          <a:prstGeom prst="rect">
            <a:avLst/>
          </a:prstGeom>
          <a:solidFill>
            <a:srgbClr val="E9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98848" y="3140964"/>
            <a:ext cx="3200400" cy="237744"/>
          </a:xfrm>
          <a:prstGeom prst="rect">
            <a:avLst/>
          </a:prstGeom>
          <a:noFill/>
        </p:spPr>
        <p:txBody>
          <a:bodyPr wrap="square" anchor="t" lIns="0" rIns="0" tIns="0" bIns="0">
            <a:spAutoFit/>
          </a:bodyPr>
          <a:lstStyle/>
          <a:p>
            <a:pPr algn="l">
              <a:lnSpc>
                <a:spcPct val="115000"/>
              </a:lnSpc>
              <a:spcBef>
                <a:spcPts val="0"/>
              </a:spcBef>
              <a:spcAft>
                <a:spcPts val="600"/>
              </a:spcAft>
            </a:pPr>
            <a:r>
              <a:rPr sz="1150" b="1" i="0">
                <a:solidFill>
                  <a:srgbClr val="16202B"/>
                </a:solidFill>
                <a:latin typeface="Calibri"/>
              </a:rPr>
              <a:t>Random negative  —  easy</a:t>
            </a:r>
          </a:p>
        </p:txBody>
      </p:sp>
      <p:sp>
        <p:nvSpPr>
          <p:cNvPr id="27" name="TextBox 26"/>
          <p:cNvSpPr txBox="1"/>
          <p:nvPr/>
        </p:nvSpPr>
        <p:spPr>
          <a:xfrm>
            <a:off x="4517136" y="3511296"/>
            <a:ext cx="3163824" cy="1225295"/>
          </a:xfrm>
          <a:prstGeom prst="rect">
            <a:avLst/>
          </a:prstGeom>
          <a:noFill/>
        </p:spPr>
        <p:txBody>
          <a:bodyPr wrap="square" anchor="t" lIns="0" rIns="0" tIns="0" bIns="0">
            <a:spAutoFit/>
          </a:bodyPr>
          <a:lstStyle/>
          <a:p>
            <a:pPr algn="l">
              <a:lnSpc>
                <a:spcPct val="102000"/>
              </a:lnSpc>
              <a:spcBef>
                <a:spcPts val="0"/>
              </a:spcBef>
              <a:spcAft>
                <a:spcPts val="100"/>
              </a:spcAft>
            </a:pPr>
            <a:r>
              <a:rPr sz="1050" b="0" i="0">
                <a:solidFill>
                  <a:srgbClr val="87919D"/>
                </a:solidFill>
                <a:latin typeface="Consolas"/>
              </a:rPr>
              <a:t>// unrelated: no shared keywords</a:t>
            </a:r>
          </a:p>
          <a:p>
            <a:pPr algn="l">
              <a:lnSpc>
                <a:spcPct val="102000"/>
              </a:lnSpc>
              <a:spcBef>
                <a:spcPts val="0"/>
              </a:spcBef>
              <a:spcAft>
                <a:spcPts val="100"/>
              </a:spcAft>
            </a:pPr>
            <a:r>
              <a:rPr sz="1050" b="0" i="0">
                <a:solidFill>
                  <a:srgbClr val="444E59"/>
                </a:solidFill>
                <a:latin typeface="Consolas"/>
              </a:rPr>
              <a:t>Connection connectDb(String url) {</a:t>
            </a:r>
          </a:p>
          <a:p>
            <a:pPr algn="l">
              <a:lnSpc>
                <a:spcPct val="102000"/>
              </a:lnSpc>
              <a:spcBef>
                <a:spcPts val="0"/>
              </a:spcBef>
              <a:spcAft>
                <a:spcPts val="100"/>
              </a:spcAft>
            </a:pPr>
            <a:r>
              <a:rPr sz="1050" b="0" i="0">
                <a:solidFill>
                  <a:srgbClr val="444E59"/>
                </a:solidFill>
                <a:latin typeface="Consolas"/>
              </a:rPr>
              <a:t>  return DriverManager</a:t>
            </a:r>
          </a:p>
          <a:p>
            <a:pPr algn="l">
              <a:lnSpc>
                <a:spcPct val="102000"/>
              </a:lnSpc>
              <a:spcBef>
                <a:spcPts val="0"/>
              </a:spcBef>
              <a:spcAft>
                <a:spcPts val="100"/>
              </a:spcAft>
            </a:pPr>
            <a:r>
              <a:rPr sz="1050" b="0" i="0">
                <a:solidFill>
                  <a:srgbClr val="444E59"/>
                </a:solidFill>
                <a:latin typeface="Consolas"/>
              </a:rPr>
              <a:t>      .getConnection(url);</a:t>
            </a:r>
          </a:p>
          <a:p>
            <a:pPr algn="l">
              <a:lnSpc>
                <a:spcPct val="102000"/>
              </a:lnSpc>
              <a:spcBef>
                <a:spcPts val="0"/>
              </a:spcBef>
              <a:spcAft>
                <a:spcPts val="100"/>
              </a:spcAft>
            </a:pPr>
            <a:r>
              <a:rPr sz="1050" b="0" i="0">
                <a:solidFill>
                  <a:srgbClr val="444E59"/>
                </a:solidFill>
                <a:latin typeface="Consolas"/>
              </a:rPr>
              <a:t>}</a:t>
            </a:r>
          </a:p>
        </p:txBody>
      </p:sp>
      <p:sp>
        <p:nvSpPr>
          <p:cNvPr id="28" name="Rounded Rectangle 27"/>
          <p:cNvSpPr/>
          <p:nvPr/>
        </p:nvSpPr>
        <p:spPr>
          <a:xfrm>
            <a:off x="8055864" y="3090672"/>
            <a:ext cx="3474720" cy="1755648"/>
          </a:xfrm>
          <a:prstGeom prst="roundRect">
            <a:avLst>
              <a:gd name="adj" fmla="val 3000"/>
            </a:avLst>
          </a:prstGeom>
          <a:solidFill>
            <a:srgbClr val="F7F9FC"/>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055864" y="3090672"/>
            <a:ext cx="3474720" cy="310896"/>
          </a:xfrm>
          <a:prstGeom prst="rect">
            <a:avLst/>
          </a:prstGeom>
          <a:solidFill>
            <a:srgbClr val="E9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2168" y="3140964"/>
            <a:ext cx="3200400" cy="237744"/>
          </a:xfrm>
          <a:prstGeom prst="rect">
            <a:avLst/>
          </a:prstGeom>
          <a:noFill/>
        </p:spPr>
        <p:txBody>
          <a:bodyPr wrap="square" anchor="t" lIns="0" rIns="0" tIns="0" bIns="0">
            <a:spAutoFit/>
          </a:bodyPr>
          <a:lstStyle/>
          <a:p>
            <a:pPr algn="l">
              <a:lnSpc>
                <a:spcPct val="115000"/>
              </a:lnSpc>
              <a:spcBef>
                <a:spcPts val="0"/>
              </a:spcBef>
              <a:spcAft>
                <a:spcPts val="600"/>
              </a:spcAft>
            </a:pPr>
            <a:r>
              <a:rPr sz="1150" b="1" i="0">
                <a:solidFill>
                  <a:srgbClr val="16202B"/>
                </a:solidFill>
                <a:latin typeface="Calibri"/>
              </a:rPr>
              <a:t>BM25 negative  —  harder</a:t>
            </a:r>
          </a:p>
        </p:txBody>
      </p:sp>
      <p:sp>
        <p:nvSpPr>
          <p:cNvPr id="31" name="TextBox 30"/>
          <p:cNvSpPr txBox="1"/>
          <p:nvPr/>
        </p:nvSpPr>
        <p:spPr>
          <a:xfrm>
            <a:off x="8220456" y="3511296"/>
            <a:ext cx="3163824" cy="1225295"/>
          </a:xfrm>
          <a:prstGeom prst="rect">
            <a:avLst/>
          </a:prstGeom>
          <a:noFill/>
        </p:spPr>
        <p:txBody>
          <a:bodyPr wrap="square" anchor="t" lIns="0" rIns="0" tIns="0" bIns="0">
            <a:spAutoFit/>
          </a:bodyPr>
          <a:lstStyle/>
          <a:p>
            <a:pPr algn="l">
              <a:lnSpc>
                <a:spcPct val="102000"/>
              </a:lnSpc>
              <a:spcBef>
                <a:spcPts val="0"/>
              </a:spcBef>
              <a:spcAft>
                <a:spcPts val="100"/>
              </a:spcAft>
            </a:pPr>
            <a:r>
              <a:rPr sz="1050" b="0" i="0">
                <a:solidFill>
                  <a:srgbClr val="87919D"/>
                </a:solidFill>
                <a:latin typeface="Consolas"/>
              </a:rPr>
              <a:t>// shares int[], a, for, swap</a:t>
            </a:r>
          </a:p>
          <a:p>
            <a:pPr algn="l">
              <a:lnSpc>
                <a:spcPct val="102000"/>
              </a:lnSpc>
              <a:spcBef>
                <a:spcPts val="0"/>
              </a:spcBef>
              <a:spcAft>
                <a:spcPts val="100"/>
              </a:spcAft>
            </a:pPr>
            <a:r>
              <a:rPr sz="1050" b="0" i="0">
                <a:solidFill>
                  <a:srgbClr val="444E59"/>
                </a:solidFill>
                <a:latin typeface="Consolas"/>
              </a:rPr>
              <a:t>void selectionSort(int[] a) {</a:t>
            </a:r>
          </a:p>
          <a:p>
            <a:pPr algn="l">
              <a:lnSpc>
                <a:spcPct val="102000"/>
              </a:lnSpc>
              <a:spcBef>
                <a:spcPts val="0"/>
              </a:spcBef>
              <a:spcAft>
                <a:spcPts val="100"/>
              </a:spcAft>
            </a:pPr>
            <a:r>
              <a:rPr sz="1050" b="0" i="0">
                <a:solidFill>
                  <a:srgbClr val="444E59"/>
                </a:solidFill>
                <a:latin typeface="Consolas"/>
              </a:rPr>
              <a:t>  for (int i = 0; i &lt; a.length; i++)</a:t>
            </a:r>
          </a:p>
          <a:p>
            <a:pPr algn="l">
              <a:lnSpc>
                <a:spcPct val="102000"/>
              </a:lnSpc>
              <a:spcBef>
                <a:spcPts val="0"/>
              </a:spcBef>
              <a:spcAft>
                <a:spcPts val="100"/>
              </a:spcAft>
            </a:pPr>
            <a:r>
              <a:rPr sz="1050" b="0" i="0">
                <a:solidFill>
                  <a:srgbClr val="444E59"/>
                </a:solidFill>
                <a:latin typeface="Consolas"/>
              </a:rPr>
              <a:t>    swap(a, i, minIndex(a, i));</a:t>
            </a:r>
          </a:p>
          <a:p>
            <a:pPr algn="l">
              <a:lnSpc>
                <a:spcPct val="102000"/>
              </a:lnSpc>
              <a:spcBef>
                <a:spcPts val="0"/>
              </a:spcBef>
              <a:spcAft>
                <a:spcPts val="100"/>
              </a:spcAft>
            </a:pPr>
            <a:r>
              <a:rPr sz="1050" b="0" i="0">
                <a:solidFill>
                  <a:srgbClr val="444E59"/>
                </a:solidFill>
                <a:latin typeface="Consolas"/>
              </a:rPr>
              <a:t>}</a:t>
            </a:r>
          </a:p>
        </p:txBody>
      </p:sp>
      <p:sp>
        <p:nvSpPr>
          <p:cNvPr id="32" name="Rounded Rectangle 31"/>
          <p:cNvSpPr/>
          <p:nvPr/>
        </p:nvSpPr>
        <p:spPr>
          <a:xfrm>
            <a:off x="658368" y="4956048"/>
            <a:ext cx="10874959" cy="1396826"/>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58368" y="4956048"/>
            <a:ext cx="54864" cy="1396826"/>
          </a:xfrm>
          <a:prstGeom prst="rect">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77824" y="5093208"/>
            <a:ext cx="10454335" cy="1122506"/>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Verification step — build and test this first</a:t>
            </a:r>
          </a:p>
          <a:p>
            <a:pPr algn="l">
              <a:lnSpc>
                <a:spcPct val="117000"/>
              </a:lnSpc>
              <a:spcBef>
                <a:spcPts val="0"/>
              </a:spcBef>
              <a:spcAft>
                <a:spcPts val="300"/>
              </a:spcAft>
            </a:pPr>
            <a:r>
              <a:rPr sz="1250" b="0" i="0">
                <a:solidFill>
                  <a:srgbClr val="444E59"/>
                </a:solidFill>
                <a:latin typeface="Calibri"/>
              </a:rPr>
              <a:t>Before a mined snippet is used as a negative, exclude every snippet that is a known clone of the anchor. Necessary for correctness — and, as the next slide shows, not sufficient.</a:t>
            </a:r>
          </a:p>
          <a:p>
            <a:pPr algn="l">
              <a:lnSpc>
                <a:spcPct val="117000"/>
              </a:lnSpc>
              <a:spcBef>
                <a:spcPts val="0"/>
              </a:spcBef>
              <a:spcAft>
                <a:spcPts val="300"/>
              </a:spcAft>
            </a:pPr>
            <a:r>
              <a:rPr sz="1250" b="0" i="0">
                <a:solidFill>
                  <a:srgbClr val="444E59"/>
                </a:solidFill>
                <a:latin typeface="Calibri"/>
              </a:rPr>
              <a:t>Look again at the BM25 example: a different sort. Is that really a non-clone?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05  ·  METHODOLOGY</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The Trap: Not Every “Non-clone” Is Really a Non-clone</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Methodology</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21</a:t>
            </a:r>
          </a:p>
        </p:txBody>
      </p:sp>
      <p:sp>
        <p:nvSpPr>
          <p:cNvPr id="7" name="TextBox 6"/>
          <p:cNvSpPr txBox="1"/>
          <p:nvPr/>
        </p:nvSpPr>
        <p:spPr>
          <a:xfrm>
            <a:off x="658368" y="1426464"/>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The mechanism: </a:t>
            </a:r>
            <a:r>
              <a:rPr sz="1350" b="0" i="0">
                <a:solidFill>
                  <a:srgbClr val="444E59"/>
                </a:solidFill>
                <a:latin typeface="Calibri"/>
              </a:rPr>
              <a:t>The more similar a snippet you mine, the more likely it is a genuine clone that the dataset forgot to label. Harder negatives carry a larger false-negative burden.</a:t>
            </a:r>
          </a:p>
        </p:txBody>
      </p:sp>
      <p:sp>
        <p:nvSpPr>
          <p:cNvPr id="8" name="TextBox 7"/>
          <p:cNvSpPr txBox="1"/>
          <p:nvPr/>
        </p:nvSpPr>
        <p:spPr>
          <a:xfrm>
            <a:off x="658368" y="1956816"/>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Why the labels are incomplete: </a:t>
            </a:r>
            <a:r>
              <a:rPr sz="1350" b="0" i="0">
                <a:solidFill>
                  <a:srgbClr val="444E59"/>
                </a:solidFill>
                <a:latin typeface="Calibri"/>
              </a:rPr>
              <a:t>BigCloneBench records clone pairs per functionality and makes no claim about pairs it never labelled — within or across functionalities. Its own audit work estimates at least 15% of labels as subjective or erroneous.</a:t>
            </a:r>
          </a:p>
        </p:txBody>
      </p:sp>
      <p:sp>
        <p:nvSpPr>
          <p:cNvPr id="9" name="TextBox 8"/>
          <p:cNvSpPr txBox="1"/>
          <p:nvPr/>
        </p:nvSpPr>
        <p:spPr>
          <a:xfrm>
            <a:off x="658368" y="2542032"/>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What that would do: </a:t>
            </a:r>
            <a:r>
              <a:rPr sz="1350" b="0" i="0">
                <a:solidFill>
                  <a:srgbClr val="444E59"/>
                </a:solidFill>
                <a:latin typeface="Calibri"/>
              </a:rPr>
              <a:t>We would be training the model to push apart code that is genuinely equivalent — and the hardest condition would suffer most, for the wrong reason.</a:t>
            </a:r>
          </a:p>
        </p:txBody>
      </p:sp>
      <p:sp>
        <p:nvSpPr>
          <p:cNvPr id="10" name="Rounded Rectangle 9"/>
          <p:cNvSpPr/>
          <p:nvPr/>
        </p:nvSpPr>
        <p:spPr>
          <a:xfrm>
            <a:off x="658368" y="3200400"/>
            <a:ext cx="10874959" cy="1517904"/>
          </a:xfrm>
          <a:prstGeom prst="roundRect">
            <a:avLst>
              <a:gd name="adj" fmla="val 5000"/>
            </a:avLst>
          </a:prstGeom>
          <a:solidFill>
            <a:srgbClr val="F7FAFD"/>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328416"/>
            <a:ext cx="4572000" cy="274320"/>
          </a:xfrm>
          <a:prstGeom prst="rect">
            <a:avLst/>
          </a:prstGeom>
          <a:noFill/>
        </p:spPr>
        <p:txBody>
          <a:bodyPr wrap="square" anchor="t" lIns="0" rIns="0" tIns="0" bIns="0">
            <a:spAutoFit/>
          </a:bodyPr>
          <a:lstStyle/>
          <a:p>
            <a:pPr algn="l">
              <a:lnSpc>
                <a:spcPct val="115000"/>
              </a:lnSpc>
              <a:spcBef>
                <a:spcPts val="0"/>
              </a:spcBef>
              <a:spcAft>
                <a:spcPts val="600"/>
              </a:spcAft>
            </a:pPr>
            <a:r>
              <a:rPr sz="1050" b="1" i="0">
                <a:solidFill>
                  <a:srgbClr val="1F6FB2"/>
                </a:solidFill>
                <a:latin typeface="Calibri"/>
              </a:rPr>
              <a:t>HARDNESS AND CONTAMINATION RISE TOGETHER</a:t>
            </a:r>
          </a:p>
        </p:txBody>
      </p:sp>
      <p:sp>
        <p:nvSpPr>
          <p:cNvPr id="12" name="TextBox 11"/>
          <p:cNvSpPr txBox="1"/>
          <p:nvPr/>
        </p:nvSpPr>
        <p:spPr>
          <a:xfrm>
            <a:off x="978407" y="3712464"/>
            <a:ext cx="3291840" cy="256032"/>
          </a:xfrm>
          <a:prstGeom prst="rect">
            <a:avLst/>
          </a:prstGeom>
          <a:noFill/>
        </p:spPr>
        <p:txBody>
          <a:bodyPr wrap="square" anchor="t" lIns="0" rIns="0" tIns="0" bIns="0">
            <a:spAutoFit/>
          </a:bodyPr>
          <a:lstStyle/>
          <a:p>
            <a:pPr algn="l">
              <a:lnSpc>
                <a:spcPct val="115000"/>
              </a:lnSpc>
              <a:spcBef>
                <a:spcPts val="0"/>
              </a:spcBef>
              <a:spcAft>
                <a:spcPts val="600"/>
              </a:spcAft>
            </a:pPr>
            <a:r>
              <a:rPr sz="1250" b="1" i="0">
                <a:solidFill>
                  <a:srgbClr val="16202B"/>
                </a:solidFill>
                <a:latin typeface="Calibri"/>
              </a:rPr>
              <a:t>Random</a:t>
            </a:r>
          </a:p>
        </p:txBody>
      </p:sp>
      <p:sp>
        <p:nvSpPr>
          <p:cNvPr id="13" name="Rectangle 12"/>
          <p:cNvSpPr/>
          <p:nvPr/>
        </p:nvSpPr>
        <p:spPr>
          <a:xfrm>
            <a:off x="978407" y="4023360"/>
            <a:ext cx="3291840" cy="182880"/>
          </a:xfrm>
          <a:prstGeom prst="rect">
            <a:avLst/>
          </a:prstGeom>
          <a:solidFill>
            <a:srgbClr val="E4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78407" y="4023360"/>
            <a:ext cx="724204" cy="182880"/>
          </a:xfrm>
          <a:prstGeom prst="rect">
            <a:avLst/>
          </a:prstGeom>
          <a:solidFill>
            <a:srgbClr val="879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8407" y="4261104"/>
            <a:ext cx="3291840" cy="219456"/>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hardness</a:t>
            </a:r>
          </a:p>
        </p:txBody>
      </p:sp>
      <p:sp>
        <p:nvSpPr>
          <p:cNvPr id="16" name="Rectangle 15"/>
          <p:cNvSpPr/>
          <p:nvPr/>
        </p:nvSpPr>
        <p:spPr>
          <a:xfrm>
            <a:off x="978407" y="4517136"/>
            <a:ext cx="3291840" cy="128016"/>
          </a:xfrm>
          <a:prstGeom prst="rect">
            <a:avLst/>
          </a:prstGeom>
          <a:solidFill>
            <a:srgbClr val="F6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78407" y="4517136"/>
            <a:ext cx="329184" cy="128016"/>
          </a:xfrm>
          <a:prstGeom prst="rect">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90288" y="3712464"/>
            <a:ext cx="3291840" cy="256032"/>
          </a:xfrm>
          <a:prstGeom prst="rect">
            <a:avLst/>
          </a:prstGeom>
          <a:noFill/>
        </p:spPr>
        <p:txBody>
          <a:bodyPr wrap="square" anchor="t" lIns="0" rIns="0" tIns="0" bIns="0">
            <a:spAutoFit/>
          </a:bodyPr>
          <a:lstStyle/>
          <a:p>
            <a:pPr algn="l">
              <a:lnSpc>
                <a:spcPct val="115000"/>
              </a:lnSpc>
              <a:spcBef>
                <a:spcPts val="0"/>
              </a:spcBef>
              <a:spcAft>
                <a:spcPts val="600"/>
              </a:spcAft>
            </a:pPr>
            <a:r>
              <a:rPr sz="1250" b="1" i="0">
                <a:solidFill>
                  <a:srgbClr val="16202B"/>
                </a:solidFill>
                <a:latin typeface="Calibri"/>
              </a:rPr>
              <a:t>BM25</a:t>
            </a:r>
          </a:p>
        </p:txBody>
      </p:sp>
      <p:sp>
        <p:nvSpPr>
          <p:cNvPr id="19" name="Rectangle 18"/>
          <p:cNvSpPr/>
          <p:nvPr/>
        </p:nvSpPr>
        <p:spPr>
          <a:xfrm>
            <a:off x="4590288" y="4023360"/>
            <a:ext cx="3291840" cy="182880"/>
          </a:xfrm>
          <a:prstGeom prst="rect">
            <a:avLst/>
          </a:prstGeom>
          <a:solidFill>
            <a:srgbClr val="E4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4590288" y="4023360"/>
            <a:ext cx="1810512" cy="1828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90288" y="4261104"/>
            <a:ext cx="3291840" cy="219456"/>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hardness</a:t>
            </a:r>
          </a:p>
        </p:txBody>
      </p:sp>
      <p:sp>
        <p:nvSpPr>
          <p:cNvPr id="22" name="Rectangle 21"/>
          <p:cNvSpPr/>
          <p:nvPr/>
        </p:nvSpPr>
        <p:spPr>
          <a:xfrm>
            <a:off x="4590288" y="4517136"/>
            <a:ext cx="3291840" cy="128016"/>
          </a:xfrm>
          <a:prstGeom prst="rect">
            <a:avLst/>
          </a:prstGeom>
          <a:solidFill>
            <a:srgbClr val="F6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590288" y="4517136"/>
            <a:ext cx="1119225" cy="128016"/>
          </a:xfrm>
          <a:prstGeom prst="rect">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02168" y="3712464"/>
            <a:ext cx="3291840" cy="256032"/>
          </a:xfrm>
          <a:prstGeom prst="rect">
            <a:avLst/>
          </a:prstGeom>
          <a:noFill/>
        </p:spPr>
        <p:txBody>
          <a:bodyPr wrap="square" anchor="t" lIns="0" rIns="0" tIns="0" bIns="0">
            <a:spAutoFit/>
          </a:bodyPr>
          <a:lstStyle/>
          <a:p>
            <a:pPr algn="l">
              <a:lnSpc>
                <a:spcPct val="115000"/>
              </a:lnSpc>
              <a:spcBef>
                <a:spcPts val="0"/>
              </a:spcBef>
              <a:spcAft>
                <a:spcPts val="600"/>
              </a:spcAft>
            </a:pPr>
            <a:r>
              <a:rPr sz="1250" b="1" i="0">
                <a:solidFill>
                  <a:srgbClr val="16202B"/>
                </a:solidFill>
                <a:latin typeface="Calibri"/>
              </a:rPr>
              <a:t>Semantic</a:t>
            </a:r>
          </a:p>
        </p:txBody>
      </p:sp>
      <p:sp>
        <p:nvSpPr>
          <p:cNvPr id="25" name="Rectangle 24"/>
          <p:cNvSpPr/>
          <p:nvPr/>
        </p:nvSpPr>
        <p:spPr>
          <a:xfrm>
            <a:off x="8202168" y="4023360"/>
            <a:ext cx="3291840" cy="182880"/>
          </a:xfrm>
          <a:prstGeom prst="rect">
            <a:avLst/>
          </a:prstGeom>
          <a:solidFill>
            <a:srgbClr val="E4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202168" y="4023360"/>
            <a:ext cx="2830982" cy="182880"/>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02168" y="4261104"/>
            <a:ext cx="3291840" cy="219456"/>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hardness</a:t>
            </a:r>
          </a:p>
        </p:txBody>
      </p:sp>
      <p:sp>
        <p:nvSpPr>
          <p:cNvPr id="28" name="Rectangle 27"/>
          <p:cNvSpPr/>
          <p:nvPr/>
        </p:nvSpPr>
        <p:spPr>
          <a:xfrm>
            <a:off x="8202168" y="4517136"/>
            <a:ext cx="3291840" cy="128016"/>
          </a:xfrm>
          <a:prstGeom prst="rect">
            <a:avLst/>
          </a:prstGeom>
          <a:solidFill>
            <a:srgbClr val="F6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02168" y="4517136"/>
            <a:ext cx="2040940" cy="128016"/>
          </a:xfrm>
          <a:prstGeom prst="rect">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2688" y="4242816"/>
            <a:ext cx="45720" cy="182880"/>
          </a:xfrm>
          <a:prstGeom prst="rect">
            <a:avLst/>
          </a:prstGeom>
          <a:noFill/>
        </p:spPr>
        <p:txBody>
          <a:bodyPr wrap="square" anchor="t" lIns="0" rIns="0" tIns="0" bIns="0">
            <a:spAutoFit/>
          </a:bodyPr>
          <a:lstStyle/>
          <a:p>
            <a:pPr algn="l">
              <a:lnSpc>
                <a:spcPct val="115000"/>
              </a:lnSpc>
              <a:spcBef>
                <a:spcPts val="0"/>
              </a:spcBef>
              <a:spcAft>
                <a:spcPts val="600"/>
              </a:spcAft>
            </a:pPr>
            <a:r>
              <a:rPr sz="800" b="0" i="0">
                <a:solidFill>
                  <a:srgbClr val="16202B"/>
                </a:solidFill>
                <a:latin typeface="Calibri"/>
              </a:rPr>
              <a:t/>
            </a:r>
          </a:p>
        </p:txBody>
      </p:sp>
      <p:sp>
        <p:nvSpPr>
          <p:cNvPr id="31" name="Rounded Rectangle 30"/>
          <p:cNvSpPr/>
          <p:nvPr/>
        </p:nvSpPr>
        <p:spPr>
          <a:xfrm>
            <a:off x="658368" y="4882896"/>
            <a:ext cx="10874959" cy="1633326"/>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58368" y="4882896"/>
            <a:ext cx="54864" cy="1633326"/>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77824" y="5020056"/>
            <a:ext cx="10454335" cy="1359006"/>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So we measure it — this is what makes the result interpretable</a:t>
            </a:r>
          </a:p>
          <a:p>
            <a:pPr algn="l">
              <a:lnSpc>
                <a:spcPct val="117000"/>
              </a:lnSpc>
              <a:spcBef>
                <a:spcPts val="0"/>
              </a:spcBef>
              <a:spcAft>
                <a:spcPts val="300"/>
              </a:spcAft>
            </a:pPr>
            <a:r>
              <a:rPr sz="1250" b="0" i="0">
                <a:solidFill>
                  <a:srgbClr val="444E59"/>
                </a:solidFill>
                <a:latin typeface="Calibri"/>
              </a:rPr>
              <a:t>Sample 50 mined negatives from the BM25 condition and 50 from the semantic condition, and judge by eye whether each pair implements the same functionality.</a:t>
            </a:r>
          </a:p>
          <a:p>
            <a:pPr algn="l">
              <a:lnSpc>
                <a:spcPct val="117000"/>
              </a:lnSpc>
              <a:spcBef>
                <a:spcPts val="0"/>
              </a:spcBef>
              <a:spcAft>
                <a:spcPts val="300"/>
              </a:spcAft>
            </a:pPr>
            <a:r>
              <a:rPr sz="1250" b="0" i="0">
                <a:solidFill>
                  <a:srgbClr val="444E59"/>
                </a:solidFill>
                <a:latin typeface="Calibri"/>
              </a:rPr>
              <a:t>Without this, a “harder negatives are worse” result has two competing explanations: hardness genuinely backfires, or the hard set is simply more contaminated. The measurement separates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05  ·  METHODOLOGY</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Data Collection Methods</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Methodology</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22</a:t>
            </a:r>
          </a:p>
        </p:txBody>
      </p:sp>
      <p:sp>
        <p:nvSpPr>
          <p:cNvPr id="7" name="Rounded Rectangle 6"/>
          <p:cNvSpPr/>
          <p:nvPr/>
        </p:nvSpPr>
        <p:spPr>
          <a:xfrm>
            <a:off x="658368" y="1444752"/>
            <a:ext cx="5303520" cy="3199549"/>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44752"/>
            <a:ext cx="50292" cy="3199549"/>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591056"/>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Source dataset</a:t>
            </a:r>
          </a:p>
        </p:txBody>
      </p:sp>
      <p:sp>
        <p:nvSpPr>
          <p:cNvPr id="10" name="TextBox 9"/>
          <p:cNvSpPr txBox="1"/>
          <p:nvPr/>
        </p:nvSpPr>
        <p:spPr>
          <a:xfrm>
            <a:off x="896112" y="1993392"/>
            <a:ext cx="4892040" cy="2522893"/>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BigCloneBench, CodeXGLUE-processed version — real, labelled Java code-clone pairs.</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BigCloneBench proper: 8,915,130 true clone pairs and 288,367 false clone pairs across 43 functionalities, drawn from roughly 25,000 open-source projects.</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What we actually load: 9,134 Java fragments — 901,028 train / 415,416 validation / 415,416 test pairs.</a:t>
            </a:r>
          </a:p>
        </p:txBody>
      </p:sp>
      <p:sp>
        <p:nvSpPr>
          <p:cNvPr id="11" name="Rounded Rectangle 10"/>
          <p:cNvSpPr/>
          <p:nvPr/>
        </p:nvSpPr>
        <p:spPr>
          <a:xfrm>
            <a:off x="6227064" y="1444752"/>
            <a:ext cx="5303520" cy="2959007"/>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7064" y="1444752"/>
            <a:ext cx="50292" cy="2959007"/>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64807" y="1591056"/>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Positive pairs</a:t>
            </a:r>
          </a:p>
        </p:txBody>
      </p:sp>
      <p:sp>
        <p:nvSpPr>
          <p:cNvPr id="14" name="TextBox 13"/>
          <p:cNvSpPr txBox="1"/>
          <p:nvPr/>
        </p:nvSpPr>
        <p:spPr>
          <a:xfrm>
            <a:off x="6464807" y="1993392"/>
            <a:ext cx="4892040" cy="2282351"/>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True clone pairs from the dataset, used unchanged across all four conditions.</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Positives are identical between conditions by construction — the negative is the only thing that moves.</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A fixed subset is sampled once and reused, so no condition sees data the others do not.</a:t>
            </a:r>
          </a:p>
        </p:txBody>
      </p:sp>
      <p:graphicFrame>
        <p:nvGraphicFramePr>
          <p:cNvPr id="15" name="Table 14"/>
          <p:cNvGraphicFramePr>
            <a:graphicFrameLocks noGrp="1"/>
          </p:cNvGraphicFramePr>
          <p:nvPr/>
        </p:nvGraphicFramePr>
        <p:xfrm>
          <a:off x="658368" y="3419856"/>
          <a:ext cx="10874957" cy="1719072"/>
        </p:xfrm>
        <a:graphic>
          <a:graphicData uri="http://schemas.openxmlformats.org/drawingml/2006/table">
            <a:tbl>
              <a:tblPr firstRow="1">
                <a:tableStyleId>{5C22544A-7EE6-4342-B048-85BDC9FD1C3A}</a:tableStyleId>
              </a:tblPr>
              <a:tblGrid>
                <a:gridCol w="2174991"/>
                <a:gridCol w="5245568"/>
                <a:gridCol w="3454398"/>
              </a:tblGrid>
              <a:tr h="402336">
                <a:tc>
                  <a:txBody>
                    <a:bodyPr wrap="square"/>
                    <a:lstStyle/>
                    <a:p>
                      <a:pPr algn="l">
                        <a:lnSpc>
                          <a:spcPct val="112000"/>
                        </a:lnSpc>
                        <a:spcBef>
                          <a:spcPts val="0"/>
                        </a:spcBef>
                        <a:spcAft>
                          <a:spcPts val="0"/>
                        </a:spcAft>
                      </a:pPr>
                      <a:r>
                        <a:rPr sz="1150" b="1" i="0">
                          <a:solidFill>
                            <a:srgbClr val="FFFFFF"/>
                          </a:solidFill>
                          <a:latin typeface="Calibri"/>
                        </a:rPr>
                        <a:t>Negative strategy</a:t>
                      </a:r>
                    </a:p>
                  </a:txBody>
                  <a:tcPr marL="100584" marR="100584" marT="45720" marB="45720" anchor="ctr">
                    <a:solidFill>
                      <a:srgbClr val="12263A"/>
                    </a:solidFill>
                  </a:tcPr>
                </a:tc>
                <a:tc>
                  <a:txBody>
                    <a:bodyPr wrap="square"/>
                    <a:lstStyle/>
                    <a:p>
                      <a:pPr algn="l">
                        <a:lnSpc>
                          <a:spcPct val="112000"/>
                        </a:lnSpc>
                        <a:spcBef>
                          <a:spcPts val="0"/>
                        </a:spcBef>
                        <a:spcAft>
                          <a:spcPts val="0"/>
                        </a:spcAft>
                      </a:pPr>
                      <a:r>
                        <a:rPr sz="1150" b="1" i="0">
                          <a:solidFill>
                            <a:srgbClr val="FFFFFF"/>
                          </a:solidFill>
                          <a:latin typeface="Calibri"/>
                        </a:rPr>
                        <a:t>How the snippet is found</a:t>
                      </a:r>
                    </a:p>
                  </a:txBody>
                  <a:tcPr marL="100584" marR="100584" marT="45720" marB="45720" anchor="ctr">
                    <a:solidFill>
                      <a:srgbClr val="12263A"/>
                    </a:solidFill>
                  </a:tcPr>
                </a:tc>
                <a:tc>
                  <a:txBody>
                    <a:bodyPr wrap="square"/>
                    <a:lstStyle/>
                    <a:p>
                      <a:pPr algn="l">
                        <a:lnSpc>
                          <a:spcPct val="112000"/>
                        </a:lnSpc>
                        <a:spcBef>
                          <a:spcPts val="0"/>
                        </a:spcBef>
                        <a:spcAft>
                          <a:spcPts val="0"/>
                        </a:spcAft>
                      </a:pPr>
                      <a:r>
                        <a:rPr sz="1150" b="1" i="0">
                          <a:solidFill>
                            <a:srgbClr val="FFFFFF"/>
                          </a:solidFill>
                          <a:latin typeface="Calibri"/>
                        </a:rPr>
                        <a:t>Filter applied before use</a:t>
                      </a:r>
                    </a:p>
                  </a:txBody>
                  <a:tcPr marL="100584" marR="100584" marT="45720" marB="45720" anchor="ctr">
                    <a:solidFill>
                      <a:srgbClr val="12263A"/>
                    </a:solidFill>
                  </a:tcPr>
                </a:tc>
              </a:tr>
              <a:tr h="438912">
                <a:tc>
                  <a:txBody>
                    <a:bodyPr wrap="square"/>
                    <a:lstStyle/>
                    <a:p>
                      <a:pPr algn="l">
                        <a:lnSpc>
                          <a:spcPct val="112000"/>
                        </a:lnSpc>
                        <a:spcBef>
                          <a:spcPts val="0"/>
                        </a:spcBef>
                        <a:spcAft>
                          <a:spcPts val="0"/>
                        </a:spcAft>
                      </a:pPr>
                      <a:r>
                        <a:rPr sz="1200" b="1" i="0">
                          <a:solidFill>
                            <a:srgbClr val="16202B"/>
                          </a:solidFill>
                          <a:latin typeface="Calibri"/>
                        </a:rPr>
                        <a:t>Random</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Any non-clone snippet, sampled at random</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Exclude known clones of the anchor</a:t>
                      </a:r>
                    </a:p>
                  </a:txBody>
                  <a:tcPr marL="100584" marR="100584" marT="45720" marB="45720" anchor="ctr">
                    <a:solidFill>
                      <a:srgbClr val="FFFFFF"/>
                    </a:solidFill>
                  </a:tcPr>
                </a:tc>
              </a:tr>
              <a:tr h="438912">
                <a:tc>
                  <a:txBody>
                    <a:bodyPr wrap="square"/>
                    <a:lstStyle/>
                    <a:p>
                      <a:pPr algn="l">
                        <a:lnSpc>
                          <a:spcPct val="112000"/>
                        </a:lnSpc>
                        <a:spcBef>
                          <a:spcPts val="0"/>
                        </a:spcBef>
                        <a:spcAft>
                          <a:spcPts val="0"/>
                        </a:spcAft>
                      </a:pPr>
                      <a:r>
                        <a:rPr sz="1200" b="1" i="0">
                          <a:solidFill>
                            <a:srgbClr val="16202B"/>
                          </a:solidFill>
                          <a:latin typeface="Calibri"/>
                        </a:rPr>
                        <a:t>BM25</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rank_bm25 index over the corpus; top keyword matches</a:t>
                      </a:r>
                    </a:p>
                  </a:txBody>
                  <a:tcPr marL="100584" marR="100584" marT="45720" marB="45720" anchor="ctr">
                    <a:solidFill>
                      <a:srgbClr val="FAFBFD"/>
                    </a:solidFill>
                  </a:tcPr>
                </a:tc>
                <a:tc>
                  <a:txBody>
                    <a:bodyPr wrap="square"/>
                    <a:lstStyle/>
                    <a:p>
                      <a:pPr algn="l">
                        <a:lnSpc>
                          <a:spcPct val="112000"/>
                        </a:lnSpc>
                        <a:spcBef>
                          <a:spcPts val="0"/>
                        </a:spcBef>
                        <a:spcAft>
                          <a:spcPts val="0"/>
                        </a:spcAft>
                      </a:pPr>
                      <a:r>
                        <a:rPr sz="1200" b="0" i="0">
                          <a:solidFill>
                            <a:srgbClr val="16202B"/>
                          </a:solidFill>
                          <a:latin typeface="Calibri"/>
                        </a:rPr>
                        <a:t>Exclude known clones of the anchor</a:t>
                      </a:r>
                    </a:p>
                  </a:txBody>
                  <a:tcPr marL="100584" marR="100584" marT="45720" marB="45720" anchor="ctr">
                    <a:solidFill>
                      <a:srgbClr val="FAFBFD"/>
                    </a:solidFill>
                  </a:tcPr>
                </a:tc>
              </a:tr>
              <a:tr h="438912">
                <a:tc>
                  <a:txBody>
                    <a:bodyPr wrap="square"/>
                    <a:lstStyle/>
                    <a:p>
                      <a:pPr algn="l">
                        <a:lnSpc>
                          <a:spcPct val="112000"/>
                        </a:lnSpc>
                        <a:spcBef>
                          <a:spcPts val="0"/>
                        </a:spcBef>
                        <a:spcAft>
                          <a:spcPts val="0"/>
                        </a:spcAft>
                      </a:pPr>
                      <a:r>
                        <a:rPr sz="1200" b="1" i="0">
                          <a:solidFill>
                            <a:srgbClr val="16202B"/>
                          </a:solidFill>
                          <a:latin typeface="Calibri"/>
                        </a:rPr>
                        <a:t>Semantic</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Base model embeds the corpus once; top cosine matches</a:t>
                      </a:r>
                    </a:p>
                  </a:txBody>
                  <a:tcPr marL="100584" marR="100584" marT="45720" marB="45720" anchor="ctr">
                    <a:solidFill>
                      <a:srgbClr val="FFFFFF"/>
                    </a:solidFill>
                  </a:tcPr>
                </a:tc>
                <a:tc>
                  <a:txBody>
                    <a:bodyPr wrap="square"/>
                    <a:lstStyle/>
                    <a:p>
                      <a:pPr algn="l">
                        <a:lnSpc>
                          <a:spcPct val="112000"/>
                        </a:lnSpc>
                        <a:spcBef>
                          <a:spcPts val="0"/>
                        </a:spcBef>
                        <a:spcAft>
                          <a:spcPts val="0"/>
                        </a:spcAft>
                      </a:pPr>
                      <a:r>
                        <a:rPr sz="1200" b="0" i="0">
                          <a:solidFill>
                            <a:srgbClr val="16202B"/>
                          </a:solidFill>
                          <a:latin typeface="Calibri"/>
                        </a:rPr>
                        <a:t>Exclude known clones of the anchor</a:t>
                      </a:r>
                    </a:p>
                  </a:txBody>
                  <a:tcPr marL="100584" marR="100584" marT="45720" marB="45720" anchor="ctr">
                    <a:solidFill>
                      <a:srgbClr val="FFFFFF"/>
                    </a:solidFill>
                  </a:tcPr>
                </a:tc>
              </a:tr>
            </a:tbl>
          </a:graphicData>
        </a:graphic>
      </p:graphicFrame>
      <p:sp>
        <p:nvSpPr>
          <p:cNvPr id="16" name="Rounded Rectangle 15"/>
          <p:cNvSpPr/>
          <p:nvPr/>
        </p:nvSpPr>
        <p:spPr>
          <a:xfrm>
            <a:off x="658368" y="5376672"/>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58368" y="5376672"/>
            <a:ext cx="54864" cy="111956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77824" y="5513832"/>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On subset size</a:t>
            </a:r>
          </a:p>
          <a:p>
            <a:pPr algn="l">
              <a:lnSpc>
                <a:spcPct val="117000"/>
              </a:lnSpc>
              <a:spcBef>
                <a:spcPts val="0"/>
              </a:spcBef>
              <a:spcAft>
                <a:spcPts val="300"/>
              </a:spcAft>
            </a:pPr>
            <a:r>
              <a:rPr sz="1250" b="0" i="0">
                <a:solidFill>
                  <a:srgbClr val="444E59"/>
                </a:solidFill>
                <a:latin typeface="Calibri"/>
              </a:rPr>
              <a:t>Training uses a manageable fixed subset rather than all 901,028 pairs, for tractability. This is standard practice for a project of this length, and CodeXGLUE's own reference pipeline uses 10% of the training data.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05  ·  METHODOLOGY</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Research Process Flowchart</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1298448"/>
            <a:ext cx="10874959" cy="274320"/>
          </a:xfrm>
          <a:prstGeom prst="rect">
            <a:avLst/>
          </a:prstGeom>
          <a:noFill/>
        </p:spPr>
        <p:txBody>
          <a:bodyPr wrap="square" anchor="t" lIns="0" rIns="0" tIns="0" bIns="0">
            <a:spAutoFit/>
          </a:bodyPr>
          <a:lstStyle/>
          <a:p>
            <a:pPr algn="l">
              <a:lnSpc>
                <a:spcPct val="115000"/>
              </a:lnSpc>
              <a:spcBef>
                <a:spcPts val="0"/>
              </a:spcBef>
              <a:spcAft>
                <a:spcPts val="600"/>
              </a:spcAft>
            </a:pPr>
            <a:r>
              <a:rPr sz="1250" b="0" i="0">
                <a:solidFill>
                  <a:srgbClr val="87919D"/>
                </a:solidFill>
                <a:latin typeface="Calibri"/>
              </a:rPr>
              <a:t>The whole method on one slide.</a:t>
            </a:r>
          </a:p>
        </p:txBody>
      </p:sp>
      <p:sp>
        <p:nvSpPr>
          <p:cNvPr id="6" name="TextBox 5"/>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Methodology</a:t>
            </a:r>
          </a:p>
        </p:txBody>
      </p:sp>
      <p:sp>
        <p:nvSpPr>
          <p:cNvPr id="7" name="TextBox 6"/>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23</a:t>
            </a:r>
          </a:p>
        </p:txBody>
      </p:sp>
      <p:sp>
        <p:nvSpPr>
          <p:cNvPr id="8" name="Rounded Rectangle 7"/>
          <p:cNvSpPr/>
          <p:nvPr/>
        </p:nvSpPr>
        <p:spPr>
          <a:xfrm>
            <a:off x="2398361" y="1444752"/>
            <a:ext cx="7394972" cy="475488"/>
          </a:xfrm>
          <a:prstGeom prst="roundRect">
            <a:avLst>
              <a:gd name="adj" fmla="val 10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398361" y="1499616"/>
            <a:ext cx="7394972" cy="402336"/>
          </a:xfrm>
          <a:prstGeom prst="rect">
            <a:avLst/>
          </a:prstGeom>
          <a:noFill/>
        </p:spPr>
        <p:txBody>
          <a:bodyPr wrap="square" anchor="ctr" lIns="0" rIns="0" tIns="0" bIns="0">
            <a:spAutoFit/>
          </a:bodyPr>
          <a:lstStyle/>
          <a:p>
            <a:pPr algn="ctr">
              <a:lnSpc>
                <a:spcPct val="115000"/>
              </a:lnSpc>
              <a:spcBef>
                <a:spcPts val="0"/>
              </a:spcBef>
              <a:spcAft>
                <a:spcPts val="0"/>
              </a:spcAft>
            </a:pPr>
            <a:r>
              <a:rPr sz="1250" b="1" i="0">
                <a:solidFill>
                  <a:srgbClr val="FFFFFF"/>
                </a:solidFill>
                <a:latin typeface="Calibri"/>
              </a:rPr>
              <a:t>Domain dataset — BigCloneBench (CodeXGLUE, 9,134 Java fragments)</a:t>
            </a:r>
          </a:p>
        </p:txBody>
      </p:sp>
      <p:sp>
        <p:nvSpPr>
          <p:cNvPr id="10" name="Rounded Rectangle 9"/>
          <p:cNvSpPr/>
          <p:nvPr/>
        </p:nvSpPr>
        <p:spPr>
          <a:xfrm>
            <a:off x="2398361" y="2194560"/>
            <a:ext cx="7394972" cy="475488"/>
          </a:xfrm>
          <a:prstGeom prst="roundRect">
            <a:avLst>
              <a:gd name="adj" fmla="val 1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398361" y="2249424"/>
            <a:ext cx="7394972" cy="402336"/>
          </a:xfrm>
          <a:prstGeom prst="rect">
            <a:avLst/>
          </a:prstGeom>
          <a:noFill/>
        </p:spPr>
        <p:txBody>
          <a:bodyPr wrap="square" anchor="ctr" lIns="0" rIns="0" tIns="0" bIns="0">
            <a:spAutoFit/>
          </a:bodyPr>
          <a:lstStyle/>
          <a:p>
            <a:pPr algn="ctr">
              <a:lnSpc>
                <a:spcPct val="115000"/>
              </a:lnSpc>
              <a:spcBef>
                <a:spcPts val="0"/>
              </a:spcBef>
              <a:spcAft>
                <a:spcPts val="0"/>
              </a:spcAft>
            </a:pPr>
            <a:r>
              <a:rPr sz="1250" b="1" i="0">
                <a:solidFill>
                  <a:srgbClr val="FFFFFF"/>
                </a:solidFill>
                <a:latin typeface="Calibri"/>
              </a:rPr>
              <a:t>Positive pairs — fixed, shared by every condition</a:t>
            </a:r>
          </a:p>
        </p:txBody>
      </p:sp>
      <p:sp>
        <p:nvSpPr>
          <p:cNvPr id="12" name="Down Arrow 11"/>
          <p:cNvSpPr/>
          <p:nvPr/>
        </p:nvSpPr>
        <p:spPr>
          <a:xfrm>
            <a:off x="6027267" y="1920240"/>
            <a:ext cx="137160" cy="274319"/>
          </a:xfrm>
          <a:prstGeom prst="downArrow">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58368" y="2944368"/>
            <a:ext cx="3262487" cy="566928"/>
          </a:xfrm>
          <a:prstGeom prst="roundRect">
            <a:avLst>
              <a:gd name="adj" fmla="val 9000"/>
            </a:avLst>
          </a:prstGeom>
          <a:solidFill>
            <a:srgbClr val="879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8368" y="2990087"/>
            <a:ext cx="3262487" cy="512064"/>
          </a:xfrm>
          <a:prstGeom prst="rect">
            <a:avLst/>
          </a:prstGeom>
          <a:noFill/>
        </p:spPr>
        <p:txBody>
          <a:bodyPr wrap="square" anchor="ctr" lIns="0" rIns="0" tIns="0" bIns="0">
            <a:spAutoFit/>
          </a:bodyPr>
          <a:lstStyle/>
          <a:p>
            <a:pPr algn="ctr">
              <a:lnSpc>
                <a:spcPct val="112000"/>
              </a:lnSpc>
              <a:spcBef>
                <a:spcPts val="0"/>
              </a:spcBef>
              <a:spcAft>
                <a:spcPts val="0"/>
              </a:spcAft>
            </a:pPr>
            <a:r>
              <a:rPr sz="1200" b="1" i="0">
                <a:solidFill>
                  <a:srgbClr val="FFFFFF"/>
                </a:solidFill>
                <a:latin typeface="Calibri"/>
              </a:rPr>
              <a:t>Random negatives</a:t>
            </a:r>
          </a:p>
        </p:txBody>
      </p:sp>
      <p:sp>
        <p:nvSpPr>
          <p:cNvPr id="15" name="Rounded Rectangle 14"/>
          <p:cNvSpPr/>
          <p:nvPr/>
        </p:nvSpPr>
        <p:spPr>
          <a:xfrm>
            <a:off x="4464603" y="2944368"/>
            <a:ext cx="3262487" cy="566928"/>
          </a:xfrm>
          <a:prstGeom prst="roundRect">
            <a:avLst>
              <a:gd name="adj" fmla="val 9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64603" y="2990087"/>
            <a:ext cx="3262487" cy="512064"/>
          </a:xfrm>
          <a:prstGeom prst="rect">
            <a:avLst/>
          </a:prstGeom>
          <a:noFill/>
        </p:spPr>
        <p:txBody>
          <a:bodyPr wrap="square" anchor="ctr" lIns="0" rIns="0" tIns="0" bIns="0">
            <a:spAutoFit/>
          </a:bodyPr>
          <a:lstStyle/>
          <a:p>
            <a:pPr algn="ctr">
              <a:lnSpc>
                <a:spcPct val="112000"/>
              </a:lnSpc>
              <a:spcBef>
                <a:spcPts val="0"/>
              </a:spcBef>
              <a:spcAft>
                <a:spcPts val="0"/>
              </a:spcAft>
            </a:pPr>
            <a:r>
              <a:rPr sz="1200" b="1" i="0">
                <a:solidFill>
                  <a:srgbClr val="FFFFFF"/>
                </a:solidFill>
                <a:latin typeface="Calibri"/>
              </a:rPr>
              <a:t>BM25 negatives</a:t>
            </a:r>
          </a:p>
        </p:txBody>
      </p:sp>
      <p:sp>
        <p:nvSpPr>
          <p:cNvPr id="17" name="Rounded Rectangle 16"/>
          <p:cNvSpPr/>
          <p:nvPr/>
        </p:nvSpPr>
        <p:spPr>
          <a:xfrm>
            <a:off x="8270839" y="2944368"/>
            <a:ext cx="3262487" cy="566928"/>
          </a:xfrm>
          <a:prstGeom prst="roundRect">
            <a:avLst>
              <a:gd name="adj" fmla="val 9000"/>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70839" y="2990087"/>
            <a:ext cx="3262487" cy="512064"/>
          </a:xfrm>
          <a:prstGeom prst="rect">
            <a:avLst/>
          </a:prstGeom>
          <a:noFill/>
        </p:spPr>
        <p:txBody>
          <a:bodyPr wrap="square" anchor="ctr" lIns="0" rIns="0" tIns="0" bIns="0">
            <a:spAutoFit/>
          </a:bodyPr>
          <a:lstStyle/>
          <a:p>
            <a:pPr algn="ctr">
              <a:lnSpc>
                <a:spcPct val="112000"/>
              </a:lnSpc>
              <a:spcBef>
                <a:spcPts val="0"/>
              </a:spcBef>
              <a:spcAft>
                <a:spcPts val="0"/>
              </a:spcAft>
            </a:pPr>
            <a:r>
              <a:rPr sz="1200" b="1" i="0">
                <a:solidFill>
                  <a:srgbClr val="FFFFFF"/>
                </a:solidFill>
                <a:latin typeface="Calibri"/>
              </a:rPr>
              <a:t>Semantic negatives</a:t>
            </a:r>
          </a:p>
        </p:txBody>
      </p:sp>
      <p:sp>
        <p:nvSpPr>
          <p:cNvPr id="19" name="Down Arrow 18"/>
          <p:cNvSpPr/>
          <p:nvPr/>
        </p:nvSpPr>
        <p:spPr>
          <a:xfrm>
            <a:off x="6027267" y="2670048"/>
            <a:ext cx="137160" cy="274319"/>
          </a:xfrm>
          <a:prstGeom prst="downArrow">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58368" y="3785615"/>
            <a:ext cx="3262487" cy="530352"/>
          </a:xfrm>
          <a:prstGeom prst="roundRect">
            <a:avLst>
              <a:gd name="adj" fmla="val 9000"/>
            </a:avLst>
          </a:prstGeom>
          <a:solidFill>
            <a:srgbClr val="879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8368" y="3831335"/>
            <a:ext cx="3262487" cy="475488"/>
          </a:xfrm>
          <a:prstGeom prst="rect">
            <a:avLst/>
          </a:prstGeom>
          <a:noFill/>
        </p:spPr>
        <p:txBody>
          <a:bodyPr wrap="square" anchor="ctr" lIns="0" rIns="0" tIns="0" bIns="0">
            <a:spAutoFit/>
          </a:bodyPr>
          <a:lstStyle/>
          <a:p>
            <a:pPr algn="ctr">
              <a:lnSpc>
                <a:spcPct val="112000"/>
              </a:lnSpc>
              <a:spcBef>
                <a:spcPts val="0"/>
              </a:spcBef>
              <a:spcAft>
                <a:spcPts val="0"/>
              </a:spcAft>
            </a:pPr>
            <a:r>
              <a:rPr sz="1200" b="1" i="0">
                <a:solidFill>
                  <a:srgbClr val="FFFFFF"/>
                </a:solidFill>
                <a:latin typeface="Calibri"/>
              </a:rPr>
              <a:t>Fine-tune  C1</a:t>
            </a:r>
          </a:p>
        </p:txBody>
      </p:sp>
      <p:sp>
        <p:nvSpPr>
          <p:cNvPr id="22" name="Rounded Rectangle 21"/>
          <p:cNvSpPr/>
          <p:nvPr/>
        </p:nvSpPr>
        <p:spPr>
          <a:xfrm>
            <a:off x="4464603" y="3785615"/>
            <a:ext cx="3262487" cy="530352"/>
          </a:xfrm>
          <a:prstGeom prst="roundRect">
            <a:avLst>
              <a:gd name="adj" fmla="val 9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64603" y="3831335"/>
            <a:ext cx="3262487" cy="475488"/>
          </a:xfrm>
          <a:prstGeom prst="rect">
            <a:avLst/>
          </a:prstGeom>
          <a:noFill/>
        </p:spPr>
        <p:txBody>
          <a:bodyPr wrap="square" anchor="ctr" lIns="0" rIns="0" tIns="0" bIns="0">
            <a:spAutoFit/>
          </a:bodyPr>
          <a:lstStyle/>
          <a:p>
            <a:pPr algn="ctr">
              <a:lnSpc>
                <a:spcPct val="112000"/>
              </a:lnSpc>
              <a:spcBef>
                <a:spcPts val="0"/>
              </a:spcBef>
              <a:spcAft>
                <a:spcPts val="0"/>
              </a:spcAft>
            </a:pPr>
            <a:r>
              <a:rPr sz="1200" b="1" i="0">
                <a:solidFill>
                  <a:srgbClr val="FFFFFF"/>
                </a:solidFill>
                <a:latin typeface="Calibri"/>
              </a:rPr>
              <a:t>Fine-tune  C2</a:t>
            </a:r>
          </a:p>
        </p:txBody>
      </p:sp>
      <p:sp>
        <p:nvSpPr>
          <p:cNvPr id="24" name="Rounded Rectangle 23"/>
          <p:cNvSpPr/>
          <p:nvPr/>
        </p:nvSpPr>
        <p:spPr>
          <a:xfrm>
            <a:off x="8270839" y="3785615"/>
            <a:ext cx="3262487" cy="530352"/>
          </a:xfrm>
          <a:prstGeom prst="roundRect">
            <a:avLst>
              <a:gd name="adj" fmla="val 9000"/>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70839" y="3831335"/>
            <a:ext cx="3262487" cy="475488"/>
          </a:xfrm>
          <a:prstGeom prst="rect">
            <a:avLst/>
          </a:prstGeom>
          <a:noFill/>
        </p:spPr>
        <p:txBody>
          <a:bodyPr wrap="square" anchor="ctr" lIns="0" rIns="0" tIns="0" bIns="0">
            <a:spAutoFit/>
          </a:bodyPr>
          <a:lstStyle/>
          <a:p>
            <a:pPr algn="ctr">
              <a:lnSpc>
                <a:spcPct val="112000"/>
              </a:lnSpc>
              <a:spcBef>
                <a:spcPts val="0"/>
              </a:spcBef>
              <a:spcAft>
                <a:spcPts val="0"/>
              </a:spcAft>
            </a:pPr>
            <a:r>
              <a:rPr sz="1200" b="1" i="0">
                <a:solidFill>
                  <a:srgbClr val="FFFFFF"/>
                </a:solidFill>
                <a:latin typeface="Calibri"/>
              </a:rPr>
              <a:t>Fine-tune  C3</a:t>
            </a:r>
          </a:p>
        </p:txBody>
      </p:sp>
      <p:sp>
        <p:nvSpPr>
          <p:cNvPr id="26" name="Down Arrow 25"/>
          <p:cNvSpPr/>
          <p:nvPr/>
        </p:nvSpPr>
        <p:spPr>
          <a:xfrm>
            <a:off x="6027267" y="3511296"/>
            <a:ext cx="137160" cy="274319"/>
          </a:xfrm>
          <a:prstGeom prst="downArrow">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2398361" y="4590288"/>
            <a:ext cx="7394972" cy="457200"/>
          </a:xfrm>
          <a:prstGeom prst="roundRect">
            <a:avLst>
              <a:gd name="adj" fmla="val 10000"/>
            </a:avLst>
          </a:prstGeom>
          <a:solidFill>
            <a:srgbClr val="4A5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398361" y="4645151"/>
            <a:ext cx="7394972" cy="384048"/>
          </a:xfrm>
          <a:prstGeom prst="rect">
            <a:avLst/>
          </a:prstGeom>
          <a:noFill/>
        </p:spPr>
        <p:txBody>
          <a:bodyPr wrap="square" anchor="ctr" lIns="0" rIns="0" tIns="0" bIns="0">
            <a:spAutoFit/>
          </a:bodyPr>
          <a:lstStyle/>
          <a:p>
            <a:pPr algn="ctr">
              <a:lnSpc>
                <a:spcPct val="115000"/>
              </a:lnSpc>
              <a:spcBef>
                <a:spcPts val="0"/>
              </a:spcBef>
              <a:spcAft>
                <a:spcPts val="0"/>
              </a:spcAft>
            </a:pPr>
            <a:r>
              <a:rPr sz="1250" b="1" i="0">
                <a:solidFill>
                  <a:srgbClr val="FFFFFF"/>
                </a:solidFill>
                <a:latin typeface="Calibri"/>
              </a:rPr>
              <a:t>+  Baseline  C0  (no fine-tuning)  —  the control</a:t>
            </a:r>
          </a:p>
        </p:txBody>
      </p:sp>
      <p:sp>
        <p:nvSpPr>
          <p:cNvPr id="29" name="Down Arrow 28"/>
          <p:cNvSpPr/>
          <p:nvPr/>
        </p:nvSpPr>
        <p:spPr>
          <a:xfrm>
            <a:off x="6027267" y="4315968"/>
            <a:ext cx="137160" cy="274319"/>
          </a:xfrm>
          <a:prstGeom prst="downArrow">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58368" y="5321807"/>
            <a:ext cx="3262487" cy="603504"/>
          </a:xfrm>
          <a:prstGeom prst="roundRect">
            <a:avLst>
              <a:gd name="adj" fmla="val 9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58368" y="5367527"/>
            <a:ext cx="3262487" cy="548640"/>
          </a:xfrm>
          <a:prstGeom prst="rect">
            <a:avLst/>
          </a:prstGeom>
          <a:noFill/>
        </p:spPr>
        <p:txBody>
          <a:bodyPr wrap="square" anchor="ctr" lIns="0" rIns="0" tIns="0" bIns="0">
            <a:spAutoFit/>
          </a:bodyPr>
          <a:lstStyle/>
          <a:p>
            <a:pPr algn="ctr">
              <a:lnSpc>
                <a:spcPct val="112000"/>
              </a:lnSpc>
              <a:spcBef>
                <a:spcPts val="0"/>
              </a:spcBef>
              <a:spcAft>
                <a:spcPts val="0"/>
              </a:spcAft>
            </a:pPr>
            <a:r>
              <a:rPr sz="1200" b="1" i="0">
                <a:solidFill>
                  <a:srgbClr val="FFFFFF"/>
                </a:solidFill>
                <a:latin typeface="Calibri"/>
              </a:rPr>
              <a:t>Standard benchmark evaluation</a:t>
            </a:r>
          </a:p>
        </p:txBody>
      </p:sp>
      <p:sp>
        <p:nvSpPr>
          <p:cNvPr id="32" name="Rounded Rectangle 31"/>
          <p:cNvSpPr/>
          <p:nvPr/>
        </p:nvSpPr>
        <p:spPr>
          <a:xfrm>
            <a:off x="4464603" y="5321807"/>
            <a:ext cx="3262487" cy="603504"/>
          </a:xfrm>
          <a:prstGeom prst="roundRect">
            <a:avLst>
              <a:gd name="adj" fmla="val 9000"/>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464603" y="5367527"/>
            <a:ext cx="3262487" cy="548640"/>
          </a:xfrm>
          <a:prstGeom prst="rect">
            <a:avLst/>
          </a:prstGeom>
          <a:noFill/>
        </p:spPr>
        <p:txBody>
          <a:bodyPr wrap="square" anchor="ctr" lIns="0" rIns="0" tIns="0" bIns="0">
            <a:spAutoFit/>
          </a:bodyPr>
          <a:lstStyle/>
          <a:p>
            <a:pPr algn="ctr">
              <a:lnSpc>
                <a:spcPct val="112000"/>
              </a:lnSpc>
              <a:spcBef>
                <a:spcPts val="0"/>
              </a:spcBef>
              <a:spcAft>
                <a:spcPts val="0"/>
              </a:spcAft>
            </a:pPr>
            <a:r>
              <a:rPr sz="1200" b="1" i="0">
                <a:solidFill>
                  <a:srgbClr val="FFFFFF"/>
                </a:solidFill>
                <a:latin typeface="Calibri"/>
              </a:rPr>
              <a:t>Generalisation evaluation (unseen functionalities)</a:t>
            </a:r>
          </a:p>
        </p:txBody>
      </p:sp>
      <p:sp>
        <p:nvSpPr>
          <p:cNvPr id="34" name="Rounded Rectangle 33"/>
          <p:cNvSpPr/>
          <p:nvPr/>
        </p:nvSpPr>
        <p:spPr>
          <a:xfrm>
            <a:off x="8270839" y="5321807"/>
            <a:ext cx="3262487" cy="603504"/>
          </a:xfrm>
          <a:prstGeom prst="roundRect">
            <a:avLst>
              <a:gd name="adj" fmla="val 9000"/>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270839" y="5367527"/>
            <a:ext cx="3262487" cy="548640"/>
          </a:xfrm>
          <a:prstGeom prst="rect">
            <a:avLst/>
          </a:prstGeom>
          <a:noFill/>
        </p:spPr>
        <p:txBody>
          <a:bodyPr wrap="square" anchor="ctr" lIns="0" rIns="0" tIns="0" bIns="0">
            <a:spAutoFit/>
          </a:bodyPr>
          <a:lstStyle/>
          <a:p>
            <a:pPr algn="ctr">
              <a:lnSpc>
                <a:spcPct val="112000"/>
              </a:lnSpc>
              <a:spcBef>
                <a:spcPts val="0"/>
              </a:spcBef>
              <a:spcAft>
                <a:spcPts val="0"/>
              </a:spcAft>
            </a:pPr>
            <a:r>
              <a:rPr sz="1200" b="1" i="0">
                <a:solidFill>
                  <a:srgbClr val="FFFFFF"/>
                </a:solidFill>
                <a:latin typeface="Calibri"/>
              </a:rPr>
              <a:t>Embedding visualisation</a:t>
            </a:r>
          </a:p>
        </p:txBody>
      </p:sp>
      <p:sp>
        <p:nvSpPr>
          <p:cNvPr id="36" name="Down Arrow 35"/>
          <p:cNvSpPr/>
          <p:nvPr/>
        </p:nvSpPr>
        <p:spPr>
          <a:xfrm>
            <a:off x="6027267" y="5047488"/>
            <a:ext cx="137160" cy="274319"/>
          </a:xfrm>
          <a:prstGeom prst="downArrow">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2398361" y="6199631"/>
            <a:ext cx="7394972" cy="457200"/>
          </a:xfrm>
          <a:prstGeom prst="roundRect">
            <a:avLst>
              <a:gd name="adj" fmla="val 10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398361" y="6254495"/>
            <a:ext cx="7394972" cy="384048"/>
          </a:xfrm>
          <a:prstGeom prst="rect">
            <a:avLst/>
          </a:prstGeom>
          <a:noFill/>
        </p:spPr>
        <p:txBody>
          <a:bodyPr wrap="square" anchor="ctr" lIns="0" rIns="0" tIns="0" bIns="0">
            <a:spAutoFit/>
          </a:bodyPr>
          <a:lstStyle/>
          <a:p>
            <a:pPr algn="ctr">
              <a:lnSpc>
                <a:spcPct val="115000"/>
              </a:lnSpc>
              <a:spcBef>
                <a:spcPts val="0"/>
              </a:spcBef>
              <a:spcAft>
                <a:spcPts val="0"/>
              </a:spcAft>
            </a:pPr>
            <a:r>
              <a:rPr sz="1250" b="1" i="0">
                <a:solidFill>
                  <a:srgbClr val="FFFFFF"/>
                </a:solidFill>
                <a:latin typeface="Calibri"/>
              </a:rPr>
              <a:t>Results comparison across the four conditions</a:t>
            </a:r>
          </a:p>
        </p:txBody>
      </p:sp>
      <p:sp>
        <p:nvSpPr>
          <p:cNvPr id="39" name="Down Arrow 38"/>
          <p:cNvSpPr/>
          <p:nvPr/>
        </p:nvSpPr>
        <p:spPr>
          <a:xfrm>
            <a:off x="6027267" y="5925312"/>
            <a:ext cx="137160" cy="274319"/>
          </a:xfrm>
          <a:prstGeom prst="downArrow">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05  ·  METHODOLOGY</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Data Analysis Techniques</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Methodology</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24</a:t>
            </a:r>
          </a:p>
        </p:txBody>
      </p:sp>
      <p:sp>
        <p:nvSpPr>
          <p:cNvPr id="7" name="Rounded Rectangle 6"/>
          <p:cNvSpPr/>
          <p:nvPr/>
        </p:nvSpPr>
        <p:spPr>
          <a:xfrm>
            <a:off x="658368" y="1444752"/>
            <a:ext cx="5303520" cy="3199549"/>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44752"/>
            <a:ext cx="50292" cy="3199549"/>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591056"/>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Quantitative comparison</a:t>
            </a:r>
          </a:p>
        </p:txBody>
      </p:sp>
      <p:sp>
        <p:nvSpPr>
          <p:cNvPr id="10" name="TextBox 9"/>
          <p:cNvSpPr txBox="1"/>
          <p:nvPr/>
        </p:nvSpPr>
        <p:spPr>
          <a:xfrm>
            <a:off x="896112" y="1993392"/>
            <a:ext cx="4892040" cy="2522893"/>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Primary: F1, with precision and recall reported alongside — the metric CodeXGLUE reports, so our numbers are comparable to published work.</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Secondary: MAP@R — threshold-free, so it shows whether the F1 ordering is an artefact of threshold choice.</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The cosine threshold is selected on the validation split and reported.</a:t>
            </a:r>
          </a:p>
        </p:txBody>
      </p:sp>
      <p:sp>
        <p:nvSpPr>
          <p:cNvPr id="11" name="Rounded Rectangle 10"/>
          <p:cNvSpPr/>
          <p:nvPr/>
        </p:nvSpPr>
        <p:spPr>
          <a:xfrm>
            <a:off x="6227064" y="1444752"/>
            <a:ext cx="5303520" cy="2718465"/>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7064" y="1444752"/>
            <a:ext cx="50292" cy="2718465"/>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64807" y="1591056"/>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Generalisation analysis</a:t>
            </a:r>
          </a:p>
        </p:txBody>
      </p:sp>
      <p:sp>
        <p:nvSpPr>
          <p:cNvPr id="14" name="TextBox 13"/>
          <p:cNvSpPr txBox="1"/>
          <p:nvPr/>
        </p:nvSpPr>
        <p:spPr>
          <a:xfrm>
            <a:off x="6464807" y="1993392"/>
            <a:ext cx="4892040" cy="2041809"/>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Standard test split versus held-out, unseen functionality categories.</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Reported as  F1 seen  −  F1 unseen  =  Δ, per condition.</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Δ is the dependent variable: it is the gap itself we are testing, not the raw score.</a:t>
            </a:r>
          </a:p>
        </p:txBody>
      </p:sp>
      <p:sp>
        <p:nvSpPr>
          <p:cNvPr id="15" name="Rounded Rectangle 14"/>
          <p:cNvSpPr/>
          <p:nvPr/>
        </p:nvSpPr>
        <p:spPr>
          <a:xfrm>
            <a:off x="658368" y="3493008"/>
            <a:ext cx="5303520" cy="2101490"/>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3493008"/>
            <a:ext cx="50292" cy="2101490"/>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3639312"/>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Visual and qualitative analysis</a:t>
            </a:r>
          </a:p>
        </p:txBody>
      </p:sp>
      <p:sp>
        <p:nvSpPr>
          <p:cNvPr id="18" name="TextBox 17"/>
          <p:cNvSpPr txBox="1"/>
          <p:nvPr/>
        </p:nvSpPr>
        <p:spPr>
          <a:xfrm>
            <a:off x="896112" y="4041648"/>
            <a:ext cx="4892040" cy="1424834"/>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t-SNE / UMAP projection to compare embedding cluster separation across the four conditions.</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Fixed random seed and shared sample across all panels, so the comparison is fair.</a:t>
            </a:r>
          </a:p>
        </p:txBody>
      </p:sp>
      <p:sp>
        <p:nvSpPr>
          <p:cNvPr id="19" name="Rounded Rectangle 18"/>
          <p:cNvSpPr/>
          <p:nvPr/>
        </p:nvSpPr>
        <p:spPr>
          <a:xfrm>
            <a:off x="6227064" y="3493008"/>
            <a:ext cx="5303520" cy="2101490"/>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27064" y="3493008"/>
            <a:ext cx="50292" cy="2101490"/>
          </a:xfrm>
          <a:prstGeom prst="rect">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64807" y="3639312"/>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Analysis discipline</a:t>
            </a:r>
          </a:p>
        </p:txBody>
      </p:sp>
      <p:sp>
        <p:nvSpPr>
          <p:cNvPr id="22" name="TextBox 21"/>
          <p:cNvSpPr txBox="1"/>
          <p:nvPr/>
        </p:nvSpPr>
        <p:spPr>
          <a:xfrm>
            <a:off x="6464807" y="4041648"/>
            <a:ext cx="4892040" cy="1424834"/>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Report differences between conditions, not absolute levels — the benchmark's labels are themselves imperfect.</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If F1 and MAP@R disagree about the ordering, report the disagreement rather than tuning it away.</a:t>
            </a:r>
          </a:p>
        </p:txBody>
      </p:sp>
      <p:sp>
        <p:nvSpPr>
          <p:cNvPr id="23" name="Rounded Rectangle 22"/>
          <p:cNvSpPr/>
          <p:nvPr/>
        </p:nvSpPr>
        <p:spPr>
          <a:xfrm>
            <a:off x="658368" y="5358383"/>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5358383"/>
            <a:ext cx="54864" cy="1119560"/>
          </a:xfrm>
          <a:prstGeom prst="rect">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77824" y="5495544"/>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A caution that is written into the method, not added afterwards</a:t>
            </a:r>
          </a:p>
          <a:p>
            <a:pPr algn="l">
              <a:lnSpc>
                <a:spcPct val="117000"/>
              </a:lnSpc>
              <a:spcBef>
                <a:spcPts val="0"/>
              </a:spcBef>
              <a:spcAft>
                <a:spcPts val="300"/>
              </a:spcAft>
            </a:pPr>
            <a:r>
              <a:rPr sz="1250" b="0" i="0">
                <a:solidFill>
                  <a:srgbClr val="444E59"/>
                </a:solidFill>
                <a:latin typeface="Calibri"/>
              </a:rPr>
              <a:t>A 2D projection is an illustration, not evidence. Cluster shape depends on projection hyperparameters, so the visualisation is presented after the results table and never in place of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05  ·  METHODOLOGY</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Tools and Resources Used</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Methodology</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25</a:t>
            </a:r>
          </a:p>
        </p:txBody>
      </p:sp>
      <p:sp>
        <p:nvSpPr>
          <p:cNvPr id="7" name="Rounded Rectangle 6"/>
          <p:cNvSpPr/>
          <p:nvPr/>
        </p:nvSpPr>
        <p:spPr>
          <a:xfrm>
            <a:off x="658368" y="1463040"/>
            <a:ext cx="3466490" cy="1572768"/>
          </a:xfrm>
          <a:prstGeom prst="roundRect">
            <a:avLst>
              <a:gd name="adj" fmla="val 6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63040"/>
            <a:ext cx="50292" cy="157276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1609344"/>
            <a:ext cx="3064154" cy="292608"/>
          </a:xfrm>
          <a:prstGeom prst="rect">
            <a:avLst/>
          </a:prstGeom>
          <a:noFill/>
        </p:spPr>
        <p:txBody>
          <a:bodyPr wrap="square" anchor="t" lIns="0" rIns="0" tIns="0" bIns="0">
            <a:spAutoFit/>
          </a:bodyPr>
          <a:lstStyle/>
          <a:p>
            <a:pPr algn="l">
              <a:lnSpc>
                <a:spcPct val="115000"/>
              </a:lnSpc>
              <a:spcBef>
                <a:spcPts val="0"/>
              </a:spcBef>
              <a:spcAft>
                <a:spcPts val="400"/>
              </a:spcAft>
            </a:pPr>
            <a:r>
              <a:rPr sz="1050" b="1" i="0">
                <a:solidFill>
                  <a:srgbClr val="1F6FB2"/>
                </a:solidFill>
                <a:latin typeface="Calibri"/>
              </a:rPr>
              <a:t>LANGUAGES</a:t>
            </a:r>
          </a:p>
        </p:txBody>
      </p:sp>
      <p:sp>
        <p:nvSpPr>
          <p:cNvPr id="10" name="TextBox 9"/>
          <p:cNvSpPr txBox="1"/>
          <p:nvPr/>
        </p:nvSpPr>
        <p:spPr>
          <a:xfrm>
            <a:off x="877824" y="1938528"/>
            <a:ext cx="3064154" cy="914400"/>
          </a:xfrm>
          <a:prstGeom prst="rect">
            <a:avLst/>
          </a:prstGeom>
          <a:noFill/>
        </p:spPr>
        <p:txBody>
          <a:bodyPr wrap="square" anchor="t" lIns="0" rIns="0" tIns="0" bIns="0">
            <a:spAutoFit/>
          </a:bodyPr>
          <a:lstStyle/>
          <a:p>
            <a:pPr algn="l">
              <a:lnSpc>
                <a:spcPct val="115000"/>
              </a:lnSpc>
              <a:spcBef>
                <a:spcPts val="0"/>
              </a:spcBef>
              <a:spcAft>
                <a:spcPts val="500"/>
              </a:spcAft>
            </a:pPr>
            <a:r>
              <a:rPr sz="1250" b="0" i="0">
                <a:solidFill>
                  <a:srgbClr val="444E59"/>
                </a:solidFill>
                <a:latin typeface="Calibri"/>
              </a:rPr>
              <a:t>Python</a:t>
            </a:r>
          </a:p>
          <a:p>
            <a:pPr algn="l">
              <a:lnSpc>
                <a:spcPct val="115000"/>
              </a:lnSpc>
              <a:spcBef>
                <a:spcPts val="0"/>
              </a:spcBef>
              <a:spcAft>
                <a:spcPts val="500"/>
              </a:spcAft>
            </a:pPr>
            <a:r>
              <a:rPr sz="1250" b="0" i="0">
                <a:solidFill>
                  <a:srgbClr val="444E59"/>
                </a:solidFill>
                <a:latin typeface="Calibri"/>
              </a:rPr>
              <a:t>PyTorch</a:t>
            </a:r>
          </a:p>
        </p:txBody>
      </p:sp>
      <p:sp>
        <p:nvSpPr>
          <p:cNvPr id="11" name="Rounded Rectangle 10"/>
          <p:cNvSpPr/>
          <p:nvPr/>
        </p:nvSpPr>
        <p:spPr>
          <a:xfrm>
            <a:off x="4362602" y="1463040"/>
            <a:ext cx="3466490" cy="1572768"/>
          </a:xfrm>
          <a:prstGeom prst="roundRect">
            <a:avLst>
              <a:gd name="adj" fmla="val 6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62602" y="1463040"/>
            <a:ext cx="50292" cy="157276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82058" y="1609344"/>
            <a:ext cx="3064154" cy="292608"/>
          </a:xfrm>
          <a:prstGeom prst="rect">
            <a:avLst/>
          </a:prstGeom>
          <a:noFill/>
        </p:spPr>
        <p:txBody>
          <a:bodyPr wrap="square" anchor="t" lIns="0" rIns="0" tIns="0" bIns="0">
            <a:spAutoFit/>
          </a:bodyPr>
          <a:lstStyle/>
          <a:p>
            <a:pPr algn="l">
              <a:lnSpc>
                <a:spcPct val="115000"/>
              </a:lnSpc>
              <a:spcBef>
                <a:spcPts val="0"/>
              </a:spcBef>
              <a:spcAft>
                <a:spcPts val="400"/>
              </a:spcAft>
            </a:pPr>
            <a:r>
              <a:rPr sz="1050" b="1" i="0">
                <a:solidFill>
                  <a:srgbClr val="1F6FB2"/>
                </a:solidFill>
                <a:latin typeface="Calibri"/>
              </a:rPr>
              <a:t>MODELLING</a:t>
            </a:r>
          </a:p>
        </p:txBody>
      </p:sp>
      <p:sp>
        <p:nvSpPr>
          <p:cNvPr id="14" name="TextBox 13"/>
          <p:cNvSpPr txBox="1"/>
          <p:nvPr/>
        </p:nvSpPr>
        <p:spPr>
          <a:xfrm>
            <a:off x="4582058" y="1938528"/>
            <a:ext cx="3064154" cy="914400"/>
          </a:xfrm>
          <a:prstGeom prst="rect">
            <a:avLst/>
          </a:prstGeom>
          <a:noFill/>
        </p:spPr>
        <p:txBody>
          <a:bodyPr wrap="square" anchor="t" lIns="0" rIns="0" tIns="0" bIns="0">
            <a:spAutoFit/>
          </a:bodyPr>
          <a:lstStyle/>
          <a:p>
            <a:pPr algn="l">
              <a:lnSpc>
                <a:spcPct val="115000"/>
              </a:lnSpc>
              <a:spcBef>
                <a:spcPts val="0"/>
              </a:spcBef>
              <a:spcAft>
                <a:spcPts val="500"/>
              </a:spcAft>
            </a:pPr>
            <a:r>
              <a:rPr sz="1250" b="0" i="0">
                <a:solidFill>
                  <a:srgbClr val="444E59"/>
                </a:solidFill>
                <a:latin typeface="Calibri"/>
              </a:rPr>
              <a:t>Hugging Face Transformers</a:t>
            </a:r>
          </a:p>
          <a:p>
            <a:pPr algn="l">
              <a:lnSpc>
                <a:spcPct val="115000"/>
              </a:lnSpc>
              <a:spcBef>
                <a:spcPts val="0"/>
              </a:spcBef>
              <a:spcAft>
                <a:spcPts val="500"/>
              </a:spcAft>
            </a:pPr>
            <a:r>
              <a:rPr sz="1250" b="0" i="0">
                <a:solidFill>
                  <a:srgbClr val="444E59"/>
                </a:solidFill>
                <a:latin typeface="Calibri"/>
              </a:rPr>
              <a:t>sentence-transformers</a:t>
            </a:r>
          </a:p>
        </p:txBody>
      </p:sp>
      <p:sp>
        <p:nvSpPr>
          <p:cNvPr id="15" name="Rounded Rectangle 14"/>
          <p:cNvSpPr/>
          <p:nvPr/>
        </p:nvSpPr>
        <p:spPr>
          <a:xfrm>
            <a:off x="8066836" y="1463040"/>
            <a:ext cx="3466490" cy="1572768"/>
          </a:xfrm>
          <a:prstGeom prst="roundRect">
            <a:avLst>
              <a:gd name="adj" fmla="val 6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66836" y="1463040"/>
            <a:ext cx="50292" cy="1572768"/>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86292" y="1609344"/>
            <a:ext cx="3064154" cy="292608"/>
          </a:xfrm>
          <a:prstGeom prst="rect">
            <a:avLst/>
          </a:prstGeom>
          <a:noFill/>
        </p:spPr>
        <p:txBody>
          <a:bodyPr wrap="square" anchor="t" lIns="0" rIns="0" tIns="0" bIns="0">
            <a:spAutoFit/>
          </a:bodyPr>
          <a:lstStyle/>
          <a:p>
            <a:pPr algn="l">
              <a:lnSpc>
                <a:spcPct val="115000"/>
              </a:lnSpc>
              <a:spcBef>
                <a:spcPts val="0"/>
              </a:spcBef>
              <a:spcAft>
                <a:spcPts val="400"/>
              </a:spcAft>
            </a:pPr>
            <a:r>
              <a:rPr sz="1050" b="1" i="0">
                <a:solidFill>
                  <a:srgbClr val="2E8B6F"/>
                </a:solidFill>
                <a:latin typeface="Calibri"/>
              </a:rPr>
              <a:t>BASE MODEL</a:t>
            </a:r>
          </a:p>
        </p:txBody>
      </p:sp>
      <p:sp>
        <p:nvSpPr>
          <p:cNvPr id="18" name="TextBox 17"/>
          <p:cNvSpPr txBox="1"/>
          <p:nvPr/>
        </p:nvSpPr>
        <p:spPr>
          <a:xfrm>
            <a:off x="8286292" y="1938528"/>
            <a:ext cx="3064154" cy="914400"/>
          </a:xfrm>
          <a:prstGeom prst="rect">
            <a:avLst/>
          </a:prstGeom>
          <a:noFill/>
        </p:spPr>
        <p:txBody>
          <a:bodyPr wrap="square" anchor="t" lIns="0" rIns="0" tIns="0" bIns="0">
            <a:spAutoFit/>
          </a:bodyPr>
          <a:lstStyle/>
          <a:p>
            <a:pPr algn="l">
              <a:lnSpc>
                <a:spcPct val="115000"/>
              </a:lnSpc>
              <a:spcBef>
                <a:spcPts val="0"/>
              </a:spcBef>
              <a:spcAft>
                <a:spcPts val="500"/>
              </a:spcAft>
            </a:pPr>
            <a:r>
              <a:rPr sz="1250" b="0" i="0">
                <a:solidFill>
                  <a:srgbClr val="444E59"/>
                </a:solidFill>
                <a:latin typeface="Calibri"/>
              </a:rPr>
              <a:t>GraphCodeBERT</a:t>
            </a:r>
          </a:p>
          <a:p>
            <a:pPr algn="l">
              <a:lnSpc>
                <a:spcPct val="115000"/>
              </a:lnSpc>
              <a:spcBef>
                <a:spcPts val="0"/>
              </a:spcBef>
              <a:spcAft>
                <a:spcPts val="500"/>
              </a:spcAft>
            </a:pPr>
            <a:r>
              <a:rPr sz="1250" b="0" i="0">
                <a:solidFill>
                  <a:srgbClr val="444E59"/>
                </a:solidFill>
                <a:latin typeface="Calibri"/>
              </a:rPr>
              <a:t>(pretrained, 768-d)</a:t>
            </a:r>
          </a:p>
        </p:txBody>
      </p:sp>
      <p:sp>
        <p:nvSpPr>
          <p:cNvPr id="19" name="Rounded Rectangle 18"/>
          <p:cNvSpPr/>
          <p:nvPr/>
        </p:nvSpPr>
        <p:spPr>
          <a:xfrm>
            <a:off x="658368" y="3273552"/>
            <a:ext cx="3466490" cy="1572768"/>
          </a:xfrm>
          <a:prstGeom prst="roundRect">
            <a:avLst>
              <a:gd name="adj" fmla="val 6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58368" y="3273552"/>
            <a:ext cx="50292" cy="1572768"/>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77824" y="3419856"/>
            <a:ext cx="3064154" cy="292608"/>
          </a:xfrm>
          <a:prstGeom prst="rect">
            <a:avLst/>
          </a:prstGeom>
          <a:noFill/>
        </p:spPr>
        <p:txBody>
          <a:bodyPr wrap="square" anchor="t" lIns="0" rIns="0" tIns="0" bIns="0">
            <a:spAutoFit/>
          </a:bodyPr>
          <a:lstStyle/>
          <a:p>
            <a:pPr algn="l">
              <a:lnSpc>
                <a:spcPct val="115000"/>
              </a:lnSpc>
              <a:spcBef>
                <a:spcPts val="0"/>
              </a:spcBef>
              <a:spcAft>
                <a:spcPts val="400"/>
              </a:spcAft>
            </a:pPr>
            <a:r>
              <a:rPr sz="1050" b="1" i="0">
                <a:solidFill>
                  <a:srgbClr val="E8734A"/>
                </a:solidFill>
                <a:latin typeface="Calibri"/>
              </a:rPr>
              <a:t>NEGATIVE MINING</a:t>
            </a:r>
          </a:p>
        </p:txBody>
      </p:sp>
      <p:sp>
        <p:nvSpPr>
          <p:cNvPr id="22" name="TextBox 21"/>
          <p:cNvSpPr txBox="1"/>
          <p:nvPr/>
        </p:nvSpPr>
        <p:spPr>
          <a:xfrm>
            <a:off x="877824" y="3749039"/>
            <a:ext cx="3064154" cy="914400"/>
          </a:xfrm>
          <a:prstGeom prst="rect">
            <a:avLst/>
          </a:prstGeom>
          <a:noFill/>
        </p:spPr>
        <p:txBody>
          <a:bodyPr wrap="square" anchor="t" lIns="0" rIns="0" tIns="0" bIns="0">
            <a:spAutoFit/>
          </a:bodyPr>
          <a:lstStyle/>
          <a:p>
            <a:pPr algn="l">
              <a:lnSpc>
                <a:spcPct val="115000"/>
              </a:lnSpc>
              <a:spcBef>
                <a:spcPts val="0"/>
              </a:spcBef>
              <a:spcAft>
                <a:spcPts val="500"/>
              </a:spcAft>
            </a:pPr>
            <a:r>
              <a:rPr sz="1250" b="0" i="0">
                <a:solidFill>
                  <a:srgbClr val="444E59"/>
                </a:solidFill>
                <a:latin typeface="Calibri"/>
              </a:rPr>
              <a:t>rank_bm25 — BM25 index</a:t>
            </a:r>
          </a:p>
          <a:p>
            <a:pPr algn="l">
              <a:lnSpc>
                <a:spcPct val="115000"/>
              </a:lnSpc>
              <a:spcBef>
                <a:spcPts val="0"/>
              </a:spcBef>
              <a:spcAft>
                <a:spcPts val="500"/>
              </a:spcAft>
            </a:pPr>
            <a:r>
              <a:rPr sz="1250" b="0" i="0">
                <a:solidFill>
                  <a:srgbClr val="444E59"/>
                </a:solidFill>
                <a:latin typeface="Calibri"/>
              </a:rPr>
              <a:t>Corpus encoded once for semantic mining</a:t>
            </a:r>
          </a:p>
        </p:txBody>
      </p:sp>
      <p:sp>
        <p:nvSpPr>
          <p:cNvPr id="23" name="Rounded Rectangle 22"/>
          <p:cNvSpPr/>
          <p:nvPr/>
        </p:nvSpPr>
        <p:spPr>
          <a:xfrm>
            <a:off x="4362602" y="3273552"/>
            <a:ext cx="3466490" cy="1572768"/>
          </a:xfrm>
          <a:prstGeom prst="roundRect">
            <a:avLst>
              <a:gd name="adj" fmla="val 6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362602" y="3273552"/>
            <a:ext cx="50292" cy="157276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82058" y="3419856"/>
            <a:ext cx="3064154" cy="292608"/>
          </a:xfrm>
          <a:prstGeom prst="rect">
            <a:avLst/>
          </a:prstGeom>
          <a:noFill/>
        </p:spPr>
        <p:txBody>
          <a:bodyPr wrap="square" anchor="t" lIns="0" rIns="0" tIns="0" bIns="0">
            <a:spAutoFit/>
          </a:bodyPr>
          <a:lstStyle/>
          <a:p>
            <a:pPr algn="l">
              <a:lnSpc>
                <a:spcPct val="115000"/>
              </a:lnSpc>
              <a:spcBef>
                <a:spcPts val="0"/>
              </a:spcBef>
              <a:spcAft>
                <a:spcPts val="400"/>
              </a:spcAft>
            </a:pPr>
            <a:r>
              <a:rPr sz="1050" b="1" i="0">
                <a:solidFill>
                  <a:srgbClr val="1F6FB2"/>
                </a:solidFill>
                <a:latin typeface="Calibri"/>
              </a:rPr>
              <a:t>DATASET</a:t>
            </a:r>
          </a:p>
        </p:txBody>
      </p:sp>
      <p:sp>
        <p:nvSpPr>
          <p:cNvPr id="26" name="TextBox 25"/>
          <p:cNvSpPr txBox="1"/>
          <p:nvPr/>
        </p:nvSpPr>
        <p:spPr>
          <a:xfrm>
            <a:off x="4582058" y="3749039"/>
            <a:ext cx="3064154" cy="914400"/>
          </a:xfrm>
          <a:prstGeom prst="rect">
            <a:avLst/>
          </a:prstGeom>
          <a:noFill/>
        </p:spPr>
        <p:txBody>
          <a:bodyPr wrap="square" anchor="t" lIns="0" rIns="0" tIns="0" bIns="0">
            <a:spAutoFit/>
          </a:bodyPr>
          <a:lstStyle/>
          <a:p>
            <a:pPr algn="l">
              <a:lnSpc>
                <a:spcPct val="115000"/>
              </a:lnSpc>
              <a:spcBef>
                <a:spcPts val="0"/>
              </a:spcBef>
              <a:spcAft>
                <a:spcPts val="500"/>
              </a:spcAft>
            </a:pPr>
            <a:r>
              <a:rPr sz="1250" b="0" i="0">
                <a:solidFill>
                  <a:srgbClr val="444E59"/>
                </a:solidFill>
                <a:latin typeface="Calibri"/>
              </a:rPr>
              <a:t>BigCloneBench / CodeXGLUE</a:t>
            </a:r>
          </a:p>
          <a:p>
            <a:pPr algn="l">
              <a:lnSpc>
                <a:spcPct val="115000"/>
              </a:lnSpc>
              <a:spcBef>
                <a:spcPts val="0"/>
              </a:spcBef>
              <a:spcAft>
                <a:spcPts val="500"/>
              </a:spcAft>
            </a:pPr>
            <a:r>
              <a:rPr sz="1250" b="0" i="0">
                <a:solidFill>
                  <a:srgbClr val="444E59"/>
                </a:solidFill>
                <a:latin typeface="Calibri"/>
              </a:rPr>
              <a:t>901k / 415k / 415k pairs</a:t>
            </a:r>
          </a:p>
        </p:txBody>
      </p:sp>
      <p:sp>
        <p:nvSpPr>
          <p:cNvPr id="27" name="Rounded Rectangle 26"/>
          <p:cNvSpPr/>
          <p:nvPr/>
        </p:nvSpPr>
        <p:spPr>
          <a:xfrm>
            <a:off x="8066836" y="3273552"/>
            <a:ext cx="3466490" cy="1572768"/>
          </a:xfrm>
          <a:prstGeom prst="roundRect">
            <a:avLst>
              <a:gd name="adj" fmla="val 6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066836" y="3273552"/>
            <a:ext cx="50292" cy="1572768"/>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86292" y="3419856"/>
            <a:ext cx="3064154" cy="292608"/>
          </a:xfrm>
          <a:prstGeom prst="rect">
            <a:avLst/>
          </a:prstGeom>
          <a:noFill/>
        </p:spPr>
        <p:txBody>
          <a:bodyPr wrap="square" anchor="t" lIns="0" rIns="0" tIns="0" bIns="0">
            <a:spAutoFit/>
          </a:bodyPr>
          <a:lstStyle/>
          <a:p>
            <a:pPr algn="l">
              <a:lnSpc>
                <a:spcPct val="115000"/>
              </a:lnSpc>
              <a:spcBef>
                <a:spcPts val="0"/>
              </a:spcBef>
              <a:spcAft>
                <a:spcPts val="400"/>
              </a:spcAft>
            </a:pPr>
            <a:r>
              <a:rPr sz="1050" b="1" i="0">
                <a:solidFill>
                  <a:srgbClr val="2E8B6F"/>
                </a:solidFill>
                <a:latin typeface="Calibri"/>
              </a:rPr>
              <a:t>VISUALISATION</a:t>
            </a:r>
          </a:p>
        </p:txBody>
      </p:sp>
      <p:sp>
        <p:nvSpPr>
          <p:cNvPr id="30" name="TextBox 29"/>
          <p:cNvSpPr txBox="1"/>
          <p:nvPr/>
        </p:nvSpPr>
        <p:spPr>
          <a:xfrm>
            <a:off x="8286292" y="3749039"/>
            <a:ext cx="3064154" cy="914400"/>
          </a:xfrm>
          <a:prstGeom prst="rect">
            <a:avLst/>
          </a:prstGeom>
          <a:noFill/>
        </p:spPr>
        <p:txBody>
          <a:bodyPr wrap="square" anchor="t" lIns="0" rIns="0" tIns="0" bIns="0">
            <a:spAutoFit/>
          </a:bodyPr>
          <a:lstStyle/>
          <a:p>
            <a:pPr algn="l">
              <a:lnSpc>
                <a:spcPct val="115000"/>
              </a:lnSpc>
              <a:spcBef>
                <a:spcPts val="0"/>
              </a:spcBef>
              <a:spcAft>
                <a:spcPts val="500"/>
              </a:spcAft>
            </a:pPr>
            <a:r>
              <a:rPr sz="1250" b="0" i="0">
                <a:solidFill>
                  <a:srgbClr val="444E59"/>
                </a:solidFill>
                <a:latin typeface="Calibri"/>
              </a:rPr>
              <a:t>t-SNE — scikit-learn</a:t>
            </a:r>
          </a:p>
          <a:p>
            <a:pPr algn="l">
              <a:lnSpc>
                <a:spcPct val="115000"/>
              </a:lnSpc>
              <a:spcBef>
                <a:spcPts val="0"/>
              </a:spcBef>
              <a:spcAft>
                <a:spcPts val="500"/>
              </a:spcAft>
            </a:pPr>
            <a:r>
              <a:rPr sz="1250" b="0" i="0">
                <a:solidFill>
                  <a:srgbClr val="444E59"/>
                </a:solidFill>
                <a:latin typeface="Calibri"/>
              </a:rPr>
              <a:t>UMAP — umap-learn</a:t>
            </a:r>
          </a:p>
        </p:txBody>
      </p:sp>
      <p:sp>
        <p:nvSpPr>
          <p:cNvPr id="31" name="Rounded Rectangle 30"/>
          <p:cNvSpPr/>
          <p:nvPr/>
        </p:nvSpPr>
        <p:spPr>
          <a:xfrm>
            <a:off x="658368" y="4992624"/>
            <a:ext cx="10874959" cy="1005840"/>
          </a:xfrm>
          <a:prstGeom prst="roundRect">
            <a:avLst>
              <a:gd name="adj" fmla="val 60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58368" y="4992624"/>
            <a:ext cx="54864" cy="10058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32688" y="5138927"/>
            <a:ext cx="10326319" cy="749808"/>
          </a:xfrm>
          <a:prstGeom prst="rect">
            <a:avLst/>
          </a:prstGeom>
          <a:noFill/>
        </p:spPr>
        <p:txBody>
          <a:bodyPr wrap="square" anchor="t" lIns="0" rIns="0" tIns="0" bIns="0">
            <a:spAutoFit/>
          </a:bodyPr>
          <a:lstStyle/>
          <a:p>
            <a:pPr algn="l">
              <a:lnSpc>
                <a:spcPct val="120000"/>
              </a:lnSpc>
              <a:spcBef>
                <a:spcPts val="0"/>
              </a:spcBef>
              <a:spcAft>
                <a:spcPts val="400"/>
              </a:spcAft>
            </a:pPr>
            <a:r>
              <a:rPr sz="1300" b="1" i="0">
                <a:solidFill>
                  <a:srgbClr val="16202B"/>
                </a:solidFill>
                <a:latin typeface="Calibri"/>
              </a:rPr>
              <a:t>Compute</a:t>
            </a:r>
          </a:p>
          <a:p>
            <a:pPr algn="l">
              <a:lnSpc>
                <a:spcPct val="120000"/>
              </a:lnSpc>
              <a:spcBef>
                <a:spcPts val="0"/>
              </a:spcBef>
              <a:spcAft>
                <a:spcPts val="0"/>
              </a:spcAft>
            </a:pPr>
            <a:r>
              <a:rPr sz="1250" b="0" i="0">
                <a:solidFill>
                  <a:srgbClr val="444E59"/>
                </a:solidFill>
                <a:latin typeface="Calibri"/>
              </a:rPr>
              <a:t>Free-tier GPU (Google Colab). Feasible because the corpus is 9,134 fragments, so negative mining and retrieval are single matrix operations — no approximate-index infrastructure is required.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2084831"/>
            <a:ext cx="2926080" cy="1371600"/>
          </a:xfrm>
          <a:prstGeom prst="rect">
            <a:avLst/>
          </a:prstGeom>
          <a:noFill/>
        </p:spPr>
        <p:txBody>
          <a:bodyPr wrap="square" anchor="t" lIns="0" rIns="0" tIns="0" bIns="0">
            <a:spAutoFit/>
          </a:bodyPr>
          <a:lstStyle/>
          <a:p>
            <a:pPr algn="l">
              <a:lnSpc>
                <a:spcPct val="115000"/>
              </a:lnSpc>
              <a:spcBef>
                <a:spcPts val="0"/>
              </a:spcBef>
              <a:spcAft>
                <a:spcPts val="0"/>
              </a:spcAft>
            </a:pPr>
            <a:r>
              <a:rPr sz="7400" b="1" i="0">
                <a:solidFill>
                  <a:srgbClr val="E8734A"/>
                </a:solidFill>
                <a:latin typeface="Calibri"/>
              </a:rPr>
              <a:t>06</a:t>
            </a:r>
          </a:p>
        </p:txBody>
      </p:sp>
      <p:sp>
        <p:nvSpPr>
          <p:cNvPr id="5" name="TextBox 4"/>
          <p:cNvSpPr txBox="1"/>
          <p:nvPr/>
        </p:nvSpPr>
        <p:spPr>
          <a:xfrm>
            <a:off x="960120" y="3310128"/>
            <a:ext cx="9692640" cy="777240"/>
          </a:xfrm>
          <a:prstGeom prst="rect">
            <a:avLst/>
          </a:prstGeom>
          <a:noFill/>
        </p:spPr>
        <p:txBody>
          <a:bodyPr wrap="square" anchor="t" lIns="0" rIns="0" tIns="0" bIns="0">
            <a:spAutoFit/>
          </a:bodyPr>
          <a:lstStyle/>
          <a:p>
            <a:pPr algn="l">
              <a:lnSpc>
                <a:spcPct val="115000"/>
              </a:lnSpc>
              <a:spcBef>
                <a:spcPts val="0"/>
              </a:spcBef>
              <a:spcAft>
                <a:spcPts val="0"/>
              </a:spcAft>
            </a:pPr>
            <a:r>
              <a:rPr sz="3800" b="1" i="0">
                <a:solidFill>
                  <a:srgbClr val="FFFFFF"/>
                </a:solidFill>
                <a:latin typeface="Calibri"/>
              </a:rPr>
              <a:t>Proposed Outcomes</a:t>
            </a:r>
          </a:p>
        </p:txBody>
      </p:sp>
      <p:sp>
        <p:nvSpPr>
          <p:cNvPr id="6" name="TextBox 5"/>
          <p:cNvSpPr txBox="1"/>
          <p:nvPr/>
        </p:nvSpPr>
        <p:spPr>
          <a:xfrm>
            <a:off x="960120" y="4224528"/>
            <a:ext cx="9509760" cy="82296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B9C6D4"/>
                </a:solidFill>
                <a:latin typeface="Calibri"/>
              </a:rPr>
              <a:t>What we expect to find, why it matters, and where it leads next.</a:t>
            </a:r>
          </a:p>
        </p:txBody>
      </p:sp>
      <p:sp>
        <p:nvSpPr>
          <p:cNvPr id="7" name="Rectangle 6"/>
          <p:cNvSpPr/>
          <p:nvPr/>
        </p:nvSpPr>
        <p:spPr>
          <a:xfrm>
            <a:off x="960120" y="4041648"/>
            <a:ext cx="1371600" cy="50292"/>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06  ·  PROPOSED OUTCOMES</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Expected Results</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Proposed Outcomes</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27</a:t>
            </a:r>
          </a:p>
        </p:txBody>
      </p:sp>
      <p:pic>
        <p:nvPicPr>
          <p:cNvPr id="7" name="Picture 6" descr="hypotheses.png"/>
          <p:cNvPicPr>
            <a:picLocks noChangeAspect="1"/>
          </p:cNvPicPr>
          <p:nvPr/>
        </p:nvPicPr>
        <p:blipFill>
          <a:blip r:embed="rId2"/>
          <a:stretch>
            <a:fillRect/>
          </a:stretch>
        </p:blipFill>
        <p:spPr>
          <a:xfrm>
            <a:off x="658368" y="1444752"/>
            <a:ext cx="4843432" cy="2487168"/>
          </a:xfrm>
          <a:prstGeom prst="rect">
            <a:avLst/>
          </a:prstGeom>
        </p:spPr>
      </p:pic>
      <p:sp>
        <p:nvSpPr>
          <p:cNvPr id="8" name="TextBox 7"/>
          <p:cNvSpPr txBox="1"/>
          <p:nvPr/>
        </p:nvSpPr>
        <p:spPr>
          <a:xfrm>
            <a:off x="7562088" y="1444752"/>
            <a:ext cx="3971239" cy="548640"/>
          </a:xfrm>
          <a:prstGeom prst="rect">
            <a:avLst/>
          </a:prstGeom>
          <a:noFill/>
        </p:spPr>
        <p:txBody>
          <a:bodyPr wrap="square" anchor="t" lIns="0" rIns="0" tIns="0" bIns="0">
            <a:spAutoFit/>
          </a:bodyPr>
          <a:lstStyle/>
          <a:p>
            <a:pPr algn="l">
              <a:lnSpc>
                <a:spcPct val="115000"/>
              </a:lnSpc>
              <a:spcBef>
                <a:spcPts val="0"/>
              </a:spcBef>
              <a:spcAft>
                <a:spcPts val="800"/>
              </a:spcAft>
            </a:pPr>
            <a:r>
              <a:rPr sz="1250" b="1" i="0">
                <a:solidFill>
                  <a:srgbClr val="1F6FB2"/>
                </a:solidFill>
                <a:latin typeface="Calibri"/>
              </a:rPr>
              <a:t>▪  </a:t>
            </a:r>
            <a:r>
              <a:rPr sz="1250" b="1" i="0">
                <a:solidFill>
                  <a:srgbClr val="16202B"/>
                </a:solidFill>
                <a:latin typeface="Calibri"/>
              </a:rPr>
              <a:t>Fine-tuning: </a:t>
            </a:r>
            <a:r>
              <a:rPr sz="1250" b="0" i="0">
                <a:solidFill>
                  <a:srgbClr val="444E59"/>
                </a:solidFill>
                <a:latin typeface="Calibri"/>
              </a:rPr>
              <a:t>At least one strategy is expected to beat the off-the-shelf baseline.</a:t>
            </a:r>
          </a:p>
        </p:txBody>
      </p:sp>
      <p:sp>
        <p:nvSpPr>
          <p:cNvPr id="9" name="TextBox 8"/>
          <p:cNvSpPr txBox="1"/>
          <p:nvPr/>
        </p:nvSpPr>
        <p:spPr>
          <a:xfrm>
            <a:off x="7562088" y="2084832"/>
            <a:ext cx="3971239" cy="548640"/>
          </a:xfrm>
          <a:prstGeom prst="rect">
            <a:avLst/>
          </a:prstGeom>
          <a:noFill/>
        </p:spPr>
        <p:txBody>
          <a:bodyPr wrap="square" anchor="t" lIns="0" rIns="0" tIns="0" bIns="0">
            <a:spAutoFit/>
          </a:bodyPr>
          <a:lstStyle/>
          <a:p>
            <a:pPr algn="l">
              <a:lnSpc>
                <a:spcPct val="115000"/>
              </a:lnSpc>
              <a:spcBef>
                <a:spcPts val="0"/>
              </a:spcBef>
              <a:spcAft>
                <a:spcPts val="800"/>
              </a:spcAft>
            </a:pPr>
            <a:r>
              <a:rPr sz="1250" b="1" i="0">
                <a:solidFill>
                  <a:srgbClr val="1F6FB2"/>
                </a:solidFill>
                <a:latin typeface="Calibri"/>
              </a:rPr>
              <a:t>▪  </a:t>
            </a:r>
            <a:r>
              <a:rPr sz="1250" b="1" i="0">
                <a:solidFill>
                  <a:srgbClr val="16202B"/>
                </a:solidFill>
                <a:latin typeface="Calibri"/>
              </a:rPr>
              <a:t>Random vs the rest: </a:t>
            </a:r>
            <a:r>
              <a:rPr sz="1250" b="0" i="0">
                <a:solidFill>
                  <a:srgbClr val="444E59"/>
                </a:solidFill>
                <a:latin typeface="Calibri"/>
              </a:rPr>
              <a:t>Random is expected to trail both mined strategies.</a:t>
            </a:r>
          </a:p>
        </p:txBody>
      </p:sp>
      <p:sp>
        <p:nvSpPr>
          <p:cNvPr id="10" name="TextBox 9"/>
          <p:cNvSpPr txBox="1"/>
          <p:nvPr/>
        </p:nvSpPr>
        <p:spPr>
          <a:xfrm>
            <a:off x="7562088" y="2724912"/>
            <a:ext cx="3971239" cy="548640"/>
          </a:xfrm>
          <a:prstGeom prst="rect">
            <a:avLst/>
          </a:prstGeom>
          <a:noFill/>
        </p:spPr>
        <p:txBody>
          <a:bodyPr wrap="square" anchor="t" lIns="0" rIns="0" tIns="0" bIns="0">
            <a:spAutoFit/>
          </a:bodyPr>
          <a:lstStyle/>
          <a:p>
            <a:pPr algn="l">
              <a:lnSpc>
                <a:spcPct val="115000"/>
              </a:lnSpc>
              <a:spcBef>
                <a:spcPts val="0"/>
              </a:spcBef>
              <a:spcAft>
                <a:spcPts val="800"/>
              </a:spcAft>
            </a:pPr>
            <a:r>
              <a:rPr sz="1250" b="1" i="0">
                <a:solidFill>
                  <a:srgbClr val="1F6FB2"/>
                </a:solidFill>
                <a:latin typeface="Calibri"/>
              </a:rPr>
              <a:t>▪  </a:t>
            </a:r>
            <a:r>
              <a:rPr sz="1250" b="1" i="0">
                <a:solidFill>
                  <a:srgbClr val="16202B"/>
                </a:solidFill>
                <a:latin typeface="Calibri"/>
              </a:rPr>
              <a:t>BM25 vs semantic: </a:t>
            </a:r>
            <a:r>
              <a:rPr sz="1250" b="0" i="0">
                <a:solidFill>
                  <a:srgbClr val="444E59"/>
                </a:solidFill>
                <a:latin typeface="Calibri"/>
              </a:rPr>
              <a:t>Genuinely open — published comparisons put them within noise.</a:t>
            </a:r>
          </a:p>
        </p:txBody>
      </p:sp>
      <p:sp>
        <p:nvSpPr>
          <p:cNvPr id="11" name="TextBox 10"/>
          <p:cNvSpPr txBox="1"/>
          <p:nvPr/>
        </p:nvSpPr>
        <p:spPr>
          <a:xfrm>
            <a:off x="7562088" y="3364992"/>
            <a:ext cx="3971239" cy="548640"/>
          </a:xfrm>
          <a:prstGeom prst="rect">
            <a:avLst/>
          </a:prstGeom>
          <a:noFill/>
        </p:spPr>
        <p:txBody>
          <a:bodyPr wrap="square" anchor="t" lIns="0" rIns="0" tIns="0" bIns="0">
            <a:spAutoFit/>
          </a:bodyPr>
          <a:lstStyle/>
          <a:p>
            <a:pPr algn="l">
              <a:lnSpc>
                <a:spcPct val="115000"/>
              </a:lnSpc>
              <a:spcBef>
                <a:spcPts val="0"/>
              </a:spcBef>
              <a:spcAft>
                <a:spcPts val="800"/>
              </a:spcAft>
            </a:pPr>
            <a:r>
              <a:rPr sz="1250" b="1" i="0">
                <a:solidFill>
                  <a:srgbClr val="1F6FB2"/>
                </a:solidFill>
                <a:latin typeface="Calibri"/>
              </a:rPr>
              <a:t>▪  </a:t>
            </a:r>
            <a:r>
              <a:rPr sz="1250" b="1" i="0">
                <a:solidFill>
                  <a:srgbClr val="16202B"/>
                </a:solidFill>
                <a:latin typeface="Calibri"/>
              </a:rPr>
              <a:t>Generalisation: </a:t>
            </a:r>
            <a:r>
              <a:rPr sz="1250" b="0" i="0">
                <a:solidFill>
                  <a:srgbClr val="444E59"/>
                </a:solidFill>
                <a:latin typeface="Calibri"/>
              </a:rPr>
              <a:t>A drop is expected. The new finding is whether the drop depends on the strategy.</a:t>
            </a:r>
          </a:p>
        </p:txBody>
      </p:sp>
      <p:sp>
        <p:nvSpPr>
          <p:cNvPr id="12" name="Rounded Rectangle 11"/>
          <p:cNvSpPr/>
          <p:nvPr/>
        </p:nvSpPr>
        <p:spPr>
          <a:xfrm>
            <a:off x="658368" y="4078224"/>
            <a:ext cx="10874959" cy="1133856"/>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4078224"/>
            <a:ext cx="54864" cy="1133856"/>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4215384"/>
            <a:ext cx="10454335" cy="859536"/>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Which hypothesis the literature actually supports</a:t>
            </a:r>
          </a:p>
          <a:p>
            <a:pPr algn="l">
              <a:lnSpc>
                <a:spcPct val="117000"/>
              </a:lnSpc>
              <a:spcBef>
                <a:spcPts val="0"/>
              </a:spcBef>
              <a:spcAft>
                <a:spcPts val="300"/>
              </a:spcAft>
            </a:pPr>
            <a:r>
              <a:rPr sz="1250" b="0" i="0">
                <a:solidFill>
                  <a:srgbClr val="444E59"/>
                </a:solidFill>
                <a:latin typeface="Calibri"/>
              </a:rPr>
              <a:t>The literature-supported prediction is the inverted-U, not a straight line: harder negatives help up to a point, and mining too aggressively introduces false negatives that undo the gain. All three shapes are legitimate outcomes, and the deck is built to present whichever occurs.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06  ·  PROPOSED OUTCOMES</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Potential Impact on the Field</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Proposed Outcomes</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28</a:t>
            </a:r>
          </a:p>
        </p:txBody>
      </p:sp>
      <p:sp>
        <p:nvSpPr>
          <p:cNvPr id="7" name="Rounded Rectangle 6"/>
          <p:cNvSpPr/>
          <p:nvPr/>
        </p:nvSpPr>
        <p:spPr>
          <a:xfrm>
            <a:off x="658368" y="1481328"/>
            <a:ext cx="5303520" cy="2582575"/>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81328"/>
            <a:ext cx="50292" cy="2582575"/>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627632"/>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Guidance that transfers</a:t>
            </a:r>
          </a:p>
        </p:txBody>
      </p:sp>
      <p:sp>
        <p:nvSpPr>
          <p:cNvPr id="10" name="TextBox 9"/>
          <p:cNvSpPr txBox="1"/>
          <p:nvPr/>
        </p:nvSpPr>
        <p:spPr>
          <a:xfrm>
            <a:off x="896112" y="2029968"/>
            <a:ext cx="4892040" cy="1905919"/>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Evidence-based guidance for selecting a negative-sampling strategy when adapting embeddings to any specialised domain — not limited to code.</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The question is a method question. A method answer generalises to legal text, support tickets, clinical notes and bug reports, even though the experiment runs on Java.</a:t>
            </a:r>
          </a:p>
        </p:txBody>
      </p:sp>
      <p:sp>
        <p:nvSpPr>
          <p:cNvPr id="11" name="Rounded Rectangle 10"/>
          <p:cNvSpPr/>
          <p:nvPr/>
        </p:nvSpPr>
        <p:spPr>
          <a:xfrm>
            <a:off x="6227064" y="1481328"/>
            <a:ext cx="5303520" cy="2342032"/>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7064" y="1481328"/>
            <a:ext cx="50292" cy="2342032"/>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64807" y="1627632"/>
            <a:ext cx="4892040"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A stronger evaluation habit</a:t>
            </a:r>
          </a:p>
        </p:txBody>
      </p:sp>
      <p:sp>
        <p:nvSpPr>
          <p:cNvPr id="14" name="TextBox 13"/>
          <p:cNvSpPr txBox="1"/>
          <p:nvPr/>
        </p:nvSpPr>
        <p:spPr>
          <a:xfrm>
            <a:off x="6464807" y="2029968"/>
            <a:ext cx="4892040" cy="1665376"/>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Reinforces generalisation testing as standard practice in domain-adaptation research, rather than relying on a single standard benchmark split.</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A held-out category split costs one extra experiment and answers a question the standard split cannot.</a:t>
            </a:r>
          </a:p>
        </p:txBody>
      </p:sp>
      <p:sp>
        <p:nvSpPr>
          <p:cNvPr id="15" name="TextBox 14"/>
          <p:cNvSpPr txBox="1"/>
          <p:nvPr/>
        </p:nvSpPr>
        <p:spPr>
          <a:xfrm>
            <a:off x="658368" y="3822191"/>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For practitioners: </a:t>
            </a:r>
            <a:r>
              <a:rPr sz="1350" b="0" i="0">
                <a:solidFill>
                  <a:srgbClr val="444E59"/>
                </a:solidFill>
                <a:latin typeface="Calibri"/>
              </a:rPr>
              <a:t>A costed answer to “should we build the mining pipeline, or is random sampling fine?” — currently answered by intuition.</a:t>
            </a:r>
          </a:p>
        </p:txBody>
      </p:sp>
      <p:sp>
        <p:nvSpPr>
          <p:cNvPr id="16" name="TextBox 15"/>
          <p:cNvSpPr txBox="1"/>
          <p:nvPr/>
        </p:nvSpPr>
        <p:spPr>
          <a:xfrm>
            <a:off x="658368" y="4352544"/>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For researchers: </a:t>
            </a:r>
            <a:r>
              <a:rPr sz="1350" b="0" i="0">
                <a:solidFill>
                  <a:srgbClr val="444E59"/>
                </a:solidFill>
                <a:latin typeface="Calibri"/>
              </a:rPr>
              <a:t>A clean, reproducible four-condition comparison with a published benchmark to check against, and a measured false-negative rate rather than an assumed one.</a:t>
            </a:r>
          </a:p>
        </p:txBody>
      </p:sp>
      <p:sp>
        <p:nvSpPr>
          <p:cNvPr id="17" name="Rounded Rectangle 16"/>
          <p:cNvSpPr/>
          <p:nvPr/>
        </p:nvSpPr>
        <p:spPr>
          <a:xfrm>
            <a:off x="658368" y="4974336"/>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58368" y="4974336"/>
            <a:ext cx="54864" cy="111956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 y="5111496"/>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Framing the impact honestly</a:t>
            </a:r>
          </a:p>
          <a:p>
            <a:pPr algn="l">
              <a:lnSpc>
                <a:spcPct val="117000"/>
              </a:lnSpc>
              <a:spcBef>
                <a:spcPts val="0"/>
              </a:spcBef>
              <a:spcAft>
                <a:spcPts val="300"/>
              </a:spcAft>
            </a:pPr>
            <a:r>
              <a:rPr sz="1250" b="0" i="0">
                <a:solidFill>
                  <a:srgbClr val="444E59"/>
                </a:solidFill>
                <a:latin typeface="Calibri"/>
              </a:rPr>
              <a:t>The likely size of any effect is modest. The value of the work is that it converts a choice everyone makes informally into a choice with evidence behind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06  ·  PROPOSED OUTCOMES</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Future Research Directions</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Proposed Outcomes</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29</a:t>
            </a:r>
          </a:p>
        </p:txBody>
      </p:sp>
      <p:sp>
        <p:nvSpPr>
          <p:cNvPr id="7" name="Rounded Rectangle 6"/>
          <p:cNvSpPr/>
          <p:nvPr/>
        </p:nvSpPr>
        <p:spPr>
          <a:xfrm>
            <a:off x="658368" y="1481328"/>
            <a:ext cx="3474720" cy="2342032"/>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81328"/>
            <a:ext cx="50292" cy="234203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627632"/>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Other domains</a:t>
            </a:r>
          </a:p>
        </p:txBody>
      </p:sp>
      <p:sp>
        <p:nvSpPr>
          <p:cNvPr id="10" name="TextBox 9"/>
          <p:cNvSpPr txBox="1"/>
          <p:nvPr/>
        </p:nvSpPr>
        <p:spPr>
          <a:xfrm>
            <a:off x="896112" y="2029968"/>
            <a:ext cx="3063239" cy="1665376"/>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Apply the same negative-sampling comparison to legal text, duplicate bug reports and medical record matching.</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Tests whether any finding is a property of code or a property of the method.</a:t>
            </a:r>
          </a:p>
        </p:txBody>
      </p:sp>
      <p:sp>
        <p:nvSpPr>
          <p:cNvPr id="11" name="Rounded Rectangle 10"/>
          <p:cNvSpPr/>
          <p:nvPr/>
        </p:nvSpPr>
        <p:spPr>
          <a:xfrm>
            <a:off x="4352544" y="1481328"/>
            <a:ext cx="3474720" cy="2582575"/>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52544" y="1481328"/>
            <a:ext cx="50292" cy="2582575"/>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90288" y="1627632"/>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Automatic strategy selection</a:t>
            </a:r>
          </a:p>
        </p:txBody>
      </p:sp>
      <p:sp>
        <p:nvSpPr>
          <p:cNvPr id="14" name="TextBox 13"/>
          <p:cNvSpPr txBox="1"/>
          <p:nvPr/>
        </p:nvSpPr>
        <p:spPr>
          <a:xfrm>
            <a:off x="4590288" y="2029968"/>
            <a:ext cx="3063239" cy="1905919"/>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Choose the negative-sampling strategy for a new, unseen domain automatically, using cheap pilot runs instead of the user's judgement.</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Deliberately excluded here, to keep the comparison clean and interpretable.</a:t>
            </a:r>
          </a:p>
        </p:txBody>
      </p:sp>
      <p:sp>
        <p:nvSpPr>
          <p:cNvPr id="15" name="Rounded Rectangle 14"/>
          <p:cNvSpPr/>
          <p:nvPr/>
        </p:nvSpPr>
        <p:spPr>
          <a:xfrm>
            <a:off x="8055864" y="1481328"/>
            <a:ext cx="3474720" cy="2342032"/>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55864" y="1481328"/>
            <a:ext cx="50292" cy="2342032"/>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93608" y="1627632"/>
            <a:ext cx="3063239" cy="365760"/>
          </a:xfrm>
          <a:prstGeom prst="rect">
            <a:avLst/>
          </a:prstGeom>
          <a:noFill/>
        </p:spPr>
        <p:txBody>
          <a:bodyPr wrap="square" anchor="t" lIns="0" rIns="0" tIns="0" bIns="0">
            <a:spAutoFit/>
          </a:bodyPr>
          <a:lstStyle/>
          <a:p>
            <a:pPr algn="l">
              <a:lnSpc>
                <a:spcPct val="115000"/>
              </a:lnSpc>
              <a:spcBef>
                <a:spcPts val="0"/>
              </a:spcBef>
              <a:spcAft>
                <a:spcPts val="400"/>
              </a:spcAft>
            </a:pPr>
            <a:r>
              <a:rPr sz="1450" b="1" i="0">
                <a:solidFill>
                  <a:srgbClr val="16202B"/>
                </a:solidFill>
                <a:latin typeface="Calibri"/>
              </a:rPr>
              <a:t>Hybrid mining</a:t>
            </a:r>
          </a:p>
        </p:txBody>
      </p:sp>
      <p:sp>
        <p:nvSpPr>
          <p:cNvPr id="18" name="TextBox 17"/>
          <p:cNvSpPr txBox="1"/>
          <p:nvPr/>
        </p:nvSpPr>
        <p:spPr>
          <a:xfrm>
            <a:off x="8293608" y="2029968"/>
            <a:ext cx="3063239" cy="1665376"/>
          </a:xfrm>
          <a:prstGeom prst="rect">
            <a:avLst/>
          </a:prstGeom>
          <a:noFill/>
        </p:spPr>
        <p:txBody>
          <a:bodyPr wrap="square" anchor="t" lIns="0" rIns="0" tIns="0" bIns="0">
            <a:spAutoFit/>
          </a:bodyPr>
          <a:lstStyle/>
          <a:p>
            <a:pPr algn="l">
              <a:lnSpc>
                <a:spcPct val="119000"/>
              </a:lnSpc>
              <a:spcBef>
                <a:spcPts val="0"/>
              </a:spcBef>
              <a:spcAft>
                <a:spcPts val="500"/>
              </a:spcAft>
            </a:pPr>
            <a:r>
              <a:rPr sz="1250" b="0" i="0">
                <a:solidFill>
                  <a:srgbClr val="444E59"/>
                </a:solidFill>
                <a:latin typeface="Calibri"/>
              </a:rPr>
              <a:t>Combine random, BM25 and semantic negatives in weighted proportions, and sweep the mixing ratio.</a:t>
            </a:r>
          </a:p>
          <a:p>
            <a:pPr algn="l">
              <a:lnSpc>
                <a:spcPct val="119000"/>
              </a:lnSpc>
              <a:spcBef>
                <a:spcPts val="0"/>
              </a:spcBef>
              <a:spcAft>
                <a:spcPts val="500"/>
              </a:spcAft>
            </a:pPr>
            <a:r>
              <a:rPr sz="1250" b="0" i="0">
                <a:solidFill>
                  <a:srgbClr val="444E59"/>
                </a:solidFill>
                <a:latin typeface="Calibri"/>
              </a:rPr>
              <a:t/>
            </a:r>
          </a:p>
          <a:p>
            <a:pPr algn="l">
              <a:lnSpc>
                <a:spcPct val="119000"/>
              </a:lnSpc>
              <a:spcBef>
                <a:spcPts val="0"/>
              </a:spcBef>
              <a:spcAft>
                <a:spcPts val="500"/>
              </a:spcAft>
            </a:pPr>
            <a:r>
              <a:rPr sz="1250" b="0" i="0">
                <a:solidFill>
                  <a:srgbClr val="444E59"/>
                </a:solidFill>
                <a:latin typeface="Calibri"/>
              </a:rPr>
              <a:t>The natural follow-up once the three pure conditions are measured.</a:t>
            </a:r>
          </a:p>
        </p:txBody>
      </p:sp>
      <p:sp>
        <p:nvSpPr>
          <p:cNvPr id="19" name="Rounded Rectangle 18"/>
          <p:cNvSpPr/>
          <p:nvPr/>
        </p:nvSpPr>
        <p:spPr>
          <a:xfrm>
            <a:off x="658368" y="3785616"/>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58368" y="3785616"/>
            <a:ext cx="54864" cy="1119560"/>
          </a:xfrm>
          <a:prstGeom prst="rect">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77824" y="3922776"/>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One thing worth knowing before starting the hybrid direction</a:t>
            </a:r>
          </a:p>
          <a:p>
            <a:pPr algn="l">
              <a:lnSpc>
                <a:spcPct val="117000"/>
              </a:lnSpc>
              <a:spcBef>
                <a:spcPts val="0"/>
              </a:spcBef>
              <a:spcAft>
                <a:spcPts val="300"/>
              </a:spcAft>
            </a:pPr>
            <a:r>
              <a:rPr sz="1250" b="0" i="0">
                <a:solidFill>
                  <a:srgbClr val="444E59"/>
                </a:solidFill>
                <a:latin typeface="Calibri"/>
              </a:rPr>
              <a:t>A fused BM25 + semantic strategy has already been tried in natural-language retrieval and lost on four of five tasks. It remains a reasonable next experiment here — but the prior is weaker than it looks.</a:t>
            </a:r>
          </a:p>
        </p:txBody>
      </p:sp>
      <p:sp>
        <p:nvSpPr>
          <p:cNvPr id="22" name="Rounded Rectangle 21"/>
          <p:cNvSpPr/>
          <p:nvPr/>
        </p:nvSpPr>
        <p:spPr>
          <a:xfrm>
            <a:off x="658368" y="4974336"/>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58368" y="4974336"/>
            <a:ext cx="54864" cy="111956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 y="5111496"/>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Also worth doing</a:t>
            </a:r>
          </a:p>
          <a:p>
            <a:pPr algn="l">
              <a:lnSpc>
                <a:spcPct val="117000"/>
              </a:lnSpc>
              <a:spcBef>
                <a:spcPts val="0"/>
              </a:spcBef>
              <a:spcAft>
                <a:spcPts val="300"/>
              </a:spcAft>
            </a:pPr>
            <a:r>
              <a:rPr sz="1250" b="0" i="0">
                <a:solidFill>
                  <a:srgbClr val="444E59"/>
                </a:solidFill>
                <a:latin typeface="Calibri"/>
              </a:rPr>
              <a:t>Refresh the mined negatives part-way through training, so the hard examples track the model as it learns rather than staying fixed from epoch zero.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2084831"/>
            <a:ext cx="2926080" cy="1371600"/>
          </a:xfrm>
          <a:prstGeom prst="rect">
            <a:avLst/>
          </a:prstGeom>
          <a:noFill/>
        </p:spPr>
        <p:txBody>
          <a:bodyPr wrap="square" anchor="t" lIns="0" rIns="0" tIns="0" bIns="0">
            <a:spAutoFit/>
          </a:bodyPr>
          <a:lstStyle/>
          <a:p>
            <a:pPr algn="l">
              <a:lnSpc>
                <a:spcPct val="115000"/>
              </a:lnSpc>
              <a:spcBef>
                <a:spcPts val="0"/>
              </a:spcBef>
              <a:spcAft>
                <a:spcPts val="0"/>
              </a:spcAft>
            </a:pPr>
            <a:r>
              <a:rPr sz="7400" b="1" i="0">
                <a:solidFill>
                  <a:srgbClr val="E8734A"/>
                </a:solidFill>
                <a:latin typeface="Calibri"/>
              </a:rPr>
              <a:t>07</a:t>
            </a:r>
          </a:p>
        </p:txBody>
      </p:sp>
      <p:sp>
        <p:nvSpPr>
          <p:cNvPr id="5" name="TextBox 4"/>
          <p:cNvSpPr txBox="1"/>
          <p:nvPr/>
        </p:nvSpPr>
        <p:spPr>
          <a:xfrm>
            <a:off x="960120" y="3310128"/>
            <a:ext cx="9692640" cy="777240"/>
          </a:xfrm>
          <a:prstGeom prst="rect">
            <a:avLst/>
          </a:prstGeom>
          <a:noFill/>
        </p:spPr>
        <p:txBody>
          <a:bodyPr wrap="square" anchor="t" lIns="0" rIns="0" tIns="0" bIns="0">
            <a:spAutoFit/>
          </a:bodyPr>
          <a:lstStyle/>
          <a:p>
            <a:pPr algn="l">
              <a:lnSpc>
                <a:spcPct val="115000"/>
              </a:lnSpc>
              <a:spcBef>
                <a:spcPts val="0"/>
              </a:spcBef>
              <a:spcAft>
                <a:spcPts val="0"/>
              </a:spcAft>
            </a:pPr>
            <a:r>
              <a:rPr sz="3800" b="1" i="0">
                <a:solidFill>
                  <a:srgbClr val="FFFFFF"/>
                </a:solidFill>
                <a:latin typeface="Calibri"/>
              </a:rPr>
              <a:t>Timeline of the Project</a:t>
            </a:r>
          </a:p>
        </p:txBody>
      </p:sp>
      <p:sp>
        <p:nvSpPr>
          <p:cNvPr id="6" name="TextBox 5"/>
          <p:cNvSpPr txBox="1"/>
          <p:nvPr/>
        </p:nvSpPr>
        <p:spPr>
          <a:xfrm>
            <a:off x="960120" y="4224528"/>
            <a:ext cx="9509760" cy="82296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B9C6D4"/>
                </a:solidFill>
                <a:latin typeface="Calibri"/>
              </a:rPr>
              <a:t>Initiation → planning → execution → closure, with the research tasks mapped inside.</a:t>
            </a:r>
          </a:p>
        </p:txBody>
      </p:sp>
      <p:sp>
        <p:nvSpPr>
          <p:cNvPr id="7" name="Rectangle 6"/>
          <p:cNvSpPr/>
          <p:nvPr/>
        </p:nvSpPr>
        <p:spPr>
          <a:xfrm>
            <a:off x="960120" y="4041648"/>
            <a:ext cx="1371600" cy="50292"/>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07  ·  TIMELINE</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Timeline of the Project</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1298448"/>
            <a:ext cx="10874959" cy="274320"/>
          </a:xfrm>
          <a:prstGeom prst="rect">
            <a:avLst/>
          </a:prstGeom>
          <a:noFill/>
        </p:spPr>
        <p:txBody>
          <a:bodyPr wrap="square" anchor="t" lIns="0" rIns="0" tIns="0" bIns="0">
            <a:spAutoFit/>
          </a:bodyPr>
          <a:lstStyle/>
          <a:p>
            <a:pPr algn="l">
              <a:lnSpc>
                <a:spcPct val="115000"/>
              </a:lnSpc>
              <a:spcBef>
                <a:spcPts val="0"/>
              </a:spcBef>
              <a:spcAft>
                <a:spcPts val="600"/>
              </a:spcAft>
            </a:pPr>
            <a:r>
              <a:rPr sz="1250" b="0" i="0">
                <a:solidFill>
                  <a:srgbClr val="87919D"/>
                </a:solidFill>
                <a:latin typeface="Calibri"/>
              </a:rPr>
              <a:t>EL phase structure, with the four-week research execution mapped into it.</a:t>
            </a:r>
          </a:p>
        </p:txBody>
      </p:sp>
      <p:sp>
        <p:nvSpPr>
          <p:cNvPr id="6" name="TextBox 5"/>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Timeline</a:t>
            </a:r>
          </a:p>
        </p:txBody>
      </p:sp>
      <p:sp>
        <p:nvSpPr>
          <p:cNvPr id="7" name="TextBox 6"/>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31</a:t>
            </a:r>
          </a:p>
        </p:txBody>
      </p:sp>
      <p:sp>
        <p:nvSpPr>
          <p:cNvPr id="8" name="Rounded Rectangle 7"/>
          <p:cNvSpPr/>
          <p:nvPr/>
        </p:nvSpPr>
        <p:spPr>
          <a:xfrm>
            <a:off x="658368" y="1444752"/>
            <a:ext cx="2554147" cy="566928"/>
          </a:xfrm>
          <a:prstGeom prst="roundRect">
            <a:avLst>
              <a:gd name="adj" fmla="val 1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1508760"/>
            <a:ext cx="2554147" cy="457200"/>
          </a:xfrm>
          <a:prstGeom prst="rect">
            <a:avLst/>
          </a:prstGeom>
          <a:noFill/>
        </p:spPr>
        <p:txBody>
          <a:bodyPr wrap="square" anchor="t" lIns="0" rIns="0" tIns="0" bIns="0">
            <a:spAutoFit/>
          </a:bodyPr>
          <a:lstStyle/>
          <a:p>
            <a:pPr algn="ctr">
              <a:lnSpc>
                <a:spcPct val="115000"/>
              </a:lnSpc>
              <a:spcBef>
                <a:spcPts val="0"/>
              </a:spcBef>
              <a:spcAft>
                <a:spcPts val="100"/>
              </a:spcAft>
            </a:pPr>
            <a:r>
              <a:rPr sz="1400" b="1" i="0">
                <a:solidFill>
                  <a:srgbClr val="FFFFFF"/>
                </a:solidFill>
                <a:latin typeface="Calibri"/>
              </a:rPr>
              <a:t>Initiation</a:t>
            </a:r>
          </a:p>
          <a:p>
            <a:pPr algn="ctr">
              <a:lnSpc>
                <a:spcPct val="115000"/>
              </a:lnSpc>
              <a:spcBef>
                <a:spcPts val="0"/>
              </a:spcBef>
              <a:spcAft>
                <a:spcPts val="0"/>
              </a:spcAft>
            </a:pPr>
            <a:r>
              <a:rPr sz="1100" b="0" i="0">
                <a:solidFill>
                  <a:srgbClr val="E3ECF5"/>
                </a:solidFill>
                <a:latin typeface="Calibri"/>
              </a:rPr>
              <a:t>Weeks 1–2</a:t>
            </a:r>
          </a:p>
        </p:txBody>
      </p:sp>
      <p:sp>
        <p:nvSpPr>
          <p:cNvPr id="10" name="Rounded Rectangle 9"/>
          <p:cNvSpPr/>
          <p:nvPr/>
        </p:nvSpPr>
        <p:spPr>
          <a:xfrm>
            <a:off x="658368" y="2139696"/>
            <a:ext cx="2554147" cy="2304288"/>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2286000"/>
            <a:ext cx="2188387" cy="2048256"/>
          </a:xfrm>
          <a:prstGeom prst="rect">
            <a:avLst/>
          </a:prstGeom>
          <a:noFill/>
        </p:spPr>
        <p:txBody>
          <a:bodyPr wrap="square" anchor="t" lIns="0" rIns="0" tIns="0" bIns="0">
            <a:spAutoFit/>
          </a:bodyPr>
          <a:lstStyle/>
          <a:p>
            <a:pPr algn="l">
              <a:lnSpc>
                <a:spcPct val="115000"/>
              </a:lnSpc>
              <a:spcBef>
                <a:spcPts val="0"/>
              </a:spcBef>
              <a:spcAft>
                <a:spcPts val="800"/>
              </a:spcAft>
            </a:pPr>
            <a:r>
              <a:rPr sz="1150" b="1" i="0">
                <a:solidFill>
                  <a:srgbClr val="1F6FB2"/>
                </a:solidFill>
                <a:latin typeface="Calibri"/>
              </a:rPr>
              <a:t>·  </a:t>
            </a:r>
            <a:r>
              <a:rPr sz="1150" b="0" i="0">
                <a:solidFill>
                  <a:srgbClr val="444E59"/>
                </a:solidFill>
                <a:latin typeface="Calibri"/>
              </a:rPr>
              <a:t>Define project goals and objectives</a:t>
            </a:r>
          </a:p>
          <a:p>
            <a:pPr algn="l">
              <a:lnSpc>
                <a:spcPct val="115000"/>
              </a:lnSpc>
              <a:spcBef>
                <a:spcPts val="0"/>
              </a:spcBef>
              <a:spcAft>
                <a:spcPts val="800"/>
              </a:spcAft>
            </a:pPr>
            <a:r>
              <a:rPr sz="1150" b="1" i="0">
                <a:solidFill>
                  <a:srgbClr val="1F6FB2"/>
                </a:solidFill>
                <a:latin typeface="Calibri"/>
              </a:rPr>
              <a:t>·  </a:t>
            </a:r>
            <a:r>
              <a:rPr sz="1150" b="0" i="0">
                <a:solidFill>
                  <a:srgbClr val="444E59"/>
                </a:solidFill>
                <a:latin typeface="Calibri"/>
              </a:rPr>
              <a:t>Identify resources and compute</a:t>
            </a:r>
          </a:p>
          <a:p>
            <a:pPr algn="l">
              <a:lnSpc>
                <a:spcPct val="115000"/>
              </a:lnSpc>
              <a:spcBef>
                <a:spcPts val="0"/>
              </a:spcBef>
              <a:spcAft>
                <a:spcPts val="800"/>
              </a:spcAft>
            </a:pPr>
            <a:r>
              <a:rPr sz="1150" b="1" i="0">
                <a:solidFill>
                  <a:srgbClr val="1F6FB2"/>
                </a:solidFill>
                <a:latin typeface="Calibri"/>
              </a:rPr>
              <a:t>·  </a:t>
            </a:r>
            <a:r>
              <a:rPr sz="1150" b="0" i="0">
                <a:solidFill>
                  <a:srgbClr val="444E59"/>
                </a:solidFill>
                <a:latin typeface="Calibri"/>
              </a:rPr>
              <a:t>Feasibility: dataset access, tooling</a:t>
            </a:r>
          </a:p>
          <a:p>
            <a:pPr algn="l">
              <a:lnSpc>
                <a:spcPct val="115000"/>
              </a:lnSpc>
              <a:spcBef>
                <a:spcPts val="0"/>
              </a:spcBef>
              <a:spcAft>
                <a:spcPts val="800"/>
              </a:spcAft>
            </a:pPr>
            <a:r>
              <a:rPr sz="1150" b="1" i="0">
                <a:solidFill>
                  <a:srgbClr val="1F6FB2"/>
                </a:solidFill>
                <a:latin typeface="Calibri"/>
              </a:rPr>
              <a:t>·  </a:t>
            </a:r>
            <a:r>
              <a:rPr sz="1150" b="0" i="0">
                <a:solidFill>
                  <a:srgbClr val="444E59"/>
                </a:solidFill>
                <a:latin typeface="Calibri"/>
              </a:rPr>
              <a:t>Confirm scope and stop condition</a:t>
            </a:r>
          </a:p>
        </p:txBody>
      </p:sp>
      <p:sp>
        <p:nvSpPr>
          <p:cNvPr id="12" name="Rounded Rectangle 11"/>
          <p:cNvSpPr/>
          <p:nvPr/>
        </p:nvSpPr>
        <p:spPr>
          <a:xfrm>
            <a:off x="3431971" y="1444752"/>
            <a:ext cx="2554147" cy="566928"/>
          </a:xfrm>
          <a:prstGeom prst="roundRect">
            <a:avLst>
              <a:gd name="adj" fmla="val 1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31971" y="1508760"/>
            <a:ext cx="2554147" cy="457200"/>
          </a:xfrm>
          <a:prstGeom prst="rect">
            <a:avLst/>
          </a:prstGeom>
          <a:noFill/>
        </p:spPr>
        <p:txBody>
          <a:bodyPr wrap="square" anchor="t" lIns="0" rIns="0" tIns="0" bIns="0">
            <a:spAutoFit/>
          </a:bodyPr>
          <a:lstStyle/>
          <a:p>
            <a:pPr algn="ctr">
              <a:lnSpc>
                <a:spcPct val="115000"/>
              </a:lnSpc>
              <a:spcBef>
                <a:spcPts val="0"/>
              </a:spcBef>
              <a:spcAft>
                <a:spcPts val="100"/>
              </a:spcAft>
            </a:pPr>
            <a:r>
              <a:rPr sz="1400" b="1" i="0">
                <a:solidFill>
                  <a:srgbClr val="FFFFFF"/>
                </a:solidFill>
                <a:latin typeface="Calibri"/>
              </a:rPr>
              <a:t>Planning</a:t>
            </a:r>
          </a:p>
          <a:p>
            <a:pPr algn="ctr">
              <a:lnSpc>
                <a:spcPct val="115000"/>
              </a:lnSpc>
              <a:spcBef>
                <a:spcPts val="0"/>
              </a:spcBef>
              <a:spcAft>
                <a:spcPts val="0"/>
              </a:spcAft>
            </a:pPr>
            <a:r>
              <a:rPr sz="1100" b="0" i="0">
                <a:solidFill>
                  <a:srgbClr val="E3ECF5"/>
                </a:solidFill>
                <a:latin typeface="Calibri"/>
              </a:rPr>
              <a:t>Weeks 3–4</a:t>
            </a:r>
          </a:p>
        </p:txBody>
      </p:sp>
      <p:sp>
        <p:nvSpPr>
          <p:cNvPr id="14" name="Rounded Rectangle 13"/>
          <p:cNvSpPr/>
          <p:nvPr/>
        </p:nvSpPr>
        <p:spPr>
          <a:xfrm>
            <a:off x="3431971" y="2139696"/>
            <a:ext cx="2554147" cy="2304288"/>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14851" y="2286000"/>
            <a:ext cx="2188387" cy="2048256"/>
          </a:xfrm>
          <a:prstGeom prst="rect">
            <a:avLst/>
          </a:prstGeom>
          <a:noFill/>
        </p:spPr>
        <p:txBody>
          <a:bodyPr wrap="square" anchor="t" lIns="0" rIns="0" tIns="0" bIns="0">
            <a:spAutoFit/>
          </a:bodyPr>
          <a:lstStyle/>
          <a:p>
            <a:pPr algn="l">
              <a:lnSpc>
                <a:spcPct val="115000"/>
              </a:lnSpc>
              <a:spcBef>
                <a:spcPts val="0"/>
              </a:spcBef>
              <a:spcAft>
                <a:spcPts val="800"/>
              </a:spcAft>
            </a:pPr>
            <a:r>
              <a:rPr sz="1150" b="1" i="0">
                <a:solidFill>
                  <a:srgbClr val="1F6FB2"/>
                </a:solidFill>
                <a:latin typeface="Calibri"/>
              </a:rPr>
              <a:t>·  </a:t>
            </a:r>
            <a:r>
              <a:rPr sz="1150" b="0" i="0">
                <a:solidFill>
                  <a:srgbClr val="444E59"/>
                </a:solidFill>
                <a:latin typeface="Calibri"/>
              </a:rPr>
              <a:t>Detailed project plan and task list</a:t>
            </a:r>
          </a:p>
          <a:p>
            <a:pPr algn="l">
              <a:lnSpc>
                <a:spcPct val="115000"/>
              </a:lnSpc>
              <a:spcBef>
                <a:spcPts val="0"/>
              </a:spcBef>
              <a:spcAft>
                <a:spcPts val="800"/>
              </a:spcAft>
            </a:pPr>
            <a:r>
              <a:rPr sz="1150" b="1" i="0">
                <a:solidFill>
                  <a:srgbClr val="1F6FB2"/>
                </a:solidFill>
                <a:latin typeface="Calibri"/>
              </a:rPr>
              <a:t>·  </a:t>
            </a:r>
            <a:r>
              <a:rPr sz="1150" b="0" i="0">
                <a:solidFill>
                  <a:srgbClr val="444E59"/>
                </a:solidFill>
                <a:latin typeface="Calibri"/>
              </a:rPr>
              <a:t>Pipeline design and data contracts</a:t>
            </a:r>
          </a:p>
          <a:p>
            <a:pPr algn="l">
              <a:lnSpc>
                <a:spcPct val="115000"/>
              </a:lnSpc>
              <a:spcBef>
                <a:spcPts val="0"/>
              </a:spcBef>
              <a:spcAft>
                <a:spcPts val="800"/>
              </a:spcAft>
            </a:pPr>
            <a:r>
              <a:rPr sz="1150" b="1" i="0">
                <a:solidFill>
                  <a:srgbClr val="1F6FB2"/>
                </a:solidFill>
                <a:latin typeface="Calibri"/>
              </a:rPr>
              <a:t>·  </a:t>
            </a:r>
            <a:r>
              <a:rPr sz="1150" b="0" i="0">
                <a:solidFill>
                  <a:srgbClr val="444E59"/>
                </a:solidFill>
                <a:latin typeface="Calibri"/>
              </a:rPr>
              <a:t>Negative-mining verification built and tested</a:t>
            </a:r>
          </a:p>
          <a:p>
            <a:pPr algn="l">
              <a:lnSpc>
                <a:spcPct val="115000"/>
              </a:lnSpc>
              <a:spcBef>
                <a:spcPts val="0"/>
              </a:spcBef>
              <a:spcAft>
                <a:spcPts val="800"/>
              </a:spcAft>
            </a:pPr>
            <a:r>
              <a:rPr sz="1150" b="1" i="0">
                <a:solidFill>
                  <a:srgbClr val="1F6FB2"/>
                </a:solidFill>
                <a:latin typeface="Calibri"/>
              </a:rPr>
              <a:t>·  </a:t>
            </a:r>
            <a:r>
              <a:rPr sz="1150" b="0" i="0">
                <a:solidFill>
                  <a:srgbClr val="444E59"/>
                </a:solidFill>
                <a:latin typeface="Calibri"/>
              </a:rPr>
              <a:t>Fix subset size from a throughput test</a:t>
            </a:r>
          </a:p>
        </p:txBody>
      </p:sp>
      <p:sp>
        <p:nvSpPr>
          <p:cNvPr id="16" name="Rounded Rectangle 15"/>
          <p:cNvSpPr/>
          <p:nvPr/>
        </p:nvSpPr>
        <p:spPr>
          <a:xfrm>
            <a:off x="6205575" y="1444752"/>
            <a:ext cx="2554147" cy="566928"/>
          </a:xfrm>
          <a:prstGeom prst="roundRect">
            <a:avLst>
              <a:gd name="adj" fmla="val 10000"/>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05575" y="1508760"/>
            <a:ext cx="2554147" cy="457200"/>
          </a:xfrm>
          <a:prstGeom prst="rect">
            <a:avLst/>
          </a:prstGeom>
          <a:noFill/>
        </p:spPr>
        <p:txBody>
          <a:bodyPr wrap="square" anchor="t" lIns="0" rIns="0" tIns="0" bIns="0">
            <a:spAutoFit/>
          </a:bodyPr>
          <a:lstStyle/>
          <a:p>
            <a:pPr algn="ctr">
              <a:lnSpc>
                <a:spcPct val="115000"/>
              </a:lnSpc>
              <a:spcBef>
                <a:spcPts val="0"/>
              </a:spcBef>
              <a:spcAft>
                <a:spcPts val="100"/>
              </a:spcAft>
            </a:pPr>
            <a:r>
              <a:rPr sz="1400" b="1" i="0">
                <a:solidFill>
                  <a:srgbClr val="FFFFFF"/>
                </a:solidFill>
                <a:latin typeface="Calibri"/>
              </a:rPr>
              <a:t>Execution</a:t>
            </a:r>
          </a:p>
          <a:p>
            <a:pPr algn="ctr">
              <a:lnSpc>
                <a:spcPct val="115000"/>
              </a:lnSpc>
              <a:spcBef>
                <a:spcPts val="0"/>
              </a:spcBef>
              <a:spcAft>
                <a:spcPts val="0"/>
              </a:spcAft>
            </a:pPr>
            <a:r>
              <a:rPr sz="1100" b="0" i="0">
                <a:solidFill>
                  <a:srgbClr val="E3ECF5"/>
                </a:solidFill>
                <a:latin typeface="Calibri"/>
              </a:rPr>
              <a:t>Weeks 5–10</a:t>
            </a:r>
          </a:p>
        </p:txBody>
      </p:sp>
      <p:sp>
        <p:nvSpPr>
          <p:cNvPr id="18" name="Rounded Rectangle 17"/>
          <p:cNvSpPr/>
          <p:nvPr/>
        </p:nvSpPr>
        <p:spPr>
          <a:xfrm>
            <a:off x="6205575" y="2139696"/>
            <a:ext cx="2554147" cy="2304288"/>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2286000"/>
            <a:ext cx="2188387" cy="2048256"/>
          </a:xfrm>
          <a:prstGeom prst="rect">
            <a:avLst/>
          </a:prstGeom>
          <a:noFill/>
        </p:spPr>
        <p:txBody>
          <a:bodyPr wrap="square" anchor="t" lIns="0" rIns="0" tIns="0" bIns="0">
            <a:spAutoFit/>
          </a:bodyPr>
          <a:lstStyle/>
          <a:p>
            <a:pPr algn="l">
              <a:lnSpc>
                <a:spcPct val="115000"/>
              </a:lnSpc>
              <a:spcBef>
                <a:spcPts val="0"/>
              </a:spcBef>
              <a:spcAft>
                <a:spcPts val="800"/>
              </a:spcAft>
            </a:pPr>
            <a:r>
              <a:rPr sz="1150" b="1" i="0">
                <a:solidFill>
                  <a:srgbClr val="E8734A"/>
                </a:solidFill>
                <a:latin typeface="Calibri"/>
              </a:rPr>
              <a:t>·  </a:t>
            </a:r>
            <a:r>
              <a:rPr sz="1150" b="0" i="0">
                <a:solidFill>
                  <a:srgbClr val="444E59"/>
                </a:solidFill>
                <a:latin typeface="Calibri"/>
              </a:rPr>
              <a:t>Baseline C0 evaluated first</a:t>
            </a:r>
          </a:p>
          <a:p>
            <a:pPr algn="l">
              <a:lnSpc>
                <a:spcPct val="115000"/>
              </a:lnSpc>
              <a:spcBef>
                <a:spcPts val="0"/>
              </a:spcBef>
              <a:spcAft>
                <a:spcPts val="800"/>
              </a:spcAft>
            </a:pPr>
            <a:r>
              <a:rPr sz="1150" b="1" i="0">
                <a:solidFill>
                  <a:srgbClr val="E8734A"/>
                </a:solidFill>
                <a:latin typeface="Calibri"/>
              </a:rPr>
              <a:t>·  </a:t>
            </a:r>
            <a:r>
              <a:rPr sz="1150" b="0" i="0">
                <a:solidFill>
                  <a:srgbClr val="444E59"/>
                </a:solidFill>
                <a:latin typeface="Calibri"/>
              </a:rPr>
              <a:t>C1 / C2 / C3 fine-tuning runs</a:t>
            </a:r>
          </a:p>
          <a:p>
            <a:pPr algn="l">
              <a:lnSpc>
                <a:spcPct val="115000"/>
              </a:lnSpc>
              <a:spcBef>
                <a:spcPts val="0"/>
              </a:spcBef>
              <a:spcAft>
                <a:spcPts val="800"/>
              </a:spcAft>
            </a:pPr>
            <a:r>
              <a:rPr sz="1150" b="1" i="0">
                <a:solidFill>
                  <a:srgbClr val="E8734A"/>
                </a:solidFill>
                <a:latin typeface="Calibri"/>
              </a:rPr>
              <a:t>·  </a:t>
            </a:r>
            <a:r>
              <a:rPr sz="1150" b="0" i="0">
                <a:solidFill>
                  <a:srgbClr val="444E59"/>
                </a:solidFill>
                <a:latin typeface="Calibri"/>
              </a:rPr>
              <a:t>Standard benchmark evaluation</a:t>
            </a:r>
          </a:p>
          <a:p>
            <a:pPr algn="l">
              <a:lnSpc>
                <a:spcPct val="115000"/>
              </a:lnSpc>
              <a:spcBef>
                <a:spcPts val="0"/>
              </a:spcBef>
              <a:spcAft>
                <a:spcPts val="800"/>
              </a:spcAft>
            </a:pPr>
            <a:r>
              <a:rPr sz="1150" b="1" i="0">
                <a:solidFill>
                  <a:srgbClr val="E8734A"/>
                </a:solidFill>
                <a:latin typeface="Calibri"/>
              </a:rPr>
              <a:t>·  </a:t>
            </a:r>
            <a:r>
              <a:rPr sz="1150" b="0" i="0">
                <a:solidFill>
                  <a:srgbClr val="444E59"/>
                </a:solidFill>
                <a:latin typeface="Calibri"/>
              </a:rPr>
              <a:t>Generalisation test · visualisation · demo</a:t>
            </a:r>
          </a:p>
        </p:txBody>
      </p:sp>
      <p:sp>
        <p:nvSpPr>
          <p:cNvPr id="20" name="Rounded Rectangle 19"/>
          <p:cNvSpPr/>
          <p:nvPr/>
        </p:nvSpPr>
        <p:spPr>
          <a:xfrm>
            <a:off x="8979179" y="1444752"/>
            <a:ext cx="2554147" cy="566928"/>
          </a:xfrm>
          <a:prstGeom prst="roundRect">
            <a:avLst>
              <a:gd name="adj" fmla="val 10000"/>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79179" y="1508760"/>
            <a:ext cx="2554147" cy="457200"/>
          </a:xfrm>
          <a:prstGeom prst="rect">
            <a:avLst/>
          </a:prstGeom>
          <a:noFill/>
        </p:spPr>
        <p:txBody>
          <a:bodyPr wrap="square" anchor="t" lIns="0" rIns="0" tIns="0" bIns="0">
            <a:spAutoFit/>
          </a:bodyPr>
          <a:lstStyle/>
          <a:p>
            <a:pPr algn="ctr">
              <a:lnSpc>
                <a:spcPct val="115000"/>
              </a:lnSpc>
              <a:spcBef>
                <a:spcPts val="0"/>
              </a:spcBef>
              <a:spcAft>
                <a:spcPts val="100"/>
              </a:spcAft>
            </a:pPr>
            <a:r>
              <a:rPr sz="1400" b="1" i="0">
                <a:solidFill>
                  <a:srgbClr val="FFFFFF"/>
                </a:solidFill>
                <a:latin typeface="Calibri"/>
              </a:rPr>
              <a:t>Closure</a:t>
            </a:r>
          </a:p>
          <a:p>
            <a:pPr algn="ctr">
              <a:lnSpc>
                <a:spcPct val="115000"/>
              </a:lnSpc>
              <a:spcBef>
                <a:spcPts val="0"/>
              </a:spcBef>
              <a:spcAft>
                <a:spcPts val="0"/>
              </a:spcAft>
            </a:pPr>
            <a:r>
              <a:rPr sz="1100" b="0" i="0">
                <a:solidFill>
                  <a:srgbClr val="E3ECF5"/>
                </a:solidFill>
                <a:latin typeface="Calibri"/>
              </a:rPr>
              <a:t>Weeks 11–13</a:t>
            </a:r>
          </a:p>
        </p:txBody>
      </p:sp>
      <p:sp>
        <p:nvSpPr>
          <p:cNvPr id="22" name="Rounded Rectangle 21"/>
          <p:cNvSpPr/>
          <p:nvPr/>
        </p:nvSpPr>
        <p:spPr>
          <a:xfrm>
            <a:off x="8979179" y="2139696"/>
            <a:ext cx="2554147" cy="2304288"/>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62059" y="2286000"/>
            <a:ext cx="2188387" cy="2048256"/>
          </a:xfrm>
          <a:prstGeom prst="rect">
            <a:avLst/>
          </a:prstGeom>
          <a:noFill/>
        </p:spPr>
        <p:txBody>
          <a:bodyPr wrap="square" anchor="t" lIns="0" rIns="0" tIns="0" bIns="0">
            <a:spAutoFit/>
          </a:bodyPr>
          <a:lstStyle/>
          <a:p>
            <a:pPr algn="l">
              <a:lnSpc>
                <a:spcPct val="115000"/>
              </a:lnSpc>
              <a:spcBef>
                <a:spcPts val="0"/>
              </a:spcBef>
              <a:spcAft>
                <a:spcPts val="800"/>
              </a:spcAft>
            </a:pPr>
            <a:r>
              <a:rPr sz="1150" b="1" i="0">
                <a:solidFill>
                  <a:srgbClr val="2E8B6F"/>
                </a:solidFill>
                <a:latin typeface="Calibri"/>
              </a:rPr>
              <a:t>·  </a:t>
            </a:r>
            <a:r>
              <a:rPr sz="1150" b="0" i="0">
                <a:solidFill>
                  <a:srgbClr val="444E59"/>
                </a:solidFill>
                <a:latin typeface="Calibri"/>
              </a:rPr>
              <a:t>Final results assembled into one table</a:t>
            </a:r>
          </a:p>
          <a:p>
            <a:pPr algn="l">
              <a:lnSpc>
                <a:spcPct val="115000"/>
              </a:lnSpc>
              <a:spcBef>
                <a:spcPts val="0"/>
              </a:spcBef>
              <a:spcAft>
                <a:spcPts val="800"/>
              </a:spcAft>
            </a:pPr>
            <a:r>
              <a:rPr sz="1150" b="1" i="0">
                <a:solidFill>
                  <a:srgbClr val="2E8B6F"/>
                </a:solidFill>
                <a:latin typeface="Calibri"/>
              </a:rPr>
              <a:t>·  </a:t>
            </a:r>
            <a:r>
              <a:rPr sz="1150" b="0" i="0">
                <a:solidFill>
                  <a:srgbClr val="444E59"/>
                </a:solidFill>
                <a:latin typeface="Calibri"/>
              </a:rPr>
              <a:t>Write-up, limitations and EL deliverable</a:t>
            </a:r>
          </a:p>
          <a:p>
            <a:pPr algn="l">
              <a:lnSpc>
                <a:spcPct val="115000"/>
              </a:lnSpc>
              <a:spcBef>
                <a:spcPts val="0"/>
              </a:spcBef>
              <a:spcAft>
                <a:spcPts val="800"/>
              </a:spcAft>
            </a:pPr>
            <a:r>
              <a:rPr sz="1150" b="1" i="0">
                <a:solidFill>
                  <a:srgbClr val="2E8B6F"/>
                </a:solidFill>
                <a:latin typeface="Calibri"/>
              </a:rPr>
              <a:t>·  </a:t>
            </a:r>
            <a:r>
              <a:rPr sz="1150" b="0" i="0">
                <a:solidFill>
                  <a:srgbClr val="444E59"/>
                </a:solidFill>
                <a:latin typeface="Calibri"/>
              </a:rPr>
              <a:t>Project review presentation</a:t>
            </a:r>
          </a:p>
          <a:p>
            <a:pPr algn="l">
              <a:lnSpc>
                <a:spcPct val="115000"/>
              </a:lnSpc>
              <a:spcBef>
                <a:spcPts val="0"/>
              </a:spcBef>
              <a:spcAft>
                <a:spcPts val="800"/>
              </a:spcAft>
            </a:pPr>
            <a:r>
              <a:rPr sz="1150" b="1" i="0">
                <a:solidFill>
                  <a:srgbClr val="2E8B6F"/>
                </a:solidFill>
                <a:latin typeface="Calibri"/>
              </a:rPr>
              <a:t>·  </a:t>
            </a:r>
            <a:r>
              <a:rPr sz="1150" b="0" i="0">
                <a:solidFill>
                  <a:srgbClr val="444E59"/>
                </a:solidFill>
                <a:latin typeface="Calibri"/>
              </a:rPr>
              <a:t>Lessons learned documented</a:t>
            </a:r>
          </a:p>
        </p:txBody>
      </p:sp>
      <p:sp>
        <p:nvSpPr>
          <p:cNvPr id="24" name="Rounded Rectangle 23"/>
          <p:cNvSpPr/>
          <p:nvPr/>
        </p:nvSpPr>
        <p:spPr>
          <a:xfrm>
            <a:off x="658368" y="4553712"/>
            <a:ext cx="10874959" cy="932688"/>
          </a:xfrm>
          <a:prstGeom prst="roundRect">
            <a:avLst>
              <a:gd name="adj" fmla="val 50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58368" y="4553712"/>
            <a:ext cx="54864" cy="932688"/>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2688" y="4700016"/>
            <a:ext cx="10326319" cy="658368"/>
          </a:xfrm>
          <a:prstGeom prst="rect">
            <a:avLst/>
          </a:prstGeom>
          <a:noFill/>
        </p:spPr>
        <p:txBody>
          <a:bodyPr wrap="square" anchor="t" lIns="0" rIns="0" tIns="0" bIns="0">
            <a:spAutoFit/>
          </a:bodyPr>
          <a:lstStyle/>
          <a:p>
            <a:pPr algn="l">
              <a:lnSpc>
                <a:spcPct val="120000"/>
              </a:lnSpc>
              <a:spcBef>
                <a:spcPts val="0"/>
              </a:spcBef>
              <a:spcAft>
                <a:spcPts val="500"/>
              </a:spcAft>
            </a:pPr>
            <a:r>
              <a:rPr sz="1300" b="1" i="0">
                <a:solidFill>
                  <a:srgbClr val="16202B"/>
                </a:solidFill>
                <a:latin typeface="Calibri"/>
              </a:rPr>
              <a:t>The research execution, in four working weeks</a:t>
            </a:r>
          </a:p>
          <a:p>
            <a:pPr algn="l">
              <a:lnSpc>
                <a:spcPct val="120000"/>
              </a:lnSpc>
              <a:spcBef>
                <a:spcPts val="0"/>
              </a:spcBef>
              <a:spcAft>
                <a:spcPts val="0"/>
              </a:spcAft>
            </a:pPr>
            <a:r>
              <a:rPr sz="1200" b="0" i="0">
                <a:solidFill>
                  <a:srgbClr val="444E59"/>
                </a:solidFill>
                <a:latin typeface="Calibri"/>
              </a:rPr>
              <a:t>Week 1  data pipeline, negative mining verified, one end-to-end run   ·   Week 2  the three conditions trained and evaluated on the standard split   ·   Week 3  generalisation test, visualisation, demo   ·   Week 4  results, write-up, limitations, presentation</a:t>
            </a:r>
          </a:p>
        </p:txBody>
      </p:sp>
      <p:sp>
        <p:nvSpPr>
          <p:cNvPr id="27" name="Rounded Rectangle 26"/>
          <p:cNvSpPr/>
          <p:nvPr/>
        </p:nvSpPr>
        <p:spPr>
          <a:xfrm>
            <a:off x="658368" y="5632704"/>
            <a:ext cx="10874959" cy="1119560"/>
          </a:xfrm>
          <a:prstGeom prst="roundRect">
            <a:avLst>
              <a:gd name="adj" fmla="val 4000"/>
            </a:avLst>
          </a:prstGeom>
          <a:solidFill>
            <a:srgbClr val="FD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58368" y="5632704"/>
            <a:ext cx="54864" cy="1119560"/>
          </a:xfrm>
          <a:prstGeom prst="rect">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77824" y="5769864"/>
            <a:ext cx="10454335" cy="845240"/>
          </a:xfrm>
          <a:prstGeom prst="rect">
            <a:avLst/>
          </a:prstGeom>
          <a:noFill/>
        </p:spPr>
        <p:txBody>
          <a:bodyPr wrap="square" anchor="t" lIns="0" rIns="0" tIns="0" bIns="0">
            <a:spAutoFit/>
          </a:bodyPr>
          <a:lstStyle/>
          <a:p>
            <a:pPr algn="l">
              <a:lnSpc>
                <a:spcPct val="115000"/>
              </a:lnSpc>
              <a:spcBef>
                <a:spcPts val="0"/>
              </a:spcBef>
              <a:spcAft>
                <a:spcPts val="400"/>
              </a:spcAft>
            </a:pPr>
            <a:r>
              <a:rPr sz="1250" b="1" i="0">
                <a:solidFill>
                  <a:srgbClr val="16202B"/>
                </a:solidFill>
                <a:latin typeface="Calibri"/>
              </a:rPr>
              <a:t>Built-in fallback</a:t>
            </a:r>
          </a:p>
          <a:p>
            <a:pPr algn="l">
              <a:lnSpc>
                <a:spcPct val="117000"/>
              </a:lnSpc>
              <a:spcBef>
                <a:spcPts val="0"/>
              </a:spcBef>
              <a:spcAft>
                <a:spcPts val="300"/>
              </a:spcAft>
            </a:pPr>
            <a:r>
              <a:rPr sz="1250" b="0" i="0">
                <a:solidFill>
                  <a:srgbClr val="444E59"/>
                </a:solidFill>
                <a:latin typeface="Calibri"/>
              </a:rPr>
              <a:t>If time compresses, drop to two strategies — random and semantic — which still answers whether the strategy matters. The cost is that a peaked (inverted-U) result can no longer be distinguished from a flat one.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2084831"/>
            <a:ext cx="2926080" cy="1371600"/>
          </a:xfrm>
          <a:prstGeom prst="rect">
            <a:avLst/>
          </a:prstGeom>
          <a:noFill/>
        </p:spPr>
        <p:txBody>
          <a:bodyPr wrap="square" anchor="t" lIns="0" rIns="0" tIns="0" bIns="0">
            <a:spAutoFit/>
          </a:bodyPr>
          <a:lstStyle/>
          <a:p>
            <a:pPr algn="l">
              <a:lnSpc>
                <a:spcPct val="115000"/>
              </a:lnSpc>
              <a:spcBef>
                <a:spcPts val="0"/>
              </a:spcBef>
              <a:spcAft>
                <a:spcPts val="0"/>
              </a:spcAft>
            </a:pPr>
            <a:r>
              <a:rPr sz="7400" b="1" i="0">
                <a:solidFill>
                  <a:srgbClr val="E8734A"/>
                </a:solidFill>
                <a:latin typeface="Calibri"/>
              </a:rPr>
              <a:t>08</a:t>
            </a:r>
          </a:p>
        </p:txBody>
      </p:sp>
      <p:sp>
        <p:nvSpPr>
          <p:cNvPr id="5" name="TextBox 4"/>
          <p:cNvSpPr txBox="1"/>
          <p:nvPr/>
        </p:nvSpPr>
        <p:spPr>
          <a:xfrm>
            <a:off x="960120" y="3310128"/>
            <a:ext cx="9692640" cy="777240"/>
          </a:xfrm>
          <a:prstGeom prst="rect">
            <a:avLst/>
          </a:prstGeom>
          <a:noFill/>
        </p:spPr>
        <p:txBody>
          <a:bodyPr wrap="square" anchor="t" lIns="0" rIns="0" tIns="0" bIns="0">
            <a:spAutoFit/>
          </a:bodyPr>
          <a:lstStyle/>
          <a:p>
            <a:pPr algn="l">
              <a:lnSpc>
                <a:spcPct val="115000"/>
              </a:lnSpc>
              <a:spcBef>
                <a:spcPts val="0"/>
              </a:spcBef>
              <a:spcAft>
                <a:spcPts val="0"/>
              </a:spcAft>
            </a:pPr>
            <a:r>
              <a:rPr sz="3800" b="1" i="0">
                <a:solidFill>
                  <a:srgbClr val="FFFFFF"/>
                </a:solidFill>
                <a:latin typeface="Calibri"/>
              </a:rPr>
              <a:t>Conclusion</a:t>
            </a:r>
          </a:p>
        </p:txBody>
      </p:sp>
      <p:sp>
        <p:nvSpPr>
          <p:cNvPr id="6" name="TextBox 5"/>
          <p:cNvSpPr txBox="1"/>
          <p:nvPr/>
        </p:nvSpPr>
        <p:spPr>
          <a:xfrm>
            <a:off x="960120" y="4224528"/>
            <a:ext cx="9509760" cy="82296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B9C6D4"/>
                </a:solidFill>
                <a:latin typeface="Calibri"/>
              </a:rPr>
              <a:t>What the project is, in three points, and what happens next.</a:t>
            </a:r>
          </a:p>
        </p:txBody>
      </p:sp>
      <p:sp>
        <p:nvSpPr>
          <p:cNvPr id="7" name="Rectangle 6"/>
          <p:cNvSpPr/>
          <p:nvPr/>
        </p:nvSpPr>
        <p:spPr>
          <a:xfrm>
            <a:off x="960120" y="4041648"/>
            <a:ext cx="1371600" cy="50292"/>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08  ·  CONCLUSION</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Conclusion</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Conclusion</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33</a:t>
            </a:r>
          </a:p>
        </p:txBody>
      </p:sp>
      <p:sp>
        <p:nvSpPr>
          <p:cNvPr id="7" name="TextBox 6"/>
          <p:cNvSpPr txBox="1"/>
          <p:nvPr/>
        </p:nvSpPr>
        <p:spPr>
          <a:xfrm>
            <a:off x="658368" y="1444752"/>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The gap: </a:t>
            </a:r>
            <a:r>
              <a:rPr sz="1350" b="0" i="0">
                <a:solidFill>
                  <a:srgbClr val="444E59"/>
                </a:solidFill>
                <a:latin typeface="Calibri"/>
              </a:rPr>
              <a:t>Generic embeddings may not capture domain-specific similarity. Contrastive fine-tuning is a known fix — but how the negative examples are chosen remains under-studied.</a:t>
            </a:r>
          </a:p>
        </p:txBody>
      </p:sp>
      <p:sp>
        <p:nvSpPr>
          <p:cNvPr id="8" name="TextBox 7"/>
          <p:cNvSpPr txBox="1"/>
          <p:nvPr/>
        </p:nvSpPr>
        <p:spPr>
          <a:xfrm>
            <a:off x="658368" y="2011680"/>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The test case: </a:t>
            </a:r>
            <a:r>
              <a:rPr sz="1350" b="0" i="0">
                <a:solidFill>
                  <a:srgbClr val="444E59"/>
                </a:solidFill>
                <a:latin typeface="Calibri"/>
              </a:rPr>
              <a:t>Code similarity detection, using GraphCodeBERT and BigCloneBench — a pairing chosen so our numbers sit beside published ones.</a:t>
            </a:r>
          </a:p>
        </p:txBody>
      </p:sp>
      <p:sp>
        <p:nvSpPr>
          <p:cNvPr id="9" name="TextBox 8"/>
          <p:cNvSpPr txBox="1"/>
          <p:nvPr/>
        </p:nvSpPr>
        <p:spPr>
          <a:xfrm>
            <a:off x="658368" y="2578608"/>
            <a:ext cx="10874959" cy="548640"/>
          </a:xfrm>
          <a:prstGeom prst="rect">
            <a:avLst/>
          </a:prstGeom>
          <a:noFill/>
        </p:spPr>
        <p:txBody>
          <a:bodyPr wrap="square" anchor="t" lIns="0" rIns="0" tIns="0" bIns="0">
            <a:spAutoFit/>
          </a:bodyPr>
          <a:lstStyle/>
          <a:p>
            <a:pPr algn="l">
              <a:lnSpc>
                <a:spcPct val="115000"/>
              </a:lnSpc>
              <a:spcBef>
                <a:spcPts val="0"/>
              </a:spcBef>
              <a:spcAft>
                <a:spcPts val="1100"/>
              </a:spcAft>
            </a:pPr>
            <a:r>
              <a:rPr sz="1350" b="1" i="0">
                <a:solidFill>
                  <a:srgbClr val="1F6FB2"/>
                </a:solidFill>
                <a:latin typeface="Calibri"/>
              </a:rPr>
              <a:t>▪  </a:t>
            </a:r>
            <a:r>
              <a:rPr sz="1350" b="1" i="0">
                <a:solidFill>
                  <a:srgbClr val="16202B"/>
                </a:solidFill>
                <a:latin typeface="Calibri"/>
              </a:rPr>
              <a:t>The design: </a:t>
            </a:r>
            <a:r>
              <a:rPr sz="1350" b="0" i="0">
                <a:solidFill>
                  <a:srgbClr val="444E59"/>
                </a:solidFill>
                <a:latin typeface="Calibri"/>
              </a:rPr>
              <a:t>Negative-sampling strategy as a controlled variable, with generalisation testing built in from the start rather than added as a critique.</a:t>
            </a:r>
          </a:p>
        </p:txBody>
      </p:sp>
      <p:sp>
        <p:nvSpPr>
          <p:cNvPr id="10" name="Rounded Rectangle 9"/>
          <p:cNvSpPr/>
          <p:nvPr/>
        </p:nvSpPr>
        <p:spPr>
          <a:xfrm>
            <a:off x="658368" y="3273552"/>
            <a:ext cx="10874959" cy="1060704"/>
          </a:xfrm>
          <a:prstGeom prst="roundRect">
            <a:avLst>
              <a:gd name="adj" fmla="val 5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58368" y="3273552"/>
            <a:ext cx="64008" cy="1060704"/>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42415" y="3456432"/>
            <a:ext cx="10097719" cy="777240"/>
          </a:xfrm>
          <a:prstGeom prst="rect">
            <a:avLst/>
          </a:prstGeom>
          <a:noFill/>
        </p:spPr>
        <p:txBody>
          <a:bodyPr wrap="square" anchor="t" lIns="0" rIns="0" tIns="0" bIns="0">
            <a:spAutoFit/>
          </a:bodyPr>
          <a:lstStyle/>
          <a:p>
            <a:pPr algn="l">
              <a:lnSpc>
                <a:spcPct val="115000"/>
              </a:lnSpc>
              <a:spcBef>
                <a:spcPts val="0"/>
              </a:spcBef>
              <a:spcAft>
                <a:spcPts val="500"/>
              </a:spcAft>
            </a:pPr>
            <a:r>
              <a:rPr sz="1050" b="1" i="0">
                <a:solidFill>
                  <a:srgbClr val="E8734A"/>
                </a:solidFill>
                <a:latin typeface="Calibri"/>
              </a:rPr>
              <a:t>Final thought</a:t>
            </a:r>
          </a:p>
          <a:p>
            <a:pPr algn="l">
              <a:lnSpc>
                <a:spcPct val="124000"/>
              </a:lnSpc>
              <a:spcBef>
                <a:spcPts val="0"/>
              </a:spcBef>
              <a:spcAft>
                <a:spcPts val="0"/>
              </a:spcAft>
            </a:pPr>
            <a:r>
              <a:rPr sz="1400" b="0" i="0">
                <a:solidFill>
                  <a:srgbClr val="FFFFFF"/>
                </a:solidFill>
                <a:latin typeface="Calibri"/>
              </a:rPr>
              <a:t>“How we train a model to recognize similarity is as important as the architecture itself — this project treats the training methodology as a genuine subject of investigation, not an implementation detail.”</a:t>
            </a:r>
          </a:p>
        </p:txBody>
      </p:sp>
      <p:sp>
        <p:nvSpPr>
          <p:cNvPr id="13" name="TextBox 12"/>
          <p:cNvSpPr txBox="1"/>
          <p:nvPr/>
        </p:nvSpPr>
        <p:spPr>
          <a:xfrm>
            <a:off x="658368" y="4535424"/>
            <a:ext cx="10874959" cy="292608"/>
          </a:xfrm>
          <a:prstGeom prst="rect">
            <a:avLst/>
          </a:prstGeom>
          <a:noFill/>
        </p:spPr>
        <p:txBody>
          <a:bodyPr wrap="square" anchor="t" lIns="0" rIns="0" tIns="0" bIns="0">
            <a:spAutoFit/>
          </a:bodyPr>
          <a:lstStyle/>
          <a:p>
            <a:pPr algn="l">
              <a:lnSpc>
                <a:spcPct val="115000"/>
              </a:lnSpc>
              <a:spcBef>
                <a:spcPts val="0"/>
              </a:spcBef>
              <a:spcAft>
                <a:spcPts val="600"/>
              </a:spcAft>
            </a:pPr>
            <a:r>
              <a:rPr sz="1450" b="1" i="0">
                <a:solidFill>
                  <a:srgbClr val="16202B"/>
                </a:solidFill>
                <a:latin typeface="Calibri"/>
              </a:rPr>
              <a:t>Next steps</a:t>
            </a:r>
          </a:p>
        </p:txBody>
      </p:sp>
      <p:sp>
        <p:nvSpPr>
          <p:cNvPr id="14" name="Rounded Rectangle 13"/>
          <p:cNvSpPr/>
          <p:nvPr/>
        </p:nvSpPr>
        <p:spPr>
          <a:xfrm>
            <a:off x="658368" y="4937760"/>
            <a:ext cx="10874959" cy="438912"/>
          </a:xfrm>
          <a:prstGeom prst="roundRect">
            <a:avLst>
              <a:gd name="adj" fmla="val 10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04672" y="5001768"/>
            <a:ext cx="310896" cy="310896"/>
          </a:xfrm>
          <a:prstGeom prst="roundRect">
            <a:avLst>
              <a:gd name="adj" fmla="val 3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150" b="1" i="0">
                <a:solidFill>
                  <a:srgbClr val="FFFFFF"/>
                </a:solidFill>
                <a:latin typeface="Calibri"/>
              </a:rPr>
              <a:t>1</a:t>
            </a:r>
          </a:p>
        </p:txBody>
      </p:sp>
      <p:sp>
        <p:nvSpPr>
          <p:cNvPr id="16" name="TextBox 15"/>
          <p:cNvSpPr txBox="1"/>
          <p:nvPr/>
        </p:nvSpPr>
        <p:spPr>
          <a:xfrm>
            <a:off x="1261872" y="5001768"/>
            <a:ext cx="10088575" cy="347472"/>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444E59"/>
                </a:solidFill>
                <a:latin typeface="Calibri"/>
              </a:rPr>
              <a:t>Implement and validate the three negative-mining pipelines, with the clone-exclusion check tested</a:t>
            </a:r>
          </a:p>
        </p:txBody>
      </p:sp>
      <p:sp>
        <p:nvSpPr>
          <p:cNvPr id="17" name="Rounded Rectangle 16"/>
          <p:cNvSpPr/>
          <p:nvPr/>
        </p:nvSpPr>
        <p:spPr>
          <a:xfrm>
            <a:off x="658368" y="5449824"/>
            <a:ext cx="10874959" cy="438912"/>
          </a:xfrm>
          <a:prstGeom prst="roundRect">
            <a:avLst>
              <a:gd name="adj" fmla="val 10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04672" y="5513832"/>
            <a:ext cx="310896" cy="310896"/>
          </a:xfrm>
          <a:prstGeom prst="roundRect">
            <a:avLst>
              <a:gd name="adj" fmla="val 3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150" b="1" i="0">
                <a:solidFill>
                  <a:srgbClr val="FFFFFF"/>
                </a:solidFill>
                <a:latin typeface="Calibri"/>
              </a:rPr>
              <a:t>2</a:t>
            </a:r>
          </a:p>
        </p:txBody>
      </p:sp>
      <p:sp>
        <p:nvSpPr>
          <p:cNvPr id="19" name="TextBox 18"/>
          <p:cNvSpPr txBox="1"/>
          <p:nvPr/>
        </p:nvSpPr>
        <p:spPr>
          <a:xfrm>
            <a:off x="1261872" y="5513832"/>
            <a:ext cx="10088575" cy="347472"/>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444E59"/>
                </a:solidFill>
                <a:latin typeface="Calibri"/>
              </a:rPr>
              <a:t>Run comparative training and generalisation evaluation across all four conditions</a:t>
            </a:r>
          </a:p>
        </p:txBody>
      </p:sp>
      <p:sp>
        <p:nvSpPr>
          <p:cNvPr id="20" name="Rounded Rectangle 19"/>
          <p:cNvSpPr/>
          <p:nvPr/>
        </p:nvSpPr>
        <p:spPr>
          <a:xfrm>
            <a:off x="658368" y="5961888"/>
            <a:ext cx="10874959" cy="438912"/>
          </a:xfrm>
          <a:prstGeom prst="roundRect">
            <a:avLst>
              <a:gd name="adj" fmla="val 10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04672" y="6025896"/>
            <a:ext cx="310896" cy="310896"/>
          </a:xfrm>
          <a:prstGeom prst="roundRect">
            <a:avLst>
              <a:gd name="adj" fmla="val 3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150" b="1" i="0">
                <a:solidFill>
                  <a:srgbClr val="FFFFFF"/>
                </a:solidFill>
                <a:latin typeface="Calibri"/>
              </a:rPr>
              <a:t>3</a:t>
            </a:r>
          </a:p>
        </p:txBody>
      </p:sp>
      <p:sp>
        <p:nvSpPr>
          <p:cNvPr id="22" name="TextBox 21"/>
          <p:cNvSpPr txBox="1"/>
          <p:nvPr/>
        </p:nvSpPr>
        <p:spPr>
          <a:xfrm>
            <a:off x="1261872" y="6025896"/>
            <a:ext cx="10088575" cy="347472"/>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444E59"/>
                </a:solidFill>
                <a:latin typeface="Calibri"/>
              </a:rPr>
              <a:t>Extend the comparison to a second domain, to test whether the finding transfers beyond code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09  ·  REFERENCES</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References</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References</a:t>
            </a:r>
          </a:p>
        </p:txBody>
      </p:sp>
      <p:sp>
        <p:nvSpPr>
          <p:cNvPr id="6" name="TextBox 5"/>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34</a:t>
            </a:r>
          </a:p>
        </p:txBody>
      </p:sp>
      <p:sp>
        <p:nvSpPr>
          <p:cNvPr id="7" name="TextBox 6"/>
          <p:cNvSpPr txBox="1"/>
          <p:nvPr/>
        </p:nvSpPr>
        <p:spPr>
          <a:xfrm>
            <a:off x="658368" y="1444752"/>
            <a:ext cx="5272887" cy="4846320"/>
          </a:xfrm>
          <a:prstGeom prst="rect">
            <a:avLst/>
          </a:prstGeom>
          <a:noFill/>
        </p:spPr>
        <p:txBody>
          <a:bodyPr wrap="square" anchor="t" lIns="0" rIns="0" tIns="0" bIns="0">
            <a:spAutoFit/>
          </a:bodyPr>
          <a:lstStyle/>
          <a:p>
            <a:pPr algn="l">
              <a:lnSpc>
                <a:spcPct val="116000"/>
              </a:lnSpc>
              <a:spcBef>
                <a:spcPts val="0"/>
              </a:spcBef>
              <a:spcAft>
                <a:spcPts val="1100"/>
              </a:spcAft>
            </a:pPr>
            <a:r>
              <a:rPr sz="1050" b="0" i="0">
                <a:solidFill>
                  <a:srgbClr val="444E59"/>
                </a:solidFill>
                <a:latin typeface="Calibri"/>
              </a:rPr>
              <a:t>[1]  D. Guo et al., “GraphCodeBERT: Pre-training Code Representations with Data Flow,” in Proc. Int. Conf. Learning Representations (ICLR), 2021.</a:t>
            </a:r>
          </a:p>
          <a:p>
            <a:pPr algn="l">
              <a:lnSpc>
                <a:spcPct val="116000"/>
              </a:lnSpc>
              <a:spcBef>
                <a:spcPts val="0"/>
              </a:spcBef>
              <a:spcAft>
                <a:spcPts val="1100"/>
              </a:spcAft>
            </a:pPr>
            <a:r>
              <a:rPr sz="1050" b="0" i="0">
                <a:solidFill>
                  <a:srgbClr val="444E59"/>
                </a:solidFill>
                <a:latin typeface="Calibri"/>
              </a:rPr>
              <a:t>[2]  P. Jain, A. Jain, T. Zhang, P. Abbeel, J. Gonzalez, and I. Stoica, “Contrastive Code Representation Learning,” in Proc. Conf. Empirical Methods in Natural Language Processing (EMNLP), 2021, pp. 5954–5971.</a:t>
            </a:r>
          </a:p>
          <a:p>
            <a:pPr algn="l">
              <a:lnSpc>
                <a:spcPct val="116000"/>
              </a:lnSpc>
              <a:spcBef>
                <a:spcPts val="0"/>
              </a:spcBef>
              <a:spcAft>
                <a:spcPts val="1100"/>
              </a:spcAft>
            </a:pPr>
            <a:r>
              <a:rPr sz="1050" b="0" i="0">
                <a:solidFill>
                  <a:srgbClr val="444E59"/>
                </a:solidFill>
                <a:latin typeface="Calibri"/>
              </a:rPr>
              <a:t>[3]  T. Sonnekalb, B. Gruner, C.-A. Brust, and P. Mader, “Generalizability of Code Clone Detection on CodeBERT,” in Proc. 37th IEEE/ACM Int. Conf. Automated Software Engineering (ASE), Rochester, MI, USA, 2022.</a:t>
            </a:r>
          </a:p>
          <a:p>
            <a:pPr algn="l">
              <a:lnSpc>
                <a:spcPct val="116000"/>
              </a:lnSpc>
              <a:spcBef>
                <a:spcPts val="0"/>
              </a:spcBef>
              <a:spcAft>
                <a:spcPts val="1100"/>
              </a:spcAft>
            </a:pPr>
            <a:r>
              <a:rPr sz="1050" b="0" i="0">
                <a:solidFill>
                  <a:srgbClr val="444E59"/>
                </a:solidFill>
                <a:latin typeface="Calibri"/>
              </a:rPr>
              <a:t>[4]  S. Liu, B. Wu, X. Xie, G. Meng, and Y. Liu, “ContraBERT: Enhancing Code Pre-trained Models via Contrastive Learning,” in Proc. IEEE/ACM 45th Int. Conf. Software Engineering (ICSE), 2023, pp. 2476–2487.</a:t>
            </a:r>
          </a:p>
          <a:p>
            <a:pPr algn="l">
              <a:lnSpc>
                <a:spcPct val="116000"/>
              </a:lnSpc>
              <a:spcBef>
                <a:spcPts val="0"/>
              </a:spcBef>
              <a:spcAft>
                <a:spcPts val="1100"/>
              </a:spcAft>
            </a:pPr>
            <a:r>
              <a:rPr sz="1050" b="0" i="0">
                <a:solidFill>
                  <a:srgbClr val="444E59"/>
                </a:solidFill>
                <a:latin typeface="Calibri"/>
              </a:rPr>
              <a:t>[5]  M. Khajezade, F. H. Fard, and M. S. Shehata, “Evaluating Few-shot and Contrastive Learning Methods for Code Clone Detection,” Empirical Software Engineering, vol. 29, no. 6, p. 163, 2024.</a:t>
            </a:r>
          </a:p>
        </p:txBody>
      </p:sp>
      <p:sp>
        <p:nvSpPr>
          <p:cNvPr id="8" name="TextBox 7"/>
          <p:cNvSpPr txBox="1"/>
          <p:nvPr/>
        </p:nvSpPr>
        <p:spPr>
          <a:xfrm>
            <a:off x="6260439" y="1444752"/>
            <a:ext cx="5272887" cy="4846320"/>
          </a:xfrm>
          <a:prstGeom prst="rect">
            <a:avLst/>
          </a:prstGeom>
          <a:noFill/>
        </p:spPr>
        <p:txBody>
          <a:bodyPr wrap="square" anchor="t" lIns="0" rIns="0" tIns="0" bIns="0">
            <a:spAutoFit/>
          </a:bodyPr>
          <a:lstStyle/>
          <a:p>
            <a:pPr algn="l">
              <a:lnSpc>
                <a:spcPct val="116000"/>
              </a:lnSpc>
              <a:spcBef>
                <a:spcPts val="0"/>
              </a:spcBef>
              <a:spcAft>
                <a:spcPts val="1100"/>
              </a:spcAft>
            </a:pPr>
            <a:r>
              <a:rPr sz="1050" b="0" i="0">
                <a:solidFill>
                  <a:srgbClr val="444E59"/>
                </a:solidFill>
                <a:latin typeface="Calibri"/>
              </a:rPr>
              <a:t>[6]  P. H. Le-Khac, G. Healy, and A. F. Smeaton, “Contrastive Representation Learning: A Framework and Review,” IEEE Access, vol. 8, pp. 193907–193934, 2020.</a:t>
            </a:r>
          </a:p>
          <a:p>
            <a:pPr algn="l">
              <a:lnSpc>
                <a:spcPct val="116000"/>
              </a:lnSpc>
              <a:spcBef>
                <a:spcPts val="0"/>
              </a:spcBef>
              <a:spcAft>
                <a:spcPts val="1100"/>
              </a:spcAft>
            </a:pPr>
            <a:r>
              <a:rPr sz="1050" b="0" i="0">
                <a:solidFill>
                  <a:srgbClr val="444E59"/>
                </a:solidFill>
                <a:latin typeface="Calibri"/>
              </a:rPr>
              <a:t>[7]  K. Kitsios, F. Sovrano, E. T. Barr, and A. Bacchelli, “Detecting Semantic Clones of Unseen Functionality,” in Proc. 40th IEEE/ACM Int. Conf. Automated Software Engineering (ASE), 2025.</a:t>
            </a:r>
          </a:p>
          <a:p>
            <a:pPr algn="l">
              <a:lnSpc>
                <a:spcPct val="116000"/>
              </a:lnSpc>
              <a:spcBef>
                <a:spcPts val="0"/>
              </a:spcBef>
              <a:spcAft>
                <a:spcPts val="1100"/>
              </a:spcAft>
            </a:pPr>
            <a:r>
              <a:rPr sz="1050" b="0" i="0">
                <a:solidFill>
                  <a:srgbClr val="444E59"/>
                </a:solidFill>
                <a:latin typeface="Calibri"/>
              </a:rPr>
              <a:t>[8]  N. Thakur, N. Reimers, J. Daxenberger, and I. Gurevych, “Augmented SBERT: Data Augmentation Method for Improving Bi-Encoders for Pairwise Sentence Scoring Tasks,” in Proc. NAACL-HLT, 2021.</a:t>
            </a:r>
          </a:p>
          <a:p>
            <a:pPr algn="l">
              <a:lnSpc>
                <a:spcPct val="116000"/>
              </a:lnSpc>
              <a:spcBef>
                <a:spcPts val="0"/>
              </a:spcBef>
              <a:spcAft>
                <a:spcPts val="1100"/>
              </a:spcAft>
            </a:pPr>
            <a:r>
              <a:rPr sz="1050" b="0" i="0">
                <a:solidFill>
                  <a:srgbClr val="444E59"/>
                </a:solidFill>
                <a:latin typeface="Calibri"/>
              </a:rPr>
              <a:t>[9]  J. Zhan, J. Mao, Y. Liu, J. Guo, M. Zhang, and S. Ma, “Optimizing Dense Retrieval Model Training with Hard Negatives,” in Proc. 44th Int. ACM SIGIR Conf. Research and Development in Information Retrieval (SIGIR), 2021.</a:t>
            </a:r>
          </a:p>
          <a:p>
            <a:pPr algn="l">
              <a:lnSpc>
                <a:spcPct val="116000"/>
              </a:lnSpc>
              <a:spcBef>
                <a:spcPts val="0"/>
              </a:spcBef>
              <a:spcAft>
                <a:spcPts val="1100"/>
              </a:spcAft>
            </a:pPr>
            <a:r>
              <a:rPr sz="1050" b="0" i="0">
                <a:solidFill>
                  <a:srgbClr val="444E59"/>
                </a:solidFill>
                <a:latin typeface="Calibri"/>
              </a:rPr>
              <a:t>[10]  J. Krinke, “BigCloneBench Considered Harmful for Machine Learning,” in Proc. 10th Int. Workshop on Software Clones (IWSC), 2022.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anchor="t" lIns="0" rIns="0" tIns="0" bIns="0">
            <a:spAutoFit/>
          </a:bodyPr>
          <a:lstStyle/>
          <a:p>
            <a:pPr algn="l">
              <a:lnSpc>
                <a:spcPct val="115000"/>
              </a:lnSpc>
              <a:spcBef>
                <a:spcPts val="0"/>
              </a:spcBef>
              <a:spcAft>
                <a:spcPts val="600"/>
              </a:spcAft>
            </a:pPr>
            <a:r>
              <a:rPr sz="1100" b="1" i="0">
                <a:solidFill>
                  <a:srgbClr val="1F6FB2"/>
                </a:solidFill>
                <a:latin typeface="Calibri"/>
              </a:rPr>
              <a:t>EL  ·  DELIVERABLE</a:t>
            </a:r>
          </a:p>
        </p:txBody>
      </p:sp>
      <p:sp>
        <p:nvSpPr>
          <p:cNvPr id="3" name="TextBox 2"/>
          <p:cNvSpPr txBox="1"/>
          <p:nvPr/>
        </p:nvSpPr>
        <p:spPr>
          <a:xfrm>
            <a:off x="658368" y="603504"/>
            <a:ext cx="10874959" cy="530352"/>
          </a:xfrm>
          <a:prstGeom prst="rect">
            <a:avLst/>
          </a:prstGeom>
          <a:noFill/>
        </p:spPr>
        <p:txBody>
          <a:bodyPr wrap="square" anchor="t" lIns="0" rIns="0" tIns="0" bIns="0">
            <a:spAutoFit/>
          </a:bodyPr>
          <a:lstStyle/>
          <a:p>
            <a:pPr algn="l">
              <a:lnSpc>
                <a:spcPct val="115000"/>
              </a:lnSpc>
              <a:spcBef>
                <a:spcPts val="0"/>
              </a:spcBef>
              <a:spcAft>
                <a:spcPts val="0"/>
              </a:spcAft>
            </a:pPr>
            <a:r>
              <a:rPr sz="2600" b="1" i="0">
                <a:solidFill>
                  <a:srgbClr val="16202B"/>
                </a:solidFill>
                <a:latin typeface="Calibri"/>
              </a:rPr>
              <a:t>Expected Outcome by the End of First Year</a:t>
            </a:r>
          </a:p>
        </p:txBody>
      </p:sp>
      <p:sp>
        <p:nvSpPr>
          <p:cNvPr id="4" name="Rectangle 3"/>
          <p:cNvSpPr/>
          <p:nvPr/>
        </p:nvSpPr>
        <p:spPr>
          <a:xfrm>
            <a:off x="658368" y="1188720"/>
            <a:ext cx="1051560" cy="5029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1298448"/>
            <a:ext cx="10874959" cy="274320"/>
          </a:xfrm>
          <a:prstGeom prst="rect">
            <a:avLst/>
          </a:prstGeom>
          <a:noFill/>
        </p:spPr>
        <p:txBody>
          <a:bodyPr wrap="square" anchor="t" lIns="0" rIns="0" tIns="0" bIns="0">
            <a:spAutoFit/>
          </a:bodyPr>
          <a:lstStyle/>
          <a:p>
            <a:pPr algn="l">
              <a:lnSpc>
                <a:spcPct val="115000"/>
              </a:lnSpc>
              <a:spcBef>
                <a:spcPts val="0"/>
              </a:spcBef>
              <a:spcAft>
                <a:spcPts val="600"/>
              </a:spcAft>
            </a:pPr>
            <a:r>
              <a:rPr sz="1250" b="0" i="0">
                <a:solidFill>
                  <a:srgbClr val="87919D"/>
                </a:solidFill>
                <a:latin typeface="Calibri"/>
              </a:rPr>
              <a:t>EL work is expected to produce one of the following tangible outputs.</a:t>
            </a:r>
          </a:p>
        </p:txBody>
      </p:sp>
      <p:sp>
        <p:nvSpPr>
          <p:cNvPr id="6" name="TextBox 5"/>
          <p:cNvSpPr txBox="1"/>
          <p:nvPr/>
        </p:nvSpPr>
        <p:spPr>
          <a:xfrm>
            <a:off x="658368" y="6428232"/>
            <a:ext cx="7315200" cy="256032"/>
          </a:xfrm>
          <a:prstGeom prst="rect">
            <a:avLst/>
          </a:prstGeom>
          <a:noFill/>
        </p:spPr>
        <p:txBody>
          <a:bodyPr wrap="square" anchor="t" lIns="0" rIns="0" tIns="0" bIns="0">
            <a:spAutoFit/>
          </a:bodyPr>
          <a:lstStyle/>
          <a:p>
            <a:pPr algn="l">
              <a:lnSpc>
                <a:spcPct val="115000"/>
              </a:lnSpc>
              <a:spcBef>
                <a:spcPts val="0"/>
              </a:spcBef>
              <a:spcAft>
                <a:spcPts val="600"/>
              </a:spcAft>
            </a:pPr>
            <a:r>
              <a:rPr sz="950" b="0" i="0">
                <a:solidFill>
                  <a:srgbClr val="87919D"/>
                </a:solidFill>
                <a:latin typeface="Calibri"/>
              </a:rPr>
              <a:t>El Deliverable</a:t>
            </a:r>
          </a:p>
        </p:txBody>
      </p:sp>
      <p:sp>
        <p:nvSpPr>
          <p:cNvPr id="7" name="TextBox 6"/>
          <p:cNvSpPr txBox="1"/>
          <p:nvPr/>
        </p:nvSpPr>
        <p:spPr>
          <a:xfrm>
            <a:off x="10436047" y="6428232"/>
            <a:ext cx="1097280" cy="256032"/>
          </a:xfrm>
          <a:prstGeom prst="rect">
            <a:avLst/>
          </a:prstGeom>
          <a:noFill/>
        </p:spPr>
        <p:txBody>
          <a:bodyPr wrap="square" anchor="t" lIns="0" rIns="0" tIns="0" bIns="0">
            <a:spAutoFit/>
          </a:bodyPr>
          <a:lstStyle/>
          <a:p>
            <a:pPr algn="r">
              <a:lnSpc>
                <a:spcPct val="115000"/>
              </a:lnSpc>
              <a:spcBef>
                <a:spcPts val="0"/>
              </a:spcBef>
              <a:spcAft>
                <a:spcPts val="600"/>
              </a:spcAft>
            </a:pPr>
            <a:r>
              <a:rPr sz="950" b="0" i="0">
                <a:solidFill>
                  <a:srgbClr val="87919D"/>
                </a:solidFill>
                <a:latin typeface="Calibri"/>
              </a:rPr>
              <a:t>35</a:t>
            </a:r>
          </a:p>
        </p:txBody>
      </p:sp>
      <p:sp>
        <p:nvSpPr>
          <p:cNvPr id="8" name="Rounded Rectangle 7"/>
          <p:cNvSpPr/>
          <p:nvPr/>
        </p:nvSpPr>
        <p:spPr>
          <a:xfrm>
            <a:off x="658368" y="1463040"/>
            <a:ext cx="2567863" cy="2798064"/>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463040"/>
            <a:ext cx="2567863" cy="68580"/>
          </a:xfrm>
          <a:prstGeom prst="rect">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645920"/>
            <a:ext cx="2238679" cy="457200"/>
          </a:xfrm>
          <a:prstGeom prst="rect">
            <a:avLst/>
          </a:prstGeom>
          <a:noFill/>
        </p:spPr>
        <p:txBody>
          <a:bodyPr wrap="square" anchor="t" lIns="0" rIns="0" tIns="0" bIns="0">
            <a:spAutoFit/>
          </a:bodyPr>
          <a:lstStyle/>
          <a:p>
            <a:pPr algn="l">
              <a:lnSpc>
                <a:spcPct val="115000"/>
              </a:lnSpc>
              <a:spcBef>
                <a:spcPts val="0"/>
              </a:spcBef>
              <a:spcAft>
                <a:spcPts val="300"/>
              </a:spcAft>
            </a:pPr>
            <a:r>
              <a:rPr sz="1300" b="1" i="0">
                <a:solidFill>
                  <a:srgbClr val="16202B"/>
                </a:solidFill>
                <a:latin typeface="Calibri"/>
              </a:rPr>
              <a:t>Patent Filing</a:t>
            </a:r>
          </a:p>
        </p:txBody>
      </p:sp>
      <p:sp>
        <p:nvSpPr>
          <p:cNvPr id="11" name="Rounded Rectangle 10"/>
          <p:cNvSpPr/>
          <p:nvPr/>
        </p:nvSpPr>
        <p:spPr>
          <a:xfrm>
            <a:off x="822959" y="2121408"/>
            <a:ext cx="2238679" cy="292608"/>
          </a:xfrm>
          <a:prstGeom prst="roundRect">
            <a:avLst>
              <a:gd name="adj" fmla="val 35000"/>
            </a:avLst>
          </a:prstGeom>
          <a:solidFill>
            <a:srgbClr val="E87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000" b="1" i="0">
                <a:solidFill>
                  <a:srgbClr val="FFFFFF"/>
                </a:solidFill>
                <a:latin typeface="Calibri"/>
              </a:rPr>
              <a:t>Not the primary target</a:t>
            </a:r>
          </a:p>
        </p:txBody>
      </p:sp>
      <p:sp>
        <p:nvSpPr>
          <p:cNvPr id="12" name="TextBox 11"/>
          <p:cNvSpPr txBox="1"/>
          <p:nvPr/>
        </p:nvSpPr>
        <p:spPr>
          <a:xfrm>
            <a:off x="822959" y="2542032"/>
            <a:ext cx="2238679" cy="1554480"/>
          </a:xfrm>
          <a:prstGeom prst="rect">
            <a:avLst/>
          </a:prstGeom>
          <a:noFill/>
        </p:spPr>
        <p:txBody>
          <a:bodyPr wrap="square" anchor="t" lIns="0" rIns="0" tIns="0" bIns="0">
            <a:spAutoFit/>
          </a:bodyPr>
          <a:lstStyle/>
          <a:p>
            <a:pPr algn="l">
              <a:lnSpc>
                <a:spcPct val="116000"/>
              </a:lnSpc>
              <a:spcBef>
                <a:spcPts val="0"/>
              </a:spcBef>
              <a:spcAft>
                <a:spcPts val="600"/>
              </a:spcAft>
            </a:pPr>
            <a:r>
              <a:rPr sz="1100" b="0" i="0">
                <a:solidFill>
                  <a:srgbClr val="444E59"/>
                </a:solidFill>
                <a:latin typeface="Calibri"/>
              </a:rPr>
              <a:t>The contribution is a comparative empirical study, not a novel functional prototype or process, so patentability is limited. Not pursued as the main outcome.</a:t>
            </a:r>
          </a:p>
        </p:txBody>
      </p:sp>
      <p:sp>
        <p:nvSpPr>
          <p:cNvPr id="13" name="Rounded Rectangle 12"/>
          <p:cNvSpPr/>
          <p:nvPr/>
        </p:nvSpPr>
        <p:spPr>
          <a:xfrm>
            <a:off x="3427399" y="1463040"/>
            <a:ext cx="2567863" cy="2798064"/>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427399" y="1463040"/>
            <a:ext cx="2567863" cy="68580"/>
          </a:xfrm>
          <a:prstGeom prst="rect">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91991" y="1645920"/>
            <a:ext cx="2238679" cy="457200"/>
          </a:xfrm>
          <a:prstGeom prst="rect">
            <a:avLst/>
          </a:prstGeom>
          <a:noFill/>
        </p:spPr>
        <p:txBody>
          <a:bodyPr wrap="square" anchor="t" lIns="0" rIns="0" tIns="0" bIns="0">
            <a:spAutoFit/>
          </a:bodyPr>
          <a:lstStyle/>
          <a:p>
            <a:pPr algn="l">
              <a:lnSpc>
                <a:spcPct val="115000"/>
              </a:lnSpc>
              <a:spcBef>
                <a:spcPts val="0"/>
              </a:spcBef>
              <a:spcAft>
                <a:spcPts val="300"/>
              </a:spcAft>
            </a:pPr>
            <a:r>
              <a:rPr sz="1300" b="1" i="0">
                <a:solidFill>
                  <a:srgbClr val="16202B"/>
                </a:solidFill>
                <a:latin typeface="Calibri"/>
              </a:rPr>
              <a:t>Journal Publication</a:t>
            </a:r>
          </a:p>
        </p:txBody>
      </p:sp>
      <p:sp>
        <p:nvSpPr>
          <p:cNvPr id="16" name="Rounded Rectangle 15"/>
          <p:cNvSpPr/>
          <p:nvPr/>
        </p:nvSpPr>
        <p:spPr>
          <a:xfrm>
            <a:off x="3591991" y="2121408"/>
            <a:ext cx="2238679" cy="292608"/>
          </a:xfrm>
          <a:prstGeom prst="roundRect">
            <a:avLst>
              <a:gd name="adj" fmla="val 35000"/>
            </a:avLst>
          </a:prstGeom>
          <a:solidFill>
            <a:srgbClr val="2E8B6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000" b="1" i="0">
                <a:solidFill>
                  <a:srgbClr val="FFFFFF"/>
                </a:solidFill>
                <a:latin typeface="Calibri"/>
              </a:rPr>
              <a:t>Strong fit</a:t>
            </a:r>
          </a:p>
        </p:txBody>
      </p:sp>
      <p:sp>
        <p:nvSpPr>
          <p:cNvPr id="17" name="TextBox 16"/>
          <p:cNvSpPr txBox="1"/>
          <p:nvPr/>
        </p:nvSpPr>
        <p:spPr>
          <a:xfrm>
            <a:off x="3591991" y="2542032"/>
            <a:ext cx="2238679" cy="1554480"/>
          </a:xfrm>
          <a:prstGeom prst="rect">
            <a:avLst/>
          </a:prstGeom>
          <a:noFill/>
        </p:spPr>
        <p:txBody>
          <a:bodyPr wrap="square" anchor="t" lIns="0" rIns="0" tIns="0" bIns="0">
            <a:spAutoFit/>
          </a:bodyPr>
          <a:lstStyle/>
          <a:p>
            <a:pPr algn="l">
              <a:lnSpc>
                <a:spcPct val="116000"/>
              </a:lnSpc>
              <a:spcBef>
                <a:spcPts val="0"/>
              </a:spcBef>
              <a:spcAft>
                <a:spcPts val="600"/>
              </a:spcAft>
            </a:pPr>
            <a:r>
              <a:rPr sz="1100" b="0" i="0">
                <a:solidFill>
                  <a:srgbClr val="444E59"/>
                </a:solidFill>
                <a:latin typeface="Calibri"/>
              </a:rPr>
              <a:t>A paper detailing the four-condition methodology, experimental design and results is well suited to a software-engineering or applied-ML journal, following the format of several reviewed studies (e.g. Empirical Software Engineering).</a:t>
            </a:r>
          </a:p>
        </p:txBody>
      </p:sp>
      <p:sp>
        <p:nvSpPr>
          <p:cNvPr id="18" name="Rounded Rectangle 17"/>
          <p:cNvSpPr/>
          <p:nvPr/>
        </p:nvSpPr>
        <p:spPr>
          <a:xfrm>
            <a:off x="6196431" y="1463040"/>
            <a:ext cx="2567863" cy="2798064"/>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96431" y="1463040"/>
            <a:ext cx="2567863" cy="685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61023" y="1645920"/>
            <a:ext cx="2238679" cy="457200"/>
          </a:xfrm>
          <a:prstGeom prst="rect">
            <a:avLst/>
          </a:prstGeom>
          <a:noFill/>
        </p:spPr>
        <p:txBody>
          <a:bodyPr wrap="square" anchor="t" lIns="0" rIns="0" tIns="0" bIns="0">
            <a:spAutoFit/>
          </a:bodyPr>
          <a:lstStyle/>
          <a:p>
            <a:pPr algn="l">
              <a:lnSpc>
                <a:spcPct val="115000"/>
              </a:lnSpc>
              <a:spcBef>
                <a:spcPts val="0"/>
              </a:spcBef>
              <a:spcAft>
                <a:spcPts val="300"/>
              </a:spcAft>
            </a:pPr>
            <a:r>
              <a:rPr sz="1300" b="1" i="0">
                <a:solidFill>
                  <a:srgbClr val="16202B"/>
                </a:solidFill>
                <a:latin typeface="Calibri"/>
              </a:rPr>
              <a:t>Conference Publication</a:t>
            </a:r>
          </a:p>
        </p:txBody>
      </p:sp>
      <p:sp>
        <p:nvSpPr>
          <p:cNvPr id="21" name="Rounded Rectangle 20"/>
          <p:cNvSpPr/>
          <p:nvPr/>
        </p:nvSpPr>
        <p:spPr>
          <a:xfrm>
            <a:off x="6361023" y="2121408"/>
            <a:ext cx="2238679" cy="292608"/>
          </a:xfrm>
          <a:prstGeom prst="roundRect">
            <a:avLst>
              <a:gd name="adj" fmla="val 3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000" b="1" i="0">
                <a:solidFill>
                  <a:srgbClr val="FFFFFF"/>
                </a:solidFill>
                <a:latin typeface="Calibri"/>
              </a:rPr>
              <a:t>Primary planned outcome</a:t>
            </a:r>
          </a:p>
        </p:txBody>
      </p:sp>
      <p:sp>
        <p:nvSpPr>
          <p:cNvPr id="22" name="TextBox 21"/>
          <p:cNvSpPr txBox="1"/>
          <p:nvPr/>
        </p:nvSpPr>
        <p:spPr>
          <a:xfrm>
            <a:off x="6361023" y="2542032"/>
            <a:ext cx="2238679" cy="1554480"/>
          </a:xfrm>
          <a:prstGeom prst="rect">
            <a:avLst/>
          </a:prstGeom>
          <a:noFill/>
        </p:spPr>
        <p:txBody>
          <a:bodyPr wrap="square" anchor="t" lIns="0" rIns="0" tIns="0" bIns="0">
            <a:spAutoFit/>
          </a:bodyPr>
          <a:lstStyle/>
          <a:p>
            <a:pPr algn="l">
              <a:lnSpc>
                <a:spcPct val="116000"/>
              </a:lnSpc>
              <a:spcBef>
                <a:spcPts val="0"/>
              </a:spcBef>
              <a:spcAft>
                <a:spcPts val="600"/>
              </a:spcAft>
            </a:pPr>
            <a:r>
              <a:rPr sz="1100" b="0" i="0">
                <a:solidFill>
                  <a:srgbClr val="444E59"/>
                </a:solidFill>
                <a:latin typeface="Calibri"/>
              </a:rPr>
              <a:t>A full paper in IEEE format covering the comparative methodology, the findings across the three negative-sampling strategies, and the generalisation evaluation, submitted to a relevant software-engineering or AI conference.</a:t>
            </a:r>
          </a:p>
        </p:txBody>
      </p:sp>
      <p:sp>
        <p:nvSpPr>
          <p:cNvPr id="23" name="Rounded Rectangle 22"/>
          <p:cNvSpPr/>
          <p:nvPr/>
        </p:nvSpPr>
        <p:spPr>
          <a:xfrm>
            <a:off x="8965463" y="1463040"/>
            <a:ext cx="2567863" cy="2798064"/>
          </a:xfrm>
          <a:prstGeom prst="roundRect">
            <a:avLst>
              <a:gd name="adj" fmla="val 5000"/>
            </a:avLst>
          </a:prstGeom>
          <a:solidFill>
            <a:srgbClr val="F3F6FA"/>
          </a:solidFill>
          <a:ln w="11430">
            <a:solidFill>
              <a:srgbClr val="D9DF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965463" y="1463040"/>
            <a:ext cx="2567863" cy="685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30055" y="1645920"/>
            <a:ext cx="2238679" cy="457200"/>
          </a:xfrm>
          <a:prstGeom prst="rect">
            <a:avLst/>
          </a:prstGeom>
          <a:noFill/>
        </p:spPr>
        <p:txBody>
          <a:bodyPr wrap="square" anchor="t" lIns="0" rIns="0" tIns="0" bIns="0">
            <a:spAutoFit/>
          </a:bodyPr>
          <a:lstStyle/>
          <a:p>
            <a:pPr algn="l">
              <a:lnSpc>
                <a:spcPct val="115000"/>
              </a:lnSpc>
              <a:spcBef>
                <a:spcPts val="0"/>
              </a:spcBef>
              <a:spcAft>
                <a:spcPts val="300"/>
              </a:spcAft>
            </a:pPr>
            <a:r>
              <a:rPr sz="1300" b="1" i="0">
                <a:solidFill>
                  <a:srgbClr val="16202B"/>
                </a:solidFill>
                <a:latin typeface="Calibri"/>
              </a:rPr>
              <a:t>Research Proposal</a:t>
            </a:r>
          </a:p>
        </p:txBody>
      </p:sp>
      <p:sp>
        <p:nvSpPr>
          <p:cNvPr id="26" name="Rounded Rectangle 25"/>
          <p:cNvSpPr/>
          <p:nvPr/>
        </p:nvSpPr>
        <p:spPr>
          <a:xfrm>
            <a:off x="9130055" y="2121408"/>
            <a:ext cx="2238679" cy="292608"/>
          </a:xfrm>
          <a:prstGeom prst="roundRect">
            <a:avLst>
              <a:gd name="adj" fmla="val 35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lnSpc>
                <a:spcPct val="115000"/>
              </a:lnSpc>
              <a:spcBef>
                <a:spcPts val="0"/>
              </a:spcBef>
              <a:spcAft>
                <a:spcPts val="0"/>
              </a:spcAft>
            </a:pPr>
            <a:r>
              <a:rPr sz="1000" b="1" i="0">
                <a:solidFill>
                  <a:srgbClr val="FFFFFF"/>
                </a:solidFill>
                <a:latin typeface="Calibri"/>
              </a:rPr>
              <a:t>Natural extension</a:t>
            </a:r>
          </a:p>
        </p:txBody>
      </p:sp>
      <p:sp>
        <p:nvSpPr>
          <p:cNvPr id="27" name="TextBox 26"/>
          <p:cNvSpPr txBox="1"/>
          <p:nvPr/>
        </p:nvSpPr>
        <p:spPr>
          <a:xfrm>
            <a:off x="9130055" y="2542032"/>
            <a:ext cx="2238679" cy="1554480"/>
          </a:xfrm>
          <a:prstGeom prst="rect">
            <a:avLst/>
          </a:prstGeom>
          <a:noFill/>
        </p:spPr>
        <p:txBody>
          <a:bodyPr wrap="square" anchor="t" lIns="0" rIns="0" tIns="0" bIns="0">
            <a:spAutoFit/>
          </a:bodyPr>
          <a:lstStyle/>
          <a:p>
            <a:pPr algn="l">
              <a:lnSpc>
                <a:spcPct val="116000"/>
              </a:lnSpc>
              <a:spcBef>
                <a:spcPts val="0"/>
              </a:spcBef>
              <a:spcAft>
                <a:spcPts val="600"/>
              </a:spcAft>
            </a:pPr>
            <a:r>
              <a:rPr sz="1100" b="0" i="0">
                <a:solidFill>
                  <a:srgbClr val="444E59"/>
                </a:solidFill>
                <a:latin typeface="Calibri"/>
              </a:rPr>
              <a:t>Propose applying the same comparison to further domains beyond code, and explore automatic negative-strategy selection for new domains as a larger follow-up project.</a:t>
            </a:r>
          </a:p>
        </p:txBody>
      </p:sp>
      <p:sp>
        <p:nvSpPr>
          <p:cNvPr id="28" name="Rounded Rectangle 27"/>
          <p:cNvSpPr/>
          <p:nvPr/>
        </p:nvSpPr>
        <p:spPr>
          <a:xfrm>
            <a:off x="658368" y="4462272"/>
            <a:ext cx="10874959" cy="914400"/>
          </a:xfrm>
          <a:prstGeom prst="roundRect">
            <a:avLst>
              <a:gd name="adj" fmla="val 60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58368" y="4462272"/>
            <a:ext cx="5486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2688" y="4608576"/>
            <a:ext cx="10326319" cy="676656"/>
          </a:xfrm>
          <a:prstGeom prst="rect">
            <a:avLst/>
          </a:prstGeom>
          <a:noFill/>
        </p:spPr>
        <p:txBody>
          <a:bodyPr wrap="square" anchor="t" lIns="0" rIns="0" tIns="0" bIns="0">
            <a:spAutoFit/>
          </a:bodyPr>
          <a:lstStyle/>
          <a:p>
            <a:pPr algn="l">
              <a:lnSpc>
                <a:spcPct val="120000"/>
              </a:lnSpc>
              <a:spcBef>
                <a:spcPts val="0"/>
              </a:spcBef>
              <a:spcAft>
                <a:spcPts val="400"/>
              </a:spcAft>
            </a:pPr>
            <a:r>
              <a:rPr sz="1300" b="1" i="0">
                <a:solidFill>
                  <a:srgbClr val="16202B"/>
                </a:solidFill>
                <a:latin typeface="Calibri"/>
              </a:rPr>
              <a:t>Planned focus for this EL</a:t>
            </a:r>
          </a:p>
          <a:p>
            <a:pPr algn="l">
              <a:lnSpc>
                <a:spcPct val="120000"/>
              </a:lnSpc>
              <a:spcBef>
                <a:spcPts val="0"/>
              </a:spcBef>
              <a:spcAft>
                <a:spcPts val="0"/>
              </a:spcAft>
            </a:pPr>
            <a:r>
              <a:rPr sz="1200" b="0" i="0">
                <a:solidFill>
                  <a:srgbClr val="444E59"/>
                </a:solidFill>
                <a:latin typeface="Calibri"/>
              </a:rPr>
              <a:t>Conference publication in IEEE format, with the underlying study structured to also support a future journal submission or a research-proposal extension.</a:t>
            </a:r>
          </a:p>
        </p:txBody>
      </p:sp>
      <p:sp>
        <p:nvSpPr>
          <p:cNvPr id="31" name="TextBox 30"/>
          <p:cNvSpPr txBox="1"/>
          <p:nvPr/>
        </p:nvSpPr>
        <p:spPr>
          <a:xfrm>
            <a:off x="658368" y="5394960"/>
            <a:ext cx="10874959" cy="548640"/>
          </a:xfrm>
          <a:prstGeom prst="rect">
            <a:avLst/>
          </a:prstGeom>
          <a:noFill/>
        </p:spPr>
        <p:txBody>
          <a:bodyPr wrap="square" anchor="t" lIns="0" rIns="0" tIns="0" bIns="0">
            <a:spAutoFit/>
          </a:bodyPr>
          <a:lstStyle/>
          <a:p>
            <a:pPr algn="l">
              <a:lnSpc>
                <a:spcPct val="125000"/>
              </a:lnSpc>
              <a:spcBef>
                <a:spcPts val="0"/>
              </a:spcBef>
              <a:spcAft>
                <a:spcPts val="600"/>
              </a:spcAft>
            </a:pPr>
            <a:r>
              <a:rPr sz="1050" b="0" i="0">
                <a:solidFill>
                  <a:srgbClr val="87919D"/>
                </a:solidFill>
                <a:latin typeface="Calibri"/>
              </a:rPr>
              <a:t>Date on slide: 17 September 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ing-embedding-spac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